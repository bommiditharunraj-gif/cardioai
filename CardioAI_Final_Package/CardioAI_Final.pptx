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jpg" ContentType="image/jpg"/>
  <Override PartName="/ppt/media/image6.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8" r:id="rId3"/>
    <p:sldId id="257" r:id="rId4"/>
    <p:sldId id="258" r:id="rId5"/>
    <p:sldId id="259" r:id="rId6"/>
    <p:sldId id="261" r:id="rId7"/>
    <p:sldId id="262" r:id="rId8"/>
    <p:sldId id="269" r:id="rId9"/>
    <p:sldId id="270" r:id="rId10"/>
    <p:sldId id="263" r:id="rId11"/>
    <p:sldId id="271" r:id="rId12"/>
    <p:sldId id="276" r:id="rId13"/>
    <p:sldId id="275" r:id="rId14"/>
    <p:sldId id="277" r:id="rId21"/>
    <p:sldId id="278" r:id="rId22"/>
    <p:sldId id="279" r:id="rId23"/>
    <p:sldId id="280" r:id="rId24"/>
    <p:sldId id="281" r:id="rId25"/>
    <p:sldId id="266" r:id="rId15"/>
    <p:sldId id="267"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1" d="100"/>
          <a:sy n="71" d="100"/>
        </p:scale>
        <p:origin x="46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1441450"/>
          </a:xfrm>
          <a:prstGeom prst="rect">
            <a:avLst/>
          </a:prstGeom>
        </p:spPr>
      </p:pic>
      <p:sp>
        <p:nvSpPr>
          <p:cNvPr id="2" name="Holder 2"/>
          <p:cNvSpPr>
            <a:spLocks noGrp="1"/>
          </p:cNvSpPr>
          <p:nvPr>
            <p:ph type="title"/>
          </p:nvPr>
        </p:nvSpPr>
        <p:spPr>
          <a:xfrm>
            <a:off x="4203572" y="850468"/>
            <a:ext cx="3205353" cy="702106"/>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29784" y="1904110"/>
            <a:ext cx="1932432" cy="1687449"/>
          </a:xfrm>
          <a:prstGeom prst="rect">
            <a:avLst/>
          </a:prstGeom>
        </p:spPr>
      </p:pic>
      <p:sp>
        <p:nvSpPr>
          <p:cNvPr id="3" name="object 3"/>
          <p:cNvSpPr txBox="1"/>
          <p:nvPr/>
        </p:nvSpPr>
        <p:spPr>
          <a:xfrm>
            <a:off x="4595240" y="3630929"/>
            <a:ext cx="3058795" cy="1123315"/>
          </a:xfrm>
          <a:prstGeom prst="rect">
            <a:avLst/>
          </a:prstGeom>
        </p:spPr>
        <p:txBody>
          <a:bodyPr vert="horz" wrap="square" lIns="0" tIns="12700" rIns="0" bIns="0" rtlCol="0">
            <a:spAutoFit/>
          </a:bodyPr>
          <a:lstStyle/>
          <a:p>
            <a:pPr marL="12065" marR="5080" algn="ctr">
              <a:lnSpc>
                <a:spcPct val="100000"/>
              </a:lnSpc>
              <a:spcBef>
                <a:spcPts val="100"/>
              </a:spcBef>
            </a:pPr>
            <a:r>
              <a:rPr sz="1800" dirty="0">
                <a:latin typeface="Times New Roman"/>
                <a:cs typeface="Times New Roman"/>
              </a:rPr>
              <a:t>Under</a:t>
            </a:r>
            <a:r>
              <a:rPr sz="1800" spc="-70"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dirty="0">
                <a:latin typeface="Times New Roman"/>
                <a:cs typeface="Times New Roman"/>
              </a:rPr>
              <a:t>Esteemed</a:t>
            </a:r>
            <a:r>
              <a:rPr sz="1800" spc="-45" dirty="0">
                <a:latin typeface="Times New Roman"/>
                <a:cs typeface="Times New Roman"/>
              </a:rPr>
              <a:t> </a:t>
            </a:r>
            <a:r>
              <a:rPr sz="1800" dirty="0">
                <a:latin typeface="Times New Roman"/>
                <a:cs typeface="Times New Roman"/>
              </a:rPr>
              <a:t>Guidance</a:t>
            </a:r>
            <a:r>
              <a:rPr sz="1800" spc="-50" dirty="0">
                <a:latin typeface="Times New Roman"/>
                <a:cs typeface="Times New Roman"/>
              </a:rPr>
              <a:t> </a:t>
            </a:r>
            <a:r>
              <a:rPr sz="1800" spc="-25" dirty="0">
                <a:latin typeface="Times New Roman"/>
                <a:cs typeface="Times New Roman"/>
              </a:rPr>
              <a:t>of </a:t>
            </a:r>
            <a:r>
              <a:rPr sz="1800" dirty="0">
                <a:latin typeface="Times New Roman"/>
                <a:cs typeface="Times New Roman"/>
              </a:rPr>
              <a:t>Dr/</a:t>
            </a:r>
            <a:r>
              <a:rPr sz="1800" spc="-30" dirty="0">
                <a:latin typeface="Times New Roman"/>
                <a:cs typeface="Times New Roman"/>
              </a:rPr>
              <a:t> </a:t>
            </a:r>
            <a:r>
              <a:rPr sz="1800" b="1" dirty="0">
                <a:latin typeface="Times New Roman"/>
                <a:cs typeface="Times New Roman"/>
              </a:rPr>
              <a:t>Mr/Mrs/Ms.</a:t>
            </a:r>
            <a:r>
              <a:rPr sz="1800" b="1" spc="-60" dirty="0">
                <a:latin typeface="Times New Roman"/>
                <a:cs typeface="Times New Roman"/>
              </a:rPr>
              <a:t> </a:t>
            </a:r>
            <a:r>
              <a:rPr sz="1800" b="1" dirty="0">
                <a:latin typeface="Times New Roman"/>
                <a:cs typeface="Times New Roman"/>
              </a:rPr>
              <a:t>Guide</a:t>
            </a:r>
            <a:r>
              <a:rPr sz="1800" b="1" spc="-25" dirty="0">
                <a:latin typeface="Times New Roman"/>
                <a:cs typeface="Times New Roman"/>
              </a:rPr>
              <a:t> </a:t>
            </a:r>
            <a:r>
              <a:rPr sz="1800" b="1" spc="-20" dirty="0">
                <a:latin typeface="Times New Roman"/>
                <a:cs typeface="Times New Roman"/>
              </a:rPr>
              <a:t>Name </a:t>
            </a:r>
            <a:r>
              <a:rPr sz="1800" b="1" spc="-10" dirty="0">
                <a:latin typeface="Times New Roman"/>
                <a:cs typeface="Times New Roman"/>
              </a:rPr>
              <a:t>Designation</a:t>
            </a:r>
            <a:endParaRPr sz="1800">
              <a:latin typeface="Times New Roman"/>
              <a:cs typeface="Times New Roman"/>
            </a:endParaRPr>
          </a:p>
          <a:p>
            <a:pPr algn="ctr">
              <a:lnSpc>
                <a:spcPct val="100000"/>
              </a:lnSpc>
            </a:pPr>
            <a:r>
              <a:rPr sz="1800" b="1" dirty="0">
                <a:latin typeface="Times New Roman"/>
                <a:cs typeface="Times New Roman"/>
              </a:rPr>
              <a:t>Submitted</a:t>
            </a:r>
            <a:r>
              <a:rPr sz="1800" b="1" spc="-75" dirty="0">
                <a:latin typeface="Times New Roman"/>
                <a:cs typeface="Times New Roman"/>
              </a:rPr>
              <a:t> </a:t>
            </a:r>
            <a:r>
              <a:rPr sz="1800" b="1" spc="-25" dirty="0">
                <a:latin typeface="Times New Roman"/>
                <a:cs typeface="Times New Roman"/>
              </a:rPr>
              <a:t>by</a:t>
            </a:r>
            <a:endParaRPr sz="1800">
              <a:latin typeface="Times New Roman"/>
              <a:cs typeface="Times New Roman"/>
            </a:endParaRPr>
          </a:p>
        </p:txBody>
      </p:sp>
      <p:sp>
        <p:nvSpPr>
          <p:cNvPr id="4" name="object 4"/>
          <p:cNvSpPr txBox="1">
            <a:spLocks noGrp="1"/>
          </p:cNvSpPr>
          <p:nvPr>
            <p:ph type="title"/>
          </p:nvPr>
        </p:nvSpPr>
        <p:spPr>
          <a:prstGeom prst="rect">
            <a:avLst/>
          </a:prstGeom>
        </p:spPr>
        <p:txBody>
          <a:bodyPr vert="horz" wrap="square" lIns="0" tIns="134619" rIns="0" bIns="0" rtlCol="0">
            <a:spAutoFit/>
          </a:bodyPr>
          <a:lstStyle/>
          <a:p>
            <a:pPr marL="1577975">
              <a:lnSpc>
                <a:spcPct val="100000"/>
              </a:lnSpc>
              <a:spcBef>
                <a:spcPts val="100"/>
              </a:spcBef>
            </a:pPr>
            <a:r>
              <a:rPr sz="2400" dirty="0">
                <a:solidFill>
                  <a:srgbClr val="C4210D"/>
                </a:solidFill>
              </a:rPr>
              <a:t>Project</a:t>
            </a:r>
            <a:r>
              <a:rPr sz="2400" spc="-120" dirty="0">
                <a:solidFill>
                  <a:srgbClr val="C4210D"/>
                </a:solidFill>
              </a:rPr>
              <a:t> </a:t>
            </a:r>
            <a:r>
              <a:rPr sz="2400" spc="-20" dirty="0">
                <a:solidFill>
                  <a:srgbClr val="C4210D"/>
                </a:solidFill>
              </a:rPr>
              <a:t>Title</a:t>
            </a:r>
            <a:endParaRPr sz="2400"/>
          </a:p>
        </p:txBody>
      </p:sp>
      <p:sp>
        <p:nvSpPr>
          <p:cNvPr id="5" name="object 5"/>
          <p:cNvSpPr txBox="1"/>
          <p:nvPr/>
        </p:nvSpPr>
        <p:spPr>
          <a:xfrm>
            <a:off x="3915917" y="4898263"/>
            <a:ext cx="711200" cy="848994"/>
          </a:xfrm>
          <a:prstGeom prst="rect">
            <a:avLst/>
          </a:prstGeom>
        </p:spPr>
        <p:txBody>
          <a:bodyPr vert="horz" wrap="square" lIns="0" tIns="12700" rIns="0" bIns="0" rtlCol="0">
            <a:spAutoFit/>
          </a:bodyPr>
          <a:lstStyle/>
          <a:p>
            <a:pPr marL="12700" marR="5080" algn="just">
              <a:lnSpc>
                <a:spcPct val="100000"/>
              </a:lnSpc>
              <a:spcBef>
                <a:spcPts val="100"/>
              </a:spcBef>
            </a:pPr>
            <a:r>
              <a:rPr sz="1800" b="1" spc="-10" dirty="0">
                <a:latin typeface="Times New Roman"/>
                <a:cs typeface="Times New Roman"/>
              </a:rPr>
              <a:t>Name1 Name2 Name3</a:t>
            </a:r>
            <a:endParaRPr sz="1800">
              <a:latin typeface="Times New Roman"/>
              <a:cs typeface="Times New Roman"/>
            </a:endParaRPr>
          </a:p>
        </p:txBody>
      </p:sp>
      <p:sp>
        <p:nvSpPr>
          <p:cNvPr id="6" name="object 6"/>
          <p:cNvSpPr txBox="1"/>
          <p:nvPr/>
        </p:nvSpPr>
        <p:spPr>
          <a:xfrm>
            <a:off x="5512694" y="4898263"/>
            <a:ext cx="1036955" cy="848994"/>
          </a:xfrm>
          <a:prstGeom prst="rect">
            <a:avLst/>
          </a:prstGeom>
        </p:spPr>
        <p:txBody>
          <a:bodyPr vert="horz" wrap="square" lIns="0" tIns="12700" rIns="0" bIns="0" rtlCol="0">
            <a:spAutoFit/>
          </a:bodyPr>
          <a:lstStyle/>
          <a:p>
            <a:pPr marL="14604" marR="5080" indent="-2540" algn="just">
              <a:lnSpc>
                <a:spcPct val="100000"/>
              </a:lnSpc>
              <a:spcBef>
                <a:spcPts val="100"/>
              </a:spcBef>
            </a:pPr>
            <a:r>
              <a:rPr sz="1800" b="1" dirty="0">
                <a:latin typeface="Times New Roman"/>
                <a:cs typeface="Times New Roman"/>
              </a:rPr>
              <a:t>(Roll</a:t>
            </a:r>
            <a:r>
              <a:rPr sz="1800" b="1" spc="-40" dirty="0">
                <a:latin typeface="Times New Roman"/>
                <a:cs typeface="Times New Roman"/>
              </a:rPr>
              <a:t> </a:t>
            </a:r>
            <a:r>
              <a:rPr sz="1800" b="1" spc="-20" dirty="0">
                <a:latin typeface="Times New Roman"/>
                <a:cs typeface="Times New Roman"/>
              </a:rPr>
              <a:t>No1) </a:t>
            </a:r>
            <a:r>
              <a:rPr sz="1800" b="1" dirty="0">
                <a:latin typeface="Times New Roman"/>
                <a:cs typeface="Times New Roman"/>
              </a:rPr>
              <a:t>(Roll</a:t>
            </a:r>
            <a:r>
              <a:rPr sz="1800" b="1" spc="-10" dirty="0">
                <a:latin typeface="Times New Roman"/>
                <a:cs typeface="Times New Roman"/>
              </a:rPr>
              <a:t> </a:t>
            </a:r>
            <a:r>
              <a:rPr sz="1800" b="1" spc="-20" dirty="0">
                <a:latin typeface="Times New Roman"/>
                <a:cs typeface="Times New Roman"/>
              </a:rPr>
              <a:t>No2) </a:t>
            </a:r>
            <a:r>
              <a:rPr sz="1800" b="1" dirty="0">
                <a:latin typeface="Times New Roman"/>
                <a:cs typeface="Times New Roman"/>
              </a:rPr>
              <a:t>(Roll</a:t>
            </a:r>
            <a:r>
              <a:rPr sz="1800" b="1" spc="-40" dirty="0">
                <a:latin typeface="Times New Roman"/>
                <a:cs typeface="Times New Roman"/>
              </a:rPr>
              <a:t> </a:t>
            </a:r>
            <a:r>
              <a:rPr sz="1800" b="1" spc="-20" dirty="0">
                <a:latin typeface="Times New Roman"/>
                <a:cs typeface="Times New Roman"/>
              </a:rPr>
              <a:t>No3)</a:t>
            </a:r>
            <a:endParaRPr sz="1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2176D-B55E-4B9B-DA53-A89EF8A07561}"/>
              </a:ext>
            </a:extLst>
          </p:cNvPr>
          <p:cNvSpPr>
            <a:spLocks noGrp="1"/>
          </p:cNvSpPr>
          <p:nvPr>
            <p:ph type="title"/>
          </p:nvPr>
        </p:nvSpPr>
        <p:spPr>
          <a:xfrm>
            <a:off x="2303929" y="1371600"/>
            <a:ext cx="7391400" cy="762000"/>
          </a:xfrm>
        </p:spPr>
        <p:txBody>
          <a:bodyPr/>
          <a:lstStyle/>
          <a:p>
            <a:r>
              <a:rPr lang="en-IN" b="1" dirty="0"/>
              <a:t>     </a:t>
            </a:r>
            <a:r>
              <a:rPr lang="en-IN" b="1" dirty="0" err="1"/>
              <a:t>CardioAI</a:t>
            </a:r>
            <a:r>
              <a:rPr lang="en-IN" b="1" dirty="0"/>
              <a:t> – Intelligent Heart Disease Risk Prediction System</a:t>
            </a:r>
            <a:br>
              <a:rPr lang="en-IN" b="1" dirty="0"/>
            </a:br>
            <a:br>
              <a:rPr lang="en-IN" b="1" dirty="0"/>
            </a:br>
            <a:br>
              <a:rPr lang="en-IN" dirty="0"/>
            </a:br>
            <a:endParaRPr lang="en-IN" dirty="0"/>
          </a:p>
        </p:txBody>
      </p:sp>
      <p:sp>
        <p:nvSpPr>
          <p:cNvPr id="3" name="Text Placeholder 2">
            <a:extLst>
              <a:ext uri="{FF2B5EF4-FFF2-40B4-BE49-F238E27FC236}">
                <a16:creationId xmlns:a16="http://schemas.microsoft.com/office/drawing/2014/main" id="{74F016B1-40F8-DFFF-739F-CF38F23AFA89}"/>
              </a:ext>
            </a:extLst>
          </p:cNvPr>
          <p:cNvSpPr>
            <a:spLocks noGrp="1"/>
          </p:cNvSpPr>
          <p:nvPr>
            <p:ph type="body" idx="1"/>
          </p:nvPr>
        </p:nvSpPr>
        <p:spPr>
          <a:xfrm>
            <a:off x="2294964" y="2514600"/>
            <a:ext cx="7391400" cy="3323987"/>
          </a:xfrm>
        </p:spPr>
        <p:txBody>
          <a:bodyPr/>
          <a:lstStyle/>
          <a:p>
            <a:pPr>
              <a:buFont typeface="Arial" panose="020B0604020202020204" pitchFamily="34" charset="0"/>
              <a:buChar char="•"/>
            </a:pPr>
            <a:r>
              <a:rPr lang="en-IN" dirty="0"/>
              <a:t>An AI-driven clinical decision support platform</a:t>
            </a:r>
          </a:p>
          <a:p>
            <a:endParaRPr lang="en-IN" dirty="0"/>
          </a:p>
          <a:p>
            <a:pPr>
              <a:buFont typeface="Arial" panose="020B0604020202020204" pitchFamily="34" charset="0"/>
              <a:buChar char="•"/>
            </a:pPr>
            <a:r>
              <a:rPr lang="en-IN" dirty="0"/>
              <a:t>Uses Machine Learning for early cardiovascular risk assessment</a:t>
            </a:r>
          </a:p>
          <a:p>
            <a:endParaRPr lang="en-IN" dirty="0"/>
          </a:p>
          <a:p>
            <a:pPr>
              <a:buFont typeface="Arial" panose="020B0604020202020204" pitchFamily="34" charset="0"/>
              <a:buChar char="•"/>
            </a:pPr>
            <a:r>
              <a:rPr lang="en-IN" dirty="0"/>
              <a:t>Provides personalized clinical, dietary, and lifestyle insights</a:t>
            </a:r>
          </a:p>
          <a:p>
            <a:pPr>
              <a:buFont typeface="Arial" panose="020B0604020202020204" pitchFamily="34" charset="0"/>
              <a:buChar char="•"/>
            </a:pPr>
            <a:endParaRPr lang="en-IN" dirty="0"/>
          </a:p>
          <a:p>
            <a:pPr>
              <a:buFont typeface="Arial" panose="020B0604020202020204" pitchFamily="34" charset="0"/>
              <a:buChar char="•"/>
            </a:pPr>
            <a:endParaRPr lang="en-IN" dirty="0"/>
          </a:p>
          <a:p>
            <a:endParaRPr lang="en-IN" dirty="0"/>
          </a:p>
          <a:p>
            <a:r>
              <a:rPr lang="en-IN" b="1" dirty="0"/>
              <a:t>Technology Stack:</a:t>
            </a:r>
          </a:p>
          <a:p>
            <a:br>
              <a:rPr lang="en-IN" dirty="0"/>
            </a:br>
            <a:r>
              <a:rPr lang="en-IN" dirty="0" err="1"/>
              <a:t>FastAPI</a:t>
            </a:r>
            <a:r>
              <a:rPr lang="en-IN" dirty="0"/>
              <a:t> | Machine Learning | Random Forest | Web Dashboard</a:t>
            </a:r>
          </a:p>
          <a:p>
            <a:endParaRPr lang="en-IN" dirty="0"/>
          </a:p>
        </p:txBody>
      </p:sp>
    </p:spTree>
    <p:extLst>
      <p:ext uri="{BB962C8B-B14F-4D97-AF65-F5344CB8AC3E}">
        <p14:creationId xmlns:p14="http://schemas.microsoft.com/office/powerpoint/2010/main" val="424937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497840">
              <a:lnSpc>
                <a:spcPct val="100000"/>
              </a:lnSpc>
              <a:spcBef>
                <a:spcPts val="95"/>
              </a:spcBef>
            </a:pPr>
            <a:r>
              <a:rPr sz="2800" spc="-10" dirty="0"/>
              <a:t>CONTENTS</a:t>
            </a:r>
            <a:endParaRPr sz="2800"/>
          </a:p>
        </p:txBody>
      </p:sp>
      <p:sp>
        <p:nvSpPr>
          <p:cNvPr id="3" name="object 3"/>
          <p:cNvSpPr txBox="1"/>
          <p:nvPr/>
        </p:nvSpPr>
        <p:spPr>
          <a:xfrm>
            <a:off x="4755007" y="1835911"/>
            <a:ext cx="2540000" cy="2769235"/>
          </a:xfrm>
          <a:prstGeom prst="rect">
            <a:avLst/>
          </a:prstGeom>
        </p:spPr>
        <p:txBody>
          <a:bodyPr vert="horz" wrap="square" lIns="0" tIns="12700" rIns="0" bIns="0" rtlCol="0">
            <a:spAutoFit/>
          </a:bodyPr>
          <a:lstStyle/>
          <a:p>
            <a:pPr marL="299085" indent="-286385">
              <a:lnSpc>
                <a:spcPct val="100000"/>
              </a:lnSpc>
              <a:spcBef>
                <a:spcPts val="100"/>
              </a:spcBef>
              <a:buFont typeface="Arial MT"/>
              <a:buChar char="•"/>
              <a:tabLst>
                <a:tab pos="299085" algn="l"/>
              </a:tabLst>
            </a:pPr>
            <a:r>
              <a:rPr sz="1800" spc="-10" dirty="0">
                <a:latin typeface="Times New Roman"/>
                <a:cs typeface="Times New Roman"/>
              </a:rPr>
              <a:t>Abstract</a:t>
            </a:r>
            <a:endParaRPr sz="1800" dirty="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Introduction</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Literature</a:t>
            </a:r>
            <a:r>
              <a:rPr sz="1800" spc="-95" dirty="0">
                <a:latin typeface="Times New Roman"/>
                <a:cs typeface="Times New Roman"/>
              </a:rPr>
              <a:t> </a:t>
            </a:r>
            <a:r>
              <a:rPr sz="1800" dirty="0">
                <a:latin typeface="Times New Roman"/>
                <a:cs typeface="Times New Roman"/>
              </a:rPr>
              <a:t>Survey</a:t>
            </a:r>
            <a:r>
              <a:rPr sz="1800" spc="-90" dirty="0">
                <a:latin typeface="Times New Roman"/>
                <a:cs typeface="Times New Roman"/>
              </a:rPr>
              <a:t> </a:t>
            </a:r>
            <a:r>
              <a:rPr sz="1800" spc="-20" dirty="0">
                <a:latin typeface="Times New Roman"/>
                <a:cs typeface="Times New Roman"/>
              </a:rPr>
              <a:t>Table</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Hardware</a:t>
            </a:r>
            <a:r>
              <a:rPr sz="1800" spc="-90" dirty="0">
                <a:latin typeface="Times New Roman"/>
                <a:cs typeface="Times New Roman"/>
              </a:rPr>
              <a:t> </a:t>
            </a:r>
            <a:r>
              <a:rPr sz="1800" spc="-10" dirty="0">
                <a:latin typeface="Times New Roman"/>
                <a:cs typeface="Times New Roman"/>
              </a:rPr>
              <a:t>Requirements</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Software</a:t>
            </a:r>
            <a:r>
              <a:rPr sz="1800" spc="-35" dirty="0">
                <a:latin typeface="Times New Roman"/>
                <a:cs typeface="Times New Roman"/>
              </a:rPr>
              <a:t> </a:t>
            </a:r>
            <a:r>
              <a:rPr sz="1800" spc="-10" dirty="0">
                <a:latin typeface="Times New Roman"/>
                <a:cs typeface="Times New Roman"/>
              </a:rPr>
              <a:t>Requirements</a:t>
            </a:r>
            <a:endParaRPr sz="1800" dirty="0">
              <a:latin typeface="Times New Roman"/>
              <a:cs typeface="Times New Roman"/>
            </a:endParaRPr>
          </a:p>
          <a:p>
            <a:pPr marL="299085" indent="-286385">
              <a:lnSpc>
                <a:spcPct val="100000"/>
              </a:lnSpc>
              <a:buFont typeface="Arial MT"/>
              <a:buChar char="•"/>
              <a:tabLst>
                <a:tab pos="299085" algn="l"/>
              </a:tabLst>
            </a:pPr>
            <a:r>
              <a:rPr sz="1800" spc="-10" dirty="0">
                <a:latin typeface="Times New Roman"/>
                <a:cs typeface="Times New Roman"/>
              </a:rPr>
              <a:t>Libraries</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DFD</a:t>
            </a:r>
            <a:r>
              <a:rPr sz="1800" spc="-40" dirty="0">
                <a:latin typeface="Times New Roman"/>
                <a:cs typeface="Times New Roman"/>
              </a:rPr>
              <a:t> </a:t>
            </a:r>
            <a:r>
              <a:rPr sz="1800" spc="-10" dirty="0">
                <a:latin typeface="Times New Roman"/>
                <a:cs typeface="Times New Roman"/>
              </a:rPr>
              <a:t>Diagrams</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UML</a:t>
            </a:r>
            <a:r>
              <a:rPr sz="1800" spc="-100" dirty="0">
                <a:latin typeface="Times New Roman"/>
                <a:cs typeface="Times New Roman"/>
              </a:rPr>
              <a:t> </a:t>
            </a:r>
            <a:r>
              <a:rPr sz="1800" spc="-10" dirty="0">
                <a:latin typeface="Times New Roman"/>
                <a:cs typeface="Times New Roman"/>
              </a:rPr>
              <a:t>Diagrams</a:t>
            </a:r>
            <a:endParaRPr sz="1800" dirty="0">
              <a:latin typeface="Times New Roman"/>
              <a:cs typeface="Times New Roman"/>
            </a:endParaRPr>
          </a:p>
          <a:p>
            <a:pPr marL="299085" indent="-286385">
              <a:lnSpc>
                <a:spcPct val="100000"/>
              </a:lnSpc>
              <a:buFont typeface="Arial MT"/>
              <a:buChar char="•"/>
              <a:tabLst>
                <a:tab pos="299085" algn="l"/>
              </a:tabLst>
            </a:pPr>
            <a:r>
              <a:rPr sz="1800" dirty="0">
                <a:latin typeface="Times New Roman"/>
                <a:cs typeface="Times New Roman"/>
              </a:rPr>
              <a:t>Proposed</a:t>
            </a:r>
            <a:r>
              <a:rPr sz="1800" spc="-30" dirty="0">
                <a:latin typeface="Times New Roman"/>
                <a:cs typeface="Times New Roman"/>
              </a:rPr>
              <a:t> </a:t>
            </a:r>
            <a:r>
              <a:rPr sz="1800" spc="-10" dirty="0">
                <a:latin typeface="Times New Roman"/>
                <a:cs typeface="Times New Roman"/>
              </a:rPr>
              <a:t>System</a:t>
            </a:r>
            <a:endParaRPr sz="1800" dirty="0">
              <a:latin typeface="Times New Roman"/>
              <a:cs typeface="Times New Roman"/>
            </a:endParaRPr>
          </a:p>
          <a:p>
            <a:pPr marL="299085" indent="-286385">
              <a:lnSpc>
                <a:spcPct val="100000"/>
              </a:lnSpc>
              <a:spcBef>
                <a:spcPts val="5"/>
              </a:spcBef>
              <a:buFont typeface="Arial MT"/>
              <a:buChar char="•"/>
              <a:tabLst>
                <a:tab pos="299085" algn="l"/>
              </a:tabLst>
            </a:pPr>
            <a:r>
              <a:rPr sz="1800" spc="-10" dirty="0">
                <a:latin typeface="Times New Roman"/>
                <a:cs typeface="Times New Roman"/>
              </a:rPr>
              <a:t>System</a:t>
            </a:r>
            <a:r>
              <a:rPr sz="1800" spc="-90" dirty="0">
                <a:latin typeface="Times New Roman"/>
                <a:cs typeface="Times New Roman"/>
              </a:rPr>
              <a:t> </a:t>
            </a:r>
            <a:r>
              <a:rPr sz="1800" spc="-10" dirty="0">
                <a:latin typeface="Times New Roman"/>
                <a:cs typeface="Times New Roman"/>
              </a:rPr>
              <a:t>Architecture</a:t>
            </a:r>
            <a:endParaRPr sz="18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03572" y="850468"/>
            <a:ext cx="4026028" cy="652409"/>
          </a:xfrm>
          <a:prstGeom prst="rect">
            <a:avLst/>
          </a:prstGeom>
        </p:spPr>
        <p:txBody>
          <a:bodyPr vert="horz" wrap="square" lIns="0" tIns="158419" rIns="0" bIns="0" rtlCol="0">
            <a:spAutoFit/>
          </a:bodyPr>
          <a:lstStyle/>
          <a:p>
            <a:pPr marL="1050925">
              <a:lnSpc>
                <a:spcPct val="100000"/>
              </a:lnSpc>
              <a:spcBef>
                <a:spcPts val="105"/>
              </a:spcBef>
            </a:pPr>
            <a:r>
              <a:rPr sz="3200" spc="-10" dirty="0"/>
              <a:t>ABSTRACT</a:t>
            </a:r>
          </a:p>
        </p:txBody>
      </p:sp>
      <p:sp>
        <p:nvSpPr>
          <p:cNvPr id="4" name="TextBox 3">
            <a:extLst>
              <a:ext uri="{FF2B5EF4-FFF2-40B4-BE49-F238E27FC236}">
                <a16:creationId xmlns:a16="http://schemas.microsoft.com/office/drawing/2014/main" id="{EF81D0B6-60CC-918C-EB4E-D0A4172D430A}"/>
              </a:ext>
            </a:extLst>
          </p:cNvPr>
          <p:cNvSpPr txBox="1"/>
          <p:nvPr/>
        </p:nvSpPr>
        <p:spPr>
          <a:xfrm>
            <a:off x="1600200" y="1905000"/>
            <a:ext cx="9504000" cy="4196020"/>
          </a:xfrm>
          <a:prstGeom prst="rect">
            <a:avLst/>
          </a:prstGeom>
          <a:noFill/>
        </p:spPr>
        <p:txBody>
          <a:bodyPr wrap="square">
            <a:spAutoFit/>
          </a:bodyPr>
          <a:lstStyle/>
          <a:p>
            <a:pPr algn="just">
              <a:lnSpc>
                <a:spcPct val="150000"/>
              </a:lnSpc>
            </a:pPr>
            <a:r>
              <a:rPr lang="en-US" dirty="0"/>
              <a:t>Cardiovascular diseases remain one of the leading causes of mortality worldwide. Early detection and preventive intervention are critical in reducing fatal outcomes. </a:t>
            </a:r>
            <a:r>
              <a:rPr lang="en-US" dirty="0" err="1"/>
              <a:t>CardioAI</a:t>
            </a:r>
            <a:r>
              <a:rPr lang="en-US" dirty="0"/>
              <a:t> is an intelligent healthcare platform designed to predict heart disease risk using machine learning techniques. The system leverages a Random Forest classification model trained on real-world clinical data to assess patient risk levels with high accuracy. A web-based dashboard allows users to input physiological parameters, upload medical reports, and receive real-time diagnostic insights along with personalized clinical, dietary, and lifestyle recommendations. The system ensures data security through encryption mechanisms and provides analytics to track population health trends. </a:t>
            </a:r>
            <a:r>
              <a:rPr lang="en-US" dirty="0" err="1"/>
              <a:t>CardioAI</a:t>
            </a:r>
            <a:r>
              <a:rPr lang="en-US" dirty="0"/>
              <a:t> aims to assist healthcare professionals and individuals in proactive heart health management.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800" y="838200"/>
            <a:ext cx="4102228" cy="635559"/>
          </a:xfrm>
          <a:prstGeom prst="rect">
            <a:avLst/>
          </a:prstGeom>
        </p:spPr>
        <p:txBody>
          <a:bodyPr vert="horz" wrap="square" lIns="0" tIns="141732" rIns="0" bIns="0" rtlCol="0">
            <a:spAutoFit/>
          </a:bodyPr>
          <a:lstStyle/>
          <a:p>
            <a:pPr marL="585470">
              <a:lnSpc>
                <a:spcPct val="100000"/>
              </a:lnSpc>
              <a:spcBef>
                <a:spcPts val="105"/>
              </a:spcBef>
            </a:pPr>
            <a:r>
              <a:rPr sz="3200" spc="-10" dirty="0"/>
              <a:t>INTRODUCTION</a:t>
            </a:r>
          </a:p>
        </p:txBody>
      </p:sp>
      <p:sp>
        <p:nvSpPr>
          <p:cNvPr id="4" name="Rectangle 2">
            <a:extLst>
              <a:ext uri="{FF2B5EF4-FFF2-40B4-BE49-F238E27FC236}">
                <a16:creationId xmlns:a16="http://schemas.microsoft.com/office/drawing/2014/main" id="{8A32F387-5BF0-BA36-BE29-AD00B2287755}"/>
              </a:ext>
            </a:extLst>
          </p:cNvPr>
          <p:cNvSpPr>
            <a:spLocks noChangeArrowheads="1"/>
          </p:cNvSpPr>
          <p:nvPr/>
        </p:nvSpPr>
        <p:spPr bwMode="auto">
          <a:xfrm>
            <a:off x="2133600" y="1577974"/>
            <a:ext cx="7924800"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Heart disease is a major global health concern with increasing incidence.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diagnosis relies on multiple clinical tests and expert interpretation.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assessment is time-consuming and prone to human error.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Artificial Intelligence enables early prediction using historical data patterns.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CardioAI</a:t>
            </a:r>
            <a:r>
              <a:rPr kumimoji="0" lang="en-US" altLang="en-US" sz="1800" b="0" i="0" u="none" strike="noStrike" cap="none" normalizeH="0" baseline="0" dirty="0">
                <a:ln>
                  <a:noFill/>
                </a:ln>
                <a:solidFill>
                  <a:schemeClr val="tx1"/>
                </a:solidFill>
                <a:effectLst/>
                <a:latin typeface="Arial" panose="020B0604020202020204" pitchFamily="34" charset="0"/>
              </a:rPr>
              <a:t> integrates Machine Learning with a secure web platform to:</a:t>
            </a:r>
          </a:p>
          <a:p>
            <a:pPr marL="285750" indent="-285750" algn="just" rtl="0" eaLnBrk="0" fontAlgn="base" hangingPunct="0">
              <a:lnSpc>
                <a:spcPct val="150000"/>
              </a:lnSpc>
              <a:spcBef>
                <a:spcPct val="0"/>
              </a:spcBef>
              <a:spcAft>
                <a:spcPct val="0"/>
              </a:spcAft>
              <a:buFont typeface="Wingdings" panose="05000000000000000000" pitchFamily="2" charset="2"/>
              <a:buChar char="q"/>
            </a:pPr>
            <a:r>
              <a:rPr lang="en-US" altLang="en-US" dirty="0">
                <a:solidFill>
                  <a:schemeClr val="tx1"/>
                </a:solidFill>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            Predict heart disease risk</a:t>
            </a:r>
          </a:p>
          <a:p>
            <a:pPr marL="285750" lvl="3" indent="-285750" algn="just" rtl="0" eaLnBrk="0" fontAlgn="base" hangingPunct="0">
              <a:lnSpc>
                <a:spcPct val="150000"/>
              </a:lnSpc>
              <a:spcBef>
                <a:spcPct val="0"/>
              </a:spcBef>
              <a:spcAft>
                <a:spcPct val="0"/>
              </a:spcAft>
              <a:buFont typeface="Wingdings" panose="05000000000000000000" pitchFamily="2" charset="2"/>
              <a:buChar char="q"/>
            </a:pPr>
            <a:r>
              <a:rPr kumimoji="0" lang="en-US" altLang="en-US" b="0" i="0" u="none" strike="noStrike" cap="none" normalizeH="0" baseline="0" dirty="0">
                <a:ln>
                  <a:noFill/>
                </a:ln>
                <a:solidFill>
                  <a:schemeClr val="tx1"/>
                </a:solidFill>
                <a:effectLst/>
                <a:latin typeface="Arial" panose="020B0604020202020204" pitchFamily="34" charset="0"/>
              </a:rPr>
              <a:t>               Analyze clinical biomarkers</a:t>
            </a:r>
          </a:p>
          <a:p>
            <a:pPr marL="285750" lvl="3" indent="-285750" algn="just" rtl="0" eaLnBrk="0" fontAlgn="base" hangingPunct="0">
              <a:lnSpc>
                <a:spcPct val="150000"/>
              </a:lnSpc>
              <a:spcBef>
                <a:spcPct val="0"/>
              </a:spcBef>
              <a:spcAft>
                <a:spcPct val="0"/>
              </a:spcAft>
              <a:buFont typeface="Wingdings" panose="05000000000000000000" pitchFamily="2" charset="2"/>
              <a:buChar char="q"/>
            </a:pPr>
            <a:r>
              <a:rPr kumimoji="0" lang="en-US" altLang="en-US" b="0" i="0" u="none" strike="noStrike" cap="none" normalizeH="0" baseline="0" dirty="0">
                <a:ln>
                  <a:noFill/>
                </a:ln>
                <a:solidFill>
                  <a:schemeClr val="tx1"/>
                </a:solidFill>
                <a:effectLst/>
                <a:latin typeface="Arial" panose="020B0604020202020204" pitchFamily="34" charset="0"/>
              </a:rPr>
              <a:t>               Provide personalized recommendations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supports preventive healthcare and decision-making.</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160677683"/>
              </p:ext>
            </p:extLst>
          </p:nvPr>
        </p:nvGraphicFramePr>
        <p:xfrm>
          <a:off x="0" y="0"/>
          <a:ext cx="12192000" cy="6858000"/>
        </p:xfrm>
        <a:graphic>
          <a:graphicData uri="http://schemas.openxmlformats.org/drawingml/2006/table">
            <a:tbl>
              <a:tblPr firstRow="1" bandRow="1">
                <a:tableStyleId>{2D5ABB26-0587-4C30-8999-92F81FD0307C}</a:tableStyleId>
              </a:tblPr>
              <a:tblGrid>
                <a:gridCol w="710099">
                  <a:extLst>
                    <a:ext uri="{9D8B030D-6E8A-4147-A177-3AD203B41FA5}">
                      <a16:colId xmlns:a16="http://schemas.microsoft.com/office/drawing/2014/main" val="20000"/>
                    </a:ext>
                  </a:extLst>
                </a:gridCol>
                <a:gridCol w="1318770">
                  <a:extLst>
                    <a:ext uri="{9D8B030D-6E8A-4147-A177-3AD203B41FA5}">
                      <a16:colId xmlns:a16="http://schemas.microsoft.com/office/drawing/2014/main" val="20001"/>
                    </a:ext>
                  </a:extLst>
                </a:gridCol>
                <a:gridCol w="1631090">
                  <a:extLst>
                    <a:ext uri="{9D8B030D-6E8A-4147-A177-3AD203B41FA5}">
                      <a16:colId xmlns:a16="http://schemas.microsoft.com/office/drawing/2014/main" val="2341603062"/>
                    </a:ext>
                  </a:extLst>
                </a:gridCol>
                <a:gridCol w="1631090">
                  <a:extLst>
                    <a:ext uri="{9D8B030D-6E8A-4147-A177-3AD203B41FA5}">
                      <a16:colId xmlns:a16="http://schemas.microsoft.com/office/drawing/2014/main" val="955049396"/>
                    </a:ext>
                  </a:extLst>
                </a:gridCol>
                <a:gridCol w="2417019">
                  <a:extLst>
                    <a:ext uri="{9D8B030D-6E8A-4147-A177-3AD203B41FA5}">
                      <a16:colId xmlns:a16="http://schemas.microsoft.com/office/drawing/2014/main" val="20002"/>
                    </a:ext>
                  </a:extLst>
                </a:gridCol>
                <a:gridCol w="2345264">
                  <a:extLst>
                    <a:ext uri="{9D8B030D-6E8A-4147-A177-3AD203B41FA5}">
                      <a16:colId xmlns:a16="http://schemas.microsoft.com/office/drawing/2014/main" val="20003"/>
                    </a:ext>
                  </a:extLst>
                </a:gridCol>
                <a:gridCol w="2138668">
                  <a:extLst>
                    <a:ext uri="{9D8B030D-6E8A-4147-A177-3AD203B41FA5}">
                      <a16:colId xmlns:a16="http://schemas.microsoft.com/office/drawing/2014/main" val="20004"/>
                    </a:ext>
                  </a:extLst>
                </a:gridCol>
              </a:tblGrid>
              <a:tr h="1125108">
                <a:tc>
                  <a:txBody>
                    <a:bodyPr/>
                    <a:lstStyle/>
                    <a:p>
                      <a:pPr marL="97155" marR="89535" indent="71120">
                        <a:lnSpc>
                          <a:spcPct val="100000"/>
                        </a:lnSpc>
                        <a:spcBef>
                          <a:spcPts val="300"/>
                        </a:spcBef>
                      </a:pPr>
                      <a:r>
                        <a:rPr sz="1800" spc="-25" dirty="0">
                          <a:solidFill>
                            <a:srgbClr val="FFFFFF"/>
                          </a:solidFill>
                          <a:latin typeface="Times New Roman"/>
                          <a:cs typeface="Times New Roman"/>
                        </a:rPr>
                        <a:t>S. NO</a:t>
                      </a:r>
                      <a:endParaRPr sz="18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210D"/>
                    </a:solidFill>
                  </a:tcPr>
                </a:tc>
                <a:tc>
                  <a:txBody>
                    <a:bodyPr/>
                    <a:lstStyle/>
                    <a:p>
                      <a:pPr algn="ctr">
                        <a:lnSpc>
                          <a:spcPct val="100000"/>
                        </a:lnSpc>
                        <a:spcBef>
                          <a:spcPts val="300"/>
                        </a:spcBef>
                      </a:pPr>
                      <a:r>
                        <a:rPr sz="1800" spc="-10" dirty="0">
                          <a:solidFill>
                            <a:srgbClr val="FFFFFF"/>
                          </a:solidFill>
                          <a:latin typeface="Times New Roman"/>
                          <a:cs typeface="Times New Roman"/>
                        </a:rPr>
                        <a:t>Author</a:t>
                      </a:r>
                      <a:endParaRPr sz="1800">
                        <a:latin typeface="Times New Roman"/>
                        <a:cs typeface="Times New Roman"/>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tc>
                  <a:txBody>
                    <a:bodyPr/>
                    <a:lstStyle/>
                    <a:p>
                      <a:pPr marL="0" marR="0" lvl="0" indent="0" algn="ctr" defTabSz="914400" eaLnBrk="1" fontAlgn="auto" latinLnBrk="0" hangingPunct="1">
                        <a:lnSpc>
                          <a:spcPct val="100000"/>
                        </a:lnSpc>
                        <a:spcBef>
                          <a:spcPts val="300"/>
                        </a:spcBef>
                        <a:spcAft>
                          <a:spcPts val="0"/>
                        </a:spcAft>
                        <a:buClrTx/>
                        <a:buSzTx/>
                        <a:buFontTx/>
                        <a:buNone/>
                        <a:tabLst/>
                        <a:defRPr/>
                      </a:pPr>
                      <a:r>
                        <a:rPr lang="en-IN" dirty="0"/>
                        <a:t>Year</a:t>
                      </a:r>
                    </a:p>
                    <a:p>
                      <a:pPr algn="ctr">
                        <a:lnSpc>
                          <a:spcPct val="100000"/>
                        </a:lnSpc>
                        <a:spcBef>
                          <a:spcPts val="300"/>
                        </a:spcBef>
                      </a:pPr>
                      <a:endParaRPr sz="1800" dirty="0">
                        <a:latin typeface="Times New Roman"/>
                        <a:cs typeface="Times New Roman"/>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tc>
                  <a:txBody>
                    <a:bodyPr/>
                    <a:lstStyle/>
                    <a:p>
                      <a:pPr marL="0" marR="0" lvl="0" indent="0" algn="ctr" defTabSz="914400" eaLnBrk="1" fontAlgn="auto" latinLnBrk="0" hangingPunct="1">
                        <a:lnSpc>
                          <a:spcPct val="100000"/>
                        </a:lnSpc>
                        <a:spcBef>
                          <a:spcPts val="300"/>
                        </a:spcBef>
                        <a:spcAft>
                          <a:spcPts val="0"/>
                        </a:spcAft>
                        <a:buClrTx/>
                        <a:buSzTx/>
                        <a:buFontTx/>
                        <a:buNone/>
                        <a:tabLst/>
                        <a:defRPr/>
                      </a:pPr>
                      <a:r>
                        <a:rPr lang="en-IN" sz="1800" spc="-10" dirty="0">
                          <a:solidFill>
                            <a:srgbClr val="FFFFFF"/>
                          </a:solidFill>
                          <a:latin typeface="Times New Roman"/>
                          <a:cs typeface="Times New Roman"/>
                        </a:rPr>
                        <a:t>Algorithm</a:t>
                      </a:r>
                      <a:endParaRPr lang="en-IN" sz="1800" dirty="0">
                        <a:latin typeface="Times New Roman"/>
                        <a:cs typeface="Times New Roman"/>
                      </a:endParaRPr>
                    </a:p>
                    <a:p>
                      <a:pPr algn="ctr">
                        <a:lnSpc>
                          <a:spcPct val="100000"/>
                        </a:lnSpc>
                        <a:spcBef>
                          <a:spcPts val="300"/>
                        </a:spcBef>
                      </a:pPr>
                      <a:endParaRPr sz="1800" dirty="0">
                        <a:latin typeface="Times New Roman"/>
                        <a:cs typeface="Times New Roman"/>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tc>
                  <a:txBody>
                    <a:bodyPr/>
                    <a:lstStyle/>
                    <a:p>
                      <a:pPr marL="1905" marR="0" lvl="0" indent="0" algn="ctr" defTabSz="914400" eaLnBrk="1" fontAlgn="auto" latinLnBrk="0" hangingPunct="1">
                        <a:lnSpc>
                          <a:spcPct val="100000"/>
                        </a:lnSpc>
                        <a:spcBef>
                          <a:spcPts val="300"/>
                        </a:spcBef>
                        <a:spcAft>
                          <a:spcPts val="0"/>
                        </a:spcAft>
                        <a:buClrTx/>
                        <a:buSzTx/>
                        <a:buFontTx/>
                        <a:buNone/>
                        <a:tabLst/>
                        <a:defRPr/>
                      </a:pPr>
                      <a:r>
                        <a:rPr lang="en-IN" dirty="0"/>
                        <a:t>Dataset</a:t>
                      </a:r>
                    </a:p>
                    <a:p>
                      <a:pPr marL="1905" algn="ctr">
                        <a:lnSpc>
                          <a:spcPct val="100000"/>
                        </a:lnSpc>
                        <a:spcBef>
                          <a:spcPts val="300"/>
                        </a:spcBef>
                      </a:pPr>
                      <a:endParaRPr sz="1800" dirty="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tc>
                  <a:txBody>
                    <a:bodyPr/>
                    <a:lstStyle/>
                    <a:p>
                      <a:r>
                        <a:rPr lang="en-IN" dirty="0"/>
                        <a:t>       Accuracy</a:t>
                      </a: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tc>
                  <a:txBody>
                    <a:bodyPr/>
                    <a:lstStyle/>
                    <a:p>
                      <a:r>
                        <a:rPr lang="en-IN" dirty="0"/>
                        <a:t>     Limitations</a:t>
                      </a: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C4210D"/>
                    </a:solidFill>
                  </a:tcPr>
                </a:tc>
                <a:extLst>
                  <a:ext uri="{0D108BD9-81ED-4DB2-BD59-A6C34878D82A}">
                    <a16:rowId xmlns:a16="http://schemas.microsoft.com/office/drawing/2014/main" val="10000"/>
                  </a:ext>
                </a:extLst>
              </a:tr>
              <a:tr h="1402551">
                <a:tc>
                  <a:txBody>
                    <a:bodyPr/>
                    <a:lstStyle/>
                    <a:p>
                      <a:pPr>
                        <a:lnSpc>
                          <a:spcPct val="100000"/>
                        </a:lnSpc>
                      </a:pPr>
                      <a:r>
                        <a:rPr lang="en-IN" sz="1800" dirty="0">
                          <a:latin typeface="Times New Roman"/>
                          <a:cs typeface="Times New Roman"/>
                        </a:rPr>
                        <a:t>  </a:t>
                      </a:r>
                      <a:br>
                        <a:rPr lang="en-IN" sz="1800" dirty="0">
                          <a:latin typeface="Times New Roman"/>
                          <a:cs typeface="Times New Roman"/>
                        </a:rPr>
                      </a:br>
                      <a:br>
                        <a:rPr lang="en-IN" sz="1800" dirty="0">
                          <a:latin typeface="Times New Roman"/>
                          <a:cs typeface="Times New Roman"/>
                        </a:rPr>
                      </a:br>
                      <a:r>
                        <a:rPr lang="en-IN" sz="1800" dirty="0">
                          <a:latin typeface="Times New Roman"/>
                          <a:cs typeface="Times New Roman"/>
                        </a:rPr>
                        <a:t>   1</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a:t>Cleveland et al.</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a:t>2000</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a:t>Logistic Regression</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dirty="0"/>
                        <a:t>UCI Heart Dataset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dirty="0"/>
                        <a:t>~77%</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dirty="0"/>
                        <a:t>Limited feature interaction</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extLst>
                  <a:ext uri="{0D108BD9-81ED-4DB2-BD59-A6C34878D82A}">
                    <a16:rowId xmlns:a16="http://schemas.microsoft.com/office/drawing/2014/main" val="2953099656"/>
                  </a:ext>
                </a:extLst>
              </a:tr>
              <a:tr h="871366">
                <a:tc>
                  <a:txBody>
                    <a:bodyPr/>
                    <a:lstStyle/>
                    <a:p>
                      <a:pPr>
                        <a:lnSpc>
                          <a:spcPct val="100000"/>
                        </a:lnSpc>
                      </a:pPr>
                      <a:r>
                        <a:rPr lang="en-IN" sz="1800" dirty="0">
                          <a:latin typeface="Times New Roman"/>
                          <a:cs typeface="Times New Roman"/>
                        </a:rPr>
                        <a:t>    </a:t>
                      </a:r>
                      <a:br>
                        <a:rPr lang="en-IN" sz="1800" dirty="0">
                          <a:latin typeface="Times New Roman"/>
                          <a:cs typeface="Times New Roman"/>
                        </a:rPr>
                      </a:br>
                      <a:r>
                        <a:rPr lang="en-IN" sz="1800" dirty="0">
                          <a:latin typeface="Times New Roman"/>
                          <a:cs typeface="Times New Roman"/>
                        </a:rPr>
                        <a:t>   2</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F5E8E7"/>
                    </a:solidFill>
                  </a:tcPr>
                </a:tc>
                <a:tc>
                  <a:txBody>
                    <a:bodyPr/>
                    <a:lstStyle/>
                    <a:p>
                      <a:r>
                        <a:rPr lang="en-IN"/>
                        <a:t>Patel et al.</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2018</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SVM</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Clinical Records</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tc>
                  <a:txBody>
                    <a:bodyPr/>
                    <a:lstStyle/>
                    <a:p>
                      <a:r>
                        <a:rPr lang="en-IN"/>
                        <a:t>81%</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tc>
                  <a:txBody>
                    <a:bodyPr/>
                    <a:lstStyle/>
                    <a:p>
                      <a:r>
                        <a:rPr lang="en-IN"/>
                        <a:t>High computation cost</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extLst>
                  <a:ext uri="{0D108BD9-81ED-4DB2-BD59-A6C34878D82A}">
                    <a16:rowId xmlns:a16="http://schemas.microsoft.com/office/drawing/2014/main" val="10002"/>
                  </a:ext>
                </a:extLst>
              </a:tr>
              <a:tr h="1171116">
                <a:tc>
                  <a:txBody>
                    <a:bodyPr/>
                    <a:lstStyle/>
                    <a:p>
                      <a:pPr>
                        <a:lnSpc>
                          <a:spcPct val="100000"/>
                        </a:lnSpc>
                      </a:pPr>
                      <a:br>
                        <a:rPr lang="en-IN" sz="1800" dirty="0">
                          <a:latin typeface="Times New Roman"/>
                          <a:cs typeface="Times New Roman"/>
                        </a:rPr>
                      </a:br>
                      <a:r>
                        <a:rPr lang="en-IN" sz="1800" dirty="0">
                          <a:latin typeface="Times New Roman"/>
                          <a:cs typeface="Times New Roman"/>
                        </a:rPr>
                        <a:t>   3</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ACCCC"/>
                    </a:solidFill>
                  </a:tcPr>
                </a:tc>
                <a:tc>
                  <a:txBody>
                    <a:bodyPr/>
                    <a:lstStyle/>
                    <a:p>
                      <a:r>
                        <a:rPr lang="en-IN"/>
                        <a:t>Kumar et al.</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a:t>2020</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a:t>Decision Trees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CCCC"/>
                    </a:solidFill>
                  </a:tcPr>
                </a:tc>
                <a:tc>
                  <a:txBody>
                    <a:bodyPr/>
                    <a:lstStyle/>
                    <a:p>
                      <a:r>
                        <a:rPr lang="en-IN"/>
                        <a:t>Hospital Data</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tc>
                  <a:txBody>
                    <a:bodyPr/>
                    <a:lstStyle/>
                    <a:p>
                      <a:r>
                        <a:rPr lang="en-IN"/>
                        <a:t>83%</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tc>
                  <a:txBody>
                    <a:bodyPr/>
                    <a:lstStyle/>
                    <a:p>
                      <a:r>
                        <a:rPr lang="en-IN"/>
                        <a:t>Overfitting issues</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extLst>
                  <a:ext uri="{0D108BD9-81ED-4DB2-BD59-A6C34878D82A}">
                    <a16:rowId xmlns:a16="http://schemas.microsoft.com/office/drawing/2014/main" val="10003"/>
                  </a:ext>
                </a:extLst>
              </a:tr>
              <a:tr h="1443679">
                <a:tc>
                  <a:txBody>
                    <a:bodyPr/>
                    <a:lstStyle/>
                    <a:p>
                      <a:pPr>
                        <a:lnSpc>
                          <a:spcPct val="100000"/>
                        </a:lnSpc>
                      </a:pPr>
                      <a:r>
                        <a:rPr lang="en-IN" sz="1800" dirty="0">
                          <a:latin typeface="Times New Roman"/>
                          <a:cs typeface="Times New Roman"/>
                        </a:rPr>
                        <a:t>  </a:t>
                      </a:r>
                      <a:br>
                        <a:rPr lang="en-IN" sz="1800" dirty="0">
                          <a:latin typeface="Times New Roman"/>
                          <a:cs typeface="Times New Roman"/>
                        </a:rPr>
                      </a:br>
                      <a:br>
                        <a:rPr lang="en-IN" sz="1800" dirty="0">
                          <a:latin typeface="Times New Roman"/>
                          <a:cs typeface="Times New Roman"/>
                        </a:rPr>
                      </a:br>
                      <a:r>
                        <a:rPr lang="en-IN" sz="1800" dirty="0">
                          <a:latin typeface="Times New Roman"/>
                          <a:cs typeface="Times New Roman"/>
                        </a:rPr>
                        <a:t>   4</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F5E8E7"/>
                    </a:solidFill>
                  </a:tcPr>
                </a:tc>
                <a:tc>
                  <a:txBody>
                    <a:bodyPr/>
                    <a:lstStyle/>
                    <a:p>
                      <a:r>
                        <a:rPr lang="en-IN"/>
                        <a:t>Sharma et al.</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2021</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Neural Networks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8E7"/>
                    </a:solidFill>
                  </a:tcPr>
                </a:tc>
                <a:tc>
                  <a:txBody>
                    <a:bodyPr/>
                    <a:lstStyle/>
                    <a:p>
                      <a:r>
                        <a:rPr lang="en-IN"/>
                        <a:t>ECG + Clinical</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tc>
                  <a:txBody>
                    <a:bodyPr/>
                    <a:lstStyle/>
                    <a:p>
                      <a:r>
                        <a:rPr lang="en-IN"/>
                        <a:t>85%</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tc>
                  <a:txBody>
                    <a:bodyPr/>
                    <a:lstStyle/>
                    <a:p>
                      <a:r>
                        <a:rPr lang="en-IN"/>
                        <a:t>Requires large datasets</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5E8E7"/>
                    </a:solidFill>
                  </a:tcPr>
                </a:tc>
                <a:extLst>
                  <a:ext uri="{0D108BD9-81ED-4DB2-BD59-A6C34878D82A}">
                    <a16:rowId xmlns:a16="http://schemas.microsoft.com/office/drawing/2014/main" val="10004"/>
                  </a:ext>
                </a:extLst>
              </a:tr>
              <a:tr h="844180">
                <a:tc>
                  <a:txBody>
                    <a:bodyPr/>
                    <a:lstStyle/>
                    <a:p>
                      <a:pPr>
                        <a:lnSpc>
                          <a:spcPct val="100000"/>
                        </a:lnSpc>
                      </a:pPr>
                      <a:br>
                        <a:rPr lang="en-IN" sz="1800" dirty="0">
                          <a:latin typeface="Times New Roman"/>
                          <a:cs typeface="Times New Roman"/>
                        </a:rPr>
                      </a:br>
                      <a:r>
                        <a:rPr lang="en-IN" sz="1800" dirty="0">
                          <a:latin typeface="Times New Roman"/>
                          <a:cs typeface="Times New Roman"/>
                        </a:rPr>
                        <a:t>   5</a:t>
                      </a:r>
                      <a:endParaRPr sz="18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ACCCC"/>
                    </a:solidFill>
                  </a:tcPr>
                </a:tc>
                <a:tc>
                  <a:txBody>
                    <a:bodyPr/>
                    <a:lstStyle/>
                    <a:p>
                      <a:r>
                        <a:rPr lang="en-IN" b="1" dirty="0"/>
                        <a:t>Proposed System</a:t>
                      </a:r>
                      <a:endParaRPr lang="en-IN" dirty="0"/>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a:t>2026</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b="1"/>
                        <a:t>Random Forest</a:t>
                      </a:r>
                      <a:endParaRPr lang="en-IN"/>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ACCCC"/>
                    </a:solidFill>
                  </a:tcPr>
                </a:tc>
                <a:tc>
                  <a:txBody>
                    <a:bodyPr/>
                    <a:lstStyle/>
                    <a:p>
                      <a:r>
                        <a:rPr lang="en-IN" b="1"/>
                        <a:t>UCI Dataset</a:t>
                      </a:r>
                      <a:endParaRPr lang="en-IN"/>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tc>
                  <a:txBody>
                    <a:bodyPr/>
                    <a:lstStyle/>
                    <a:p>
                      <a:r>
                        <a:rPr lang="en-IN" b="1"/>
                        <a:t>~88%</a:t>
                      </a:r>
                      <a:endParaRPr lang="en-IN"/>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tc>
                  <a:txBody>
                    <a:bodyPr/>
                    <a:lstStyle/>
                    <a:p>
                      <a:r>
                        <a:rPr lang="en-IN" dirty="0"/>
                        <a:t>Requires structured input</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CCC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1295400"/>
            <a:ext cx="4800600" cy="505908"/>
          </a:xfrm>
          <a:prstGeom prst="rect">
            <a:avLst/>
          </a:prstGeom>
        </p:spPr>
        <p:txBody>
          <a:bodyPr vert="horz" wrap="square" lIns="0" tIns="13335" rIns="0" bIns="0" rtlCol="0">
            <a:spAutoFit/>
          </a:bodyPr>
          <a:lstStyle/>
          <a:p>
            <a:pPr marL="12700">
              <a:lnSpc>
                <a:spcPct val="100000"/>
              </a:lnSpc>
              <a:spcBef>
                <a:spcPts val="105"/>
              </a:spcBef>
            </a:pPr>
            <a:r>
              <a:rPr sz="3200" dirty="0"/>
              <a:t>Hardware</a:t>
            </a:r>
            <a:r>
              <a:rPr lang="en-IN" sz="3200" dirty="0"/>
              <a:t>  </a:t>
            </a:r>
            <a:r>
              <a:rPr sz="3200" spc="-10" dirty="0"/>
              <a:t>Requirements</a:t>
            </a:r>
          </a:p>
        </p:txBody>
      </p:sp>
      <p:sp>
        <p:nvSpPr>
          <p:cNvPr id="4" name="Rectangle 1">
            <a:extLst>
              <a:ext uri="{FF2B5EF4-FFF2-40B4-BE49-F238E27FC236}">
                <a16:creationId xmlns:a16="http://schemas.microsoft.com/office/drawing/2014/main" id="{81DD1780-68B5-883F-D790-720BF9D7A3E0}"/>
              </a:ext>
            </a:extLst>
          </p:cNvPr>
          <p:cNvSpPr>
            <a:spLocks noChangeArrowheads="1"/>
          </p:cNvSpPr>
          <p:nvPr/>
        </p:nvSpPr>
        <p:spPr bwMode="auto">
          <a:xfrm>
            <a:off x="2133600" y="2369735"/>
            <a:ext cx="7010400"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Processor: Intel i5 / Ryzen 5 or higher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RAM: Minimum 8 GB</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Storage: 20 GB free disk space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 Standard monitor (Web UI access)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Network: Internet connection (for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0A7F-7350-5728-69E3-F675B25F7853}"/>
              </a:ext>
            </a:extLst>
          </p:cNvPr>
          <p:cNvSpPr>
            <a:spLocks noGrp="1"/>
          </p:cNvSpPr>
          <p:nvPr>
            <p:ph type="title"/>
          </p:nvPr>
        </p:nvSpPr>
        <p:spPr>
          <a:xfrm>
            <a:off x="4203572" y="850469"/>
            <a:ext cx="4940428" cy="978331"/>
          </a:xfrm>
        </p:spPr>
        <p:txBody>
          <a:bodyPr/>
          <a:lstStyle/>
          <a:p>
            <a:pPr>
              <a:lnSpc>
                <a:spcPct val="150000"/>
              </a:lnSpc>
            </a:pPr>
            <a:r>
              <a:rPr lang="en-IN" sz="2000" b="1" dirty="0">
                <a:latin typeface="Times New Roman"/>
                <a:cs typeface="Times New Roman"/>
              </a:rPr>
              <a:t>       </a:t>
            </a:r>
            <a:r>
              <a:rPr lang="en-IN" sz="3200" b="1" dirty="0">
                <a:latin typeface="Times New Roman"/>
                <a:cs typeface="Times New Roman"/>
              </a:rPr>
              <a:t>Software</a:t>
            </a:r>
            <a:r>
              <a:rPr lang="en-IN" sz="3200" b="1" spc="-100" dirty="0">
                <a:latin typeface="Times New Roman"/>
                <a:cs typeface="Times New Roman"/>
              </a:rPr>
              <a:t> </a:t>
            </a:r>
            <a:r>
              <a:rPr lang="en-IN" sz="3200" b="1" spc="-10" dirty="0">
                <a:latin typeface="Times New Roman"/>
                <a:cs typeface="Times New Roman"/>
              </a:rPr>
              <a:t>Requirements</a:t>
            </a:r>
            <a:br>
              <a:rPr lang="en-IN" sz="2000" dirty="0">
                <a:latin typeface="Times New Roman"/>
                <a:cs typeface="Times New Roman"/>
              </a:rPr>
            </a:br>
            <a:endParaRPr lang="en-IN" dirty="0"/>
          </a:p>
        </p:txBody>
      </p:sp>
      <p:sp>
        <p:nvSpPr>
          <p:cNvPr id="3" name="Text Placeholder 2">
            <a:extLst>
              <a:ext uri="{FF2B5EF4-FFF2-40B4-BE49-F238E27FC236}">
                <a16:creationId xmlns:a16="http://schemas.microsoft.com/office/drawing/2014/main" id="{C6289D40-2EFD-EA48-EFA7-86A3DCEBCB5C}"/>
              </a:ext>
            </a:extLst>
          </p:cNvPr>
          <p:cNvSpPr>
            <a:spLocks noGrp="1"/>
          </p:cNvSpPr>
          <p:nvPr>
            <p:ph type="body" idx="1"/>
          </p:nvPr>
        </p:nvSpPr>
        <p:spPr>
          <a:xfrm>
            <a:off x="2286000" y="1828800"/>
            <a:ext cx="8458200" cy="4431983"/>
          </a:xfrm>
        </p:spPr>
        <p:txBody>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Operating System: Windows / Linux / macOS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Programming Language: Python 3.9+</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Backend Framework: </a:t>
            </a:r>
            <a:r>
              <a:rPr kumimoji="0" lang="en-US" altLang="en-US" sz="1800" b="0" i="0" u="none" strike="noStrike" cap="none" normalizeH="0" baseline="0" dirty="0" err="1">
                <a:ln>
                  <a:noFill/>
                </a:ln>
                <a:solidFill>
                  <a:schemeClr val="tx1"/>
                </a:solidFill>
                <a:effectLst/>
                <a:latin typeface="Arial" panose="020B0604020202020204" pitchFamily="34" charset="0"/>
              </a:rPr>
              <a:t>FastAPI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Frontend: Web-based Dashboard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Development Tools: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VS Code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Postman (API testing)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Deployment Tools: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Docker</a:t>
            </a:r>
          </a:p>
          <a:p>
            <a:pPr marL="0" marR="0" lvl="0" indent="0" algn="just" defTabSz="914400" rtl="0" eaLnBrk="0" fontAlgn="base" latinLnBrk="0" hangingPunct="0">
              <a:lnSpc>
                <a:spcPct val="150000"/>
              </a:lnSpc>
              <a:spcBef>
                <a:spcPct val="0"/>
              </a:spcBef>
              <a:spcAft>
                <a:spcPct val="0"/>
              </a:spcAft>
              <a:buClrTx/>
              <a:buSzTx/>
              <a:tabLst/>
            </a:pPr>
            <a:r>
              <a:rPr lang="en-US" altLang="en-US"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Uvicorn</a:t>
            </a:r>
            <a:r>
              <a:rPr kumimoji="0" lang="en-US" altLang="en-US" sz="1800" b="0" i="0" u="none" strike="noStrike" cap="none" normalizeH="0" baseline="0" dirty="0">
                <a:ln>
                  <a:noFill/>
                </a:ln>
                <a:solidFill>
                  <a:schemeClr val="tx1"/>
                </a:solidFill>
                <a:effectLst/>
                <a:latin typeface="Arial" panose="020B0604020202020204" pitchFamily="34" charset="0"/>
              </a:rPr>
              <a:t> Server</a:t>
            </a:r>
          </a:p>
          <a:p>
            <a:endParaRPr lang="en-IN" dirty="0"/>
          </a:p>
        </p:txBody>
      </p:sp>
    </p:spTree>
    <p:extLst>
      <p:ext uri="{BB962C8B-B14F-4D97-AF65-F5344CB8AC3E}">
        <p14:creationId xmlns:p14="http://schemas.microsoft.com/office/powerpoint/2010/main" val="3773351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9A57-29CD-0EB6-061B-4A0FF050190A}"/>
              </a:ext>
            </a:extLst>
          </p:cNvPr>
          <p:cNvSpPr>
            <a:spLocks noGrp="1"/>
          </p:cNvSpPr>
          <p:nvPr>
            <p:ph type="title"/>
          </p:nvPr>
        </p:nvSpPr>
        <p:spPr>
          <a:xfrm>
            <a:off x="4168588" y="850468"/>
            <a:ext cx="3603812" cy="800219"/>
          </a:xfrm>
        </p:spPr>
        <p:txBody>
          <a:bodyPr/>
          <a:lstStyle/>
          <a:p>
            <a:r>
              <a:rPr lang="en-IN" sz="3200" spc="-10" dirty="0">
                <a:latin typeface="Times New Roman"/>
                <a:cs typeface="Times New Roman"/>
              </a:rPr>
              <a:t>      Libraries</a:t>
            </a:r>
            <a:br>
              <a:rPr lang="en-IN" sz="2000" dirty="0">
                <a:latin typeface="Times New Roman"/>
                <a:cs typeface="Times New Roman"/>
              </a:rPr>
            </a:br>
            <a:endParaRPr lang="en-IN" dirty="0"/>
          </a:p>
        </p:txBody>
      </p:sp>
      <p:sp>
        <p:nvSpPr>
          <p:cNvPr id="4" name="Rectangle 1">
            <a:extLst>
              <a:ext uri="{FF2B5EF4-FFF2-40B4-BE49-F238E27FC236}">
                <a16:creationId xmlns:a16="http://schemas.microsoft.com/office/drawing/2014/main" id="{DB13179F-F264-5C9A-0478-CDA0016E5E0E}"/>
              </a:ext>
            </a:extLst>
          </p:cNvPr>
          <p:cNvSpPr>
            <a:spLocks noGrp="1" noChangeArrowheads="1"/>
          </p:cNvSpPr>
          <p:nvPr>
            <p:ph type="body" idx="1"/>
          </p:nvPr>
        </p:nvSpPr>
        <p:spPr bwMode="auto">
          <a:xfrm>
            <a:off x="1828800" y="1905000"/>
            <a:ext cx="6705600"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fastapi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API development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uvicorn</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ASGI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scikit-learn – Machine Learning model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pandas – Data 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numpy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Numerical operations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joblib</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Model serialization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pydantic</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Data validation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python-multipart – File upload handling</a:t>
            </a:r>
          </a:p>
        </p:txBody>
      </p:sp>
    </p:spTree>
    <p:extLst>
      <p:ext uri="{BB962C8B-B14F-4D97-AF65-F5344CB8AC3E}">
        <p14:creationId xmlns:p14="http://schemas.microsoft.com/office/powerpoint/2010/main" val="269292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3542" rIns="0" bIns="0" rtlCol="0">
            <a:spAutoFit/>
          </a:bodyPr>
          <a:lstStyle/>
          <a:p>
            <a:pPr marL="146050">
              <a:lnSpc>
                <a:spcPct val="100000"/>
              </a:lnSpc>
              <a:spcBef>
                <a:spcPts val="105"/>
              </a:spcBef>
            </a:pPr>
            <a:r>
              <a:rPr dirty="0"/>
              <a:t>PROPOSED</a:t>
            </a:r>
            <a:r>
              <a:rPr spc="-60" dirty="0"/>
              <a:t> </a:t>
            </a:r>
            <a:r>
              <a:rPr spc="-10" dirty="0"/>
              <a:t>SYSTEM</a:t>
            </a:r>
          </a:p>
        </p:txBody>
      </p:sp>
      <p:sp>
        <p:nvSpPr>
          <p:cNvPr id="3" name="Rectangle 1">
            <a:extLst>
              <a:ext uri="{FF2B5EF4-FFF2-40B4-BE49-F238E27FC236}">
                <a16:creationId xmlns:a16="http://schemas.microsoft.com/office/drawing/2014/main" id="{95CC1B82-C81E-6DBC-69F0-8B2457A7C8FB}"/>
              </a:ext>
            </a:extLst>
          </p:cNvPr>
          <p:cNvSpPr>
            <a:spLocks noChangeArrowheads="1"/>
          </p:cNvSpPr>
          <p:nvPr/>
        </p:nvSpPr>
        <p:spPr bwMode="auto">
          <a:xfrm>
            <a:off x="2667000" y="1905000"/>
            <a:ext cx="83058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AI-powered heart disease prediction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analysis of physiological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Risk classification: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Low Risk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Medium Risk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High Risk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Diagnostic confidence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Personalized recommendations: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Clinical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Dietary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        Lifestyle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data handling with encryption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Interactive dashboard with chatbot assistance (</a:t>
            </a:r>
            <a:r>
              <a:rPr kumimoji="0" lang="en-US" altLang="en-US" sz="1800" b="0" i="0" u="none" strike="noStrike" cap="none" normalizeH="0" baseline="0" dirty="0" err="1">
                <a:ln>
                  <a:noFill/>
                </a:ln>
                <a:solidFill>
                  <a:schemeClr val="tx1"/>
                </a:solidFill>
                <a:effectLst/>
                <a:latin typeface="Arial" panose="020B0604020202020204" pitchFamily="34" charset="0"/>
              </a:rPr>
              <a:t>CardioBot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0CEB-F686-8FC7-9CC6-09F91A4213DD}"/>
              </a:ext>
            </a:extLst>
          </p:cNvPr>
          <p:cNvSpPr>
            <a:spLocks noGrp="1"/>
          </p:cNvSpPr>
          <p:nvPr>
            <p:ph type="title"/>
          </p:nvPr>
        </p:nvSpPr>
        <p:spPr>
          <a:xfrm>
            <a:off x="2819400" y="990600"/>
            <a:ext cx="7048500" cy="492443"/>
          </a:xfrm>
        </p:spPr>
        <p:txBody>
          <a:bodyPr/>
          <a:lstStyle/>
          <a:p>
            <a:r>
              <a:rPr lang="en-US" dirty="0"/>
              <a:t>                           </a:t>
            </a:r>
            <a:r>
              <a:rPr lang="en-US" sz="3200" dirty="0">
                <a:latin typeface="Arial" panose="020B0604020202020204" pitchFamily="34" charset="0"/>
                <a:cs typeface="Arial" panose="020B0604020202020204" pitchFamily="34" charset="0"/>
              </a:rPr>
              <a:t>Data Flow Diagram </a:t>
            </a:r>
            <a:endParaRPr lang="en-IN" sz="32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D2847D2-7ADA-D6F2-DD39-7B35D968D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700" y="2672717"/>
            <a:ext cx="6934200" cy="2209799"/>
          </a:xfrm>
          <a:prstGeom prst="rect">
            <a:avLst/>
          </a:prstGeom>
        </p:spPr>
      </p:pic>
    </p:spTree>
    <p:extLst>
      <p:ext uri="{BB962C8B-B14F-4D97-AF65-F5344CB8AC3E}">
        <p14:creationId xmlns:p14="http://schemas.microsoft.com/office/powerpoint/2010/main" val="168712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D148C1-A07B-ADED-F7C8-67AC9FEC3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00" y="1409700"/>
            <a:ext cx="6629400" cy="4038600"/>
          </a:xfrm>
          <a:prstGeom prst="rect">
            <a:avLst/>
          </a:prstGeom>
        </p:spPr>
      </p:pic>
    </p:spTree>
    <p:extLst>
      <p:ext uri="{BB962C8B-B14F-4D97-AF65-F5344CB8AC3E}">
        <p14:creationId xmlns:p14="http://schemas.microsoft.com/office/powerpoint/2010/main" val="1666394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5DC22E-E9E6-47C4-9A7E-5B7F274B0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295400"/>
            <a:ext cx="7924800" cy="4940732"/>
          </a:xfrm>
          <a:prstGeom prst="rect">
            <a:avLst/>
          </a:prstGeom>
        </p:spPr>
      </p:pic>
    </p:spTree>
    <p:extLst>
      <p:ext uri="{BB962C8B-B14F-4D97-AF65-F5344CB8AC3E}">
        <p14:creationId xmlns:p14="http://schemas.microsoft.com/office/powerpoint/2010/main" val="3611817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38802" y="1632204"/>
            <a:ext cx="7401433" cy="3857625"/>
          </a:xfrm>
          <a:prstGeom prst="rect">
            <a:avLst/>
          </a:prstGeom>
        </p:spPr>
      </p:pic>
      <p:pic>
        <p:nvPicPr>
          <p:cNvPr id="3" name="object 3"/>
          <p:cNvPicPr/>
          <p:nvPr/>
        </p:nvPicPr>
        <p:blipFill>
          <a:blip r:embed="rId3" cstate="print"/>
          <a:stretch>
            <a:fillRect/>
          </a:stretch>
        </p:blipFill>
        <p:spPr>
          <a:xfrm>
            <a:off x="781812" y="3099816"/>
            <a:ext cx="3191256" cy="1293875"/>
          </a:xfrm>
          <a:prstGeom prst="rect">
            <a:avLst/>
          </a:prstGeom>
        </p:spPr>
      </p:pic>
      <p:sp>
        <p:nvSpPr>
          <p:cNvPr id="4" name="object 4"/>
          <p:cNvSpPr txBox="1"/>
          <p:nvPr/>
        </p:nvSpPr>
        <p:spPr>
          <a:xfrm>
            <a:off x="1236675" y="3234385"/>
            <a:ext cx="2286635" cy="1002030"/>
          </a:xfrm>
          <a:prstGeom prst="rect">
            <a:avLst/>
          </a:prstGeom>
        </p:spPr>
        <p:txBody>
          <a:bodyPr vert="horz" wrap="square" lIns="0" tIns="13335" rIns="0" bIns="0" rtlCol="0">
            <a:spAutoFit/>
          </a:bodyPr>
          <a:lstStyle/>
          <a:p>
            <a:pPr marL="12700" marR="5080" indent="695960">
              <a:lnSpc>
                <a:spcPct val="100000"/>
              </a:lnSpc>
              <a:spcBef>
                <a:spcPts val="105"/>
              </a:spcBef>
            </a:pPr>
            <a:r>
              <a:rPr sz="3200" spc="-25" dirty="0">
                <a:solidFill>
                  <a:srgbClr val="00AFEF"/>
                </a:solidFill>
                <a:latin typeface="Times New Roman"/>
                <a:cs typeface="Times New Roman"/>
              </a:rPr>
              <a:t>ANY </a:t>
            </a:r>
            <a:r>
              <a:rPr sz="3200" spc="-10" dirty="0">
                <a:solidFill>
                  <a:srgbClr val="00AFEF"/>
                </a:solidFill>
                <a:latin typeface="Times New Roman"/>
                <a:cs typeface="Times New Roman"/>
              </a:rPr>
              <a:t>QUESTIONS</a:t>
            </a:r>
            <a:endParaRPr sz="32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UI: Health Profile (Step 1)</a:t>
            </a:r>
          </a:p>
        </p:txBody>
      </p:sp>
      <p:sp>
        <p:nvSpPr>
          <p:cNvPr id="3" name="Text Placeholder 2"/>
          <p:cNvSpPr>
            <a:spLocks noGrp="1"/>
          </p:cNvSpPr>
          <p:nvPr>
            <p:ph type="body" idx="1"/>
          </p:nvPr>
        </p:nvSpPr>
        <p:spPr/>
        <p:txBody>
          <a:bodyPr/>
          <a:lstStyle/>
          <a:p>
            <a:r>
              <a:t>The application features a modern, user-friendly interface. Step 1 collects foundational health data including age, sex, and chest pain symptoms to establish a baseline profile for the AI analysis.</a:t>
            </a:r>
          </a:p>
        </p:txBody>
      </p:sp>
      <p:pic>
        <p:nvPicPr>
          <p:cNvPr id="4" name="Picture 3" descr="media__1775819182940.png"/>
          <p:cNvPicPr>
            <a:picLocks noChangeAspect="1"/>
          </p:cNvPicPr>
          <p:nvPr/>
        </p:nvPicPr>
        <p:blipFill>
          <a:blip r:embed="rId2"/>
          <a:stretch>
            <a:fillRect/>
          </a:stretch>
        </p:blipFill>
        <p:spPr>
          <a:xfrm>
            <a:off x="5029200" y="1371600"/>
            <a:ext cx="3464719" cy="457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UI: Clinical Vitals (Step 2)</a:t>
            </a:r>
          </a:p>
        </p:txBody>
      </p:sp>
      <p:sp>
        <p:nvSpPr>
          <p:cNvPr id="3" name="Text Placeholder 2"/>
          <p:cNvSpPr>
            <a:spLocks noGrp="1"/>
          </p:cNvSpPr>
          <p:nvPr>
            <p:ph type="body" idx="1"/>
          </p:nvPr>
        </p:nvSpPr>
        <p:spPr/>
        <p:txBody>
          <a:bodyPr/>
          <a:lstStyle/>
          <a:p>
            <a:r>
              <a:t>Users input key physiological indicators such as resting blood pressure, cholesterol levels, and blood sugar. This stage integrates objective clinical measurements essential for accurate risk prediction.</a:t>
            </a:r>
          </a:p>
        </p:txBody>
      </p:sp>
      <p:pic>
        <p:nvPicPr>
          <p:cNvPr id="4" name="Picture 3" descr="media__1775819187399.png"/>
          <p:cNvPicPr>
            <a:picLocks noChangeAspect="1"/>
          </p:cNvPicPr>
          <p:nvPr/>
        </p:nvPicPr>
        <p:blipFill>
          <a:blip r:embed="rId2"/>
          <a:stretch>
            <a:fillRect/>
          </a:stretch>
        </p:blipFill>
        <p:spPr>
          <a:xfrm>
            <a:off x="5029200" y="1371600"/>
            <a:ext cx="3487043" cy="457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UI: Advanced Diagnostics (Step 3)</a:t>
            </a:r>
          </a:p>
        </p:txBody>
      </p:sp>
      <p:sp>
        <p:nvSpPr>
          <p:cNvPr id="3" name="Text Placeholder 2"/>
          <p:cNvSpPr>
            <a:spLocks noGrp="1"/>
          </p:cNvSpPr>
          <p:nvPr>
            <p:ph type="body" idx="1"/>
          </p:nvPr>
        </p:nvSpPr>
        <p:spPr/>
        <p:txBody>
          <a:bodyPr/>
          <a:lstStyle/>
          <a:p>
            <a:r>
              <a:t>The final data entry step involves complex diagnostic parameters like ST segment patterns and heart rate reaching. This ensures the model considers stress-related heart performance and imaging findings.</a:t>
            </a:r>
          </a:p>
        </p:txBody>
      </p:sp>
      <p:pic>
        <p:nvPicPr>
          <p:cNvPr id="4" name="Picture 3" descr="media__1775819192666.png"/>
          <p:cNvPicPr>
            <a:picLocks noChangeAspect="1"/>
          </p:cNvPicPr>
          <p:nvPr/>
        </p:nvPicPr>
        <p:blipFill>
          <a:blip r:embed="rId2"/>
          <a:stretch>
            <a:fillRect/>
          </a:stretch>
        </p:blipFill>
        <p:spPr>
          <a:xfrm>
            <a:off x="5029200" y="1371600"/>
            <a:ext cx="3393281" cy="457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Risk Prediction Result</a:t>
            </a:r>
          </a:p>
        </p:txBody>
      </p:sp>
      <p:sp>
        <p:nvSpPr>
          <p:cNvPr id="3" name="Text Placeholder 2"/>
          <p:cNvSpPr>
            <a:spLocks noGrp="1"/>
          </p:cNvSpPr>
          <p:nvPr>
            <p:ph type="body" idx="1"/>
          </p:nvPr>
        </p:nvSpPr>
        <p:spPr/>
        <p:txBody>
          <a:bodyPr/>
          <a:lstStyle/>
          <a:p>
            <a:r>
              <a:t>The model outputs a clear risk assessment with a percentage match and clinical recommendations. In this scenario, it identifies a high-risk profile, demonstrating the system's ability to alert users to potential cardiovascular issues early.</a:t>
            </a:r>
          </a:p>
        </p:txBody>
      </p:sp>
      <p:pic>
        <p:nvPicPr>
          <p:cNvPr id="4" name="Picture 3" descr="media__1775819196523.png"/>
          <p:cNvPicPr>
            <a:picLocks noChangeAspect="1"/>
          </p:cNvPicPr>
          <p:nvPr/>
        </p:nvPicPr>
        <p:blipFill>
          <a:blip r:embed="rId2"/>
          <a:stretch>
            <a:fillRect/>
          </a:stretch>
        </p:blipFill>
        <p:spPr>
          <a:xfrm>
            <a:off x="5029200" y="1371600"/>
            <a:ext cx="10266947" cy="457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CardioAI successfully bridges the gap between machine learning research and clinical application. By providing an intuitive interface for complex medical data entry and delivering immediate, accurate risk assessments, the platform empowers both patients and healthcare providers.</a:t>
            </a:r>
          </a:p>
          <a:p/>
          <a:p>
            <a:r>
              <a:t>Key takeaways include:</a:t>
            </a:r>
          </a:p>
          <a:p>
            <a:r>
              <a:t>- High accuracy in risk detection using deep learning models.</a:t>
            </a:r>
          </a:p>
          <a:p>
            <a:r>
              <a:t>- Seamless user experience through guided diagnostics.</a:t>
            </a:r>
          </a:p>
          <a:p>
            <a:r>
              <a:t>- Potential for early intervention and improved cardiovascular health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TotalTime>
  <Words>582</Words>
  <Application>Microsoft Office PowerPoint</Application>
  <PresentationFormat>Widescreen</PresentationFormat>
  <Paragraphs>123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MT</vt:lpstr>
      <vt:lpstr>Calibri</vt:lpstr>
      <vt:lpstr>Times New Roman</vt:lpstr>
      <vt:lpstr>Wingdings</vt:lpstr>
      <vt:lpstr>Office Theme</vt:lpstr>
      <vt:lpstr>Project Title</vt:lpstr>
      <vt:lpstr>     CardioAI – Intelligent Heart Disease Risk Prediction System   </vt:lpstr>
      <vt:lpstr>CONTENTS</vt:lpstr>
      <vt:lpstr>ABSTRACT</vt:lpstr>
      <vt:lpstr>INTRODUCTION</vt:lpstr>
      <vt:lpstr>PowerPoint Presentation</vt:lpstr>
      <vt:lpstr>Hardware  Requirements</vt:lpstr>
      <vt:lpstr>       Software Requirements </vt:lpstr>
      <vt:lpstr>      Libraries </vt:lpstr>
      <vt:lpstr>PROPOSED SYSTEM</vt:lpstr>
      <vt:lpstr>                           Data Flow Diagram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SAMEENA PARVEEN</dc:creator>
  <cp:lastModifiedBy>kavya kamatham</cp:lastModifiedBy>
  <cp:revision>2</cp:revision>
  <dcterms:created xsi:type="dcterms:W3CDTF">2026-01-16T06:33:50Z</dcterms:created>
  <dcterms:modified xsi:type="dcterms:W3CDTF">2026-01-16T07:44:12Z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2026-01-08T00:00:00Z</vt:filetime>
  </property>
  <property fmtid="{D5CDD505-2E9C-101B-9397-08002B2CF9AE}" pid="3" name="Creator">
    <vt:lpwstr>Microsoft® Office PowerPoint® 2007</vt:lpwstr>
  </property>
  <property fmtid="{D5CDD505-2E9C-101B-9397-08002B2CF9AE}" pid="4" name="LastSaved">
    <vt:filetime>2026-01-16T00:00:00Z</vt:filetime>
  </property>
  <property fmtid="{D5CDD505-2E9C-101B-9397-08002B2CF9AE}" pid="5" name="Producer">
    <vt:lpwstr>Microsoft® Office PowerPoint® 2007</vt:lpwstr>
  </property>
</Properties>
</file>