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50" r:id="rId2"/>
  </p:sldMasterIdLst>
  <p:notesMasterIdLst>
    <p:notesMasterId r:id="rId26"/>
  </p:notesMasterIdLst>
  <p:sldIdLst>
    <p:sldId id="256" r:id="rId3"/>
    <p:sldId id="257" r:id="rId4"/>
    <p:sldId id="258" r:id="rId5"/>
    <p:sldId id="259" r:id="rId6"/>
    <p:sldId id="260" r:id="rId7"/>
    <p:sldId id="261" r:id="rId8"/>
    <p:sldId id="276" r:id="rId9"/>
    <p:sldId id="262" r:id="rId10"/>
    <p:sldId id="263" r:id="rId11"/>
    <p:sldId id="264" r:id="rId12"/>
    <p:sldId id="265" r:id="rId13"/>
    <p:sldId id="266" r:id="rId14"/>
    <p:sldId id="267" r:id="rId15"/>
    <p:sldId id="269" r:id="rId16"/>
    <p:sldId id="281" r:id="rId17"/>
    <p:sldId id="282" r:id="rId18"/>
    <p:sldId id="283" r:id="rId19"/>
    <p:sldId id="284" r:id="rId20"/>
    <p:sldId id="270" r:id="rId21"/>
    <p:sldId id="271" r:id="rId22"/>
    <p:sldId id="286" r:id="rId23"/>
    <p:sldId id="273" r:id="rId24"/>
    <p:sldId id="274" r:id="rId25"/>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301404-8F3C-4E3F-9BE1-E9E53597AF9F}" v="16" dt="2026-02-11T04:00:01.207"/>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3F969E-3429-4D86-A204-1F55B5CE371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44C97820-2DA0-41D9-BC04-251C204D0269}" styleName="Table_1">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A58D2B4B-3948-4824-9F31-7F648A82ED31}"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ja theeda" userId="109243ae8d3659d9" providerId="LiveId" clId="{D43C3B4C-3292-4B7B-B753-BF146A3AE69E}"/>
    <pc:docChg chg="undo custSel modSld">
      <pc:chgData name="teja theeda" userId="109243ae8d3659d9" providerId="LiveId" clId="{D43C3B4C-3292-4B7B-B753-BF146A3AE69E}" dt="2026-02-11T04:16:35.003" v="499" actId="1036"/>
      <pc:docMkLst>
        <pc:docMk/>
      </pc:docMkLst>
      <pc:sldChg chg="modSp mod">
        <pc:chgData name="teja theeda" userId="109243ae8d3659d9" providerId="LiveId" clId="{D43C3B4C-3292-4B7B-B753-BF146A3AE69E}" dt="2026-02-11T03:48:38.429" v="3" actId="255"/>
        <pc:sldMkLst>
          <pc:docMk/>
          <pc:sldMk cId="0" sldId="261"/>
        </pc:sldMkLst>
        <pc:graphicFrameChg chg="modGraphic">
          <ac:chgData name="teja theeda" userId="109243ae8d3659d9" providerId="LiveId" clId="{D43C3B4C-3292-4B7B-B753-BF146A3AE69E}" dt="2026-02-11T03:48:38.429" v="3" actId="255"/>
          <ac:graphicFrameMkLst>
            <pc:docMk/>
            <pc:sldMk cId="0" sldId="261"/>
            <ac:graphicFrameMk id="66" creationId="{00000000-0000-0000-0000-000000000000}"/>
          </ac:graphicFrameMkLst>
        </pc:graphicFrameChg>
      </pc:sldChg>
      <pc:sldChg chg="addSp modSp mod">
        <pc:chgData name="teja theeda" userId="109243ae8d3659d9" providerId="LiveId" clId="{D43C3B4C-3292-4B7B-B753-BF146A3AE69E}" dt="2026-02-11T03:59:10.901" v="478" actId="20577"/>
        <pc:sldMkLst>
          <pc:docMk/>
          <pc:sldMk cId="0" sldId="273"/>
        </pc:sldMkLst>
        <pc:spChg chg="add mod">
          <ac:chgData name="teja theeda" userId="109243ae8d3659d9" providerId="LiveId" clId="{D43C3B4C-3292-4B7B-B753-BF146A3AE69E}" dt="2026-02-11T03:59:10.901" v="478" actId="20577"/>
          <ac:spMkLst>
            <pc:docMk/>
            <pc:sldMk cId="0" sldId="273"/>
            <ac:spMk id="2" creationId="{8B4FE677-EA7D-6E70-A8F6-7C6429AA5E69}"/>
          </ac:spMkLst>
        </pc:spChg>
        <pc:spChg chg="mod">
          <ac:chgData name="teja theeda" userId="109243ae8d3659d9" providerId="LiveId" clId="{D43C3B4C-3292-4B7B-B753-BF146A3AE69E}" dt="2026-02-11T03:50:05.199" v="4" actId="20577"/>
          <ac:spMkLst>
            <pc:docMk/>
            <pc:sldMk cId="0" sldId="273"/>
            <ac:spMk id="184" creationId="{00000000-0000-0000-0000-000000000000}"/>
          </ac:spMkLst>
        </pc:spChg>
      </pc:sldChg>
      <pc:sldChg chg="addSp delSp modSp mod">
        <pc:chgData name="teja theeda" userId="109243ae8d3659d9" providerId="LiveId" clId="{D43C3B4C-3292-4B7B-B753-BF146A3AE69E}" dt="2026-02-11T04:04:09.281" v="498" actId="14100"/>
        <pc:sldMkLst>
          <pc:docMk/>
          <pc:sldMk cId="0" sldId="282"/>
        </pc:sldMkLst>
        <pc:spChg chg="mod">
          <ac:chgData name="teja theeda" userId="109243ae8d3659d9" providerId="LiveId" clId="{D43C3B4C-3292-4B7B-B753-BF146A3AE69E}" dt="2026-02-11T04:03:59.870" v="496" actId="1076"/>
          <ac:spMkLst>
            <pc:docMk/>
            <pc:sldMk cId="0" sldId="282"/>
            <ac:spMk id="129" creationId="{00000000-0000-0000-0000-000000000000}"/>
          </ac:spMkLst>
        </pc:spChg>
        <pc:picChg chg="del">
          <ac:chgData name="teja theeda" userId="109243ae8d3659d9" providerId="LiveId" clId="{D43C3B4C-3292-4B7B-B753-BF146A3AE69E}" dt="2026-02-11T04:03:33.858" v="490" actId="478"/>
          <ac:picMkLst>
            <pc:docMk/>
            <pc:sldMk cId="0" sldId="282"/>
            <ac:picMk id="3" creationId="{00000000-0000-0000-0000-000000000000}"/>
          </ac:picMkLst>
        </pc:picChg>
        <pc:picChg chg="add mod">
          <ac:chgData name="teja theeda" userId="109243ae8d3659d9" providerId="LiveId" clId="{D43C3B4C-3292-4B7B-B753-BF146A3AE69E}" dt="2026-02-11T04:04:09.281" v="498" actId="14100"/>
          <ac:picMkLst>
            <pc:docMk/>
            <pc:sldMk cId="0" sldId="282"/>
            <ac:picMk id="4" creationId="{3DF5A083-702D-43AC-0684-B5CFF94A7F78}"/>
          </ac:picMkLst>
        </pc:picChg>
      </pc:sldChg>
      <pc:sldChg chg="modSp mod">
        <pc:chgData name="teja theeda" userId="109243ae8d3659d9" providerId="LiveId" clId="{D43C3B4C-3292-4B7B-B753-BF146A3AE69E}" dt="2026-02-11T04:16:35.003" v="499" actId="1036"/>
        <pc:sldMkLst>
          <pc:docMk/>
          <pc:sldMk cId="0" sldId="283"/>
        </pc:sldMkLst>
        <pc:picChg chg="mod">
          <ac:chgData name="teja theeda" userId="109243ae8d3659d9" providerId="LiveId" clId="{D43C3B4C-3292-4B7B-B753-BF146A3AE69E}" dt="2026-02-11T04:16:35.003" v="499" actId="1036"/>
          <ac:picMkLst>
            <pc:docMk/>
            <pc:sldMk cId="0" sldId="283"/>
            <ac:picMk id="2" creationId="{00000000-0000-0000-0000-000000000000}"/>
          </ac:picMkLst>
        </pc:picChg>
      </pc:sldChg>
      <pc:sldChg chg="addSp delSp modSp mod">
        <pc:chgData name="teja theeda" userId="109243ae8d3659d9" providerId="LiveId" clId="{D43C3B4C-3292-4B7B-B753-BF146A3AE69E}" dt="2026-02-11T04:02:30.317" v="489" actId="14100"/>
        <pc:sldMkLst>
          <pc:docMk/>
          <pc:sldMk cId="0" sldId="284"/>
        </pc:sldMkLst>
        <pc:picChg chg="del">
          <ac:chgData name="teja theeda" userId="109243ae8d3659d9" providerId="LiveId" clId="{D43C3B4C-3292-4B7B-B753-BF146A3AE69E}" dt="2026-02-11T04:00:00.326" v="479" actId="478"/>
          <ac:picMkLst>
            <pc:docMk/>
            <pc:sldMk cId="0" sldId="284"/>
            <ac:picMk id="3" creationId="{00000000-0000-0000-0000-000000000000}"/>
          </ac:picMkLst>
        </pc:picChg>
        <pc:picChg chg="add del mod">
          <ac:chgData name="teja theeda" userId="109243ae8d3659d9" providerId="LiveId" clId="{D43C3B4C-3292-4B7B-B753-BF146A3AE69E}" dt="2026-02-11T04:00:40.868" v="485" actId="478"/>
          <ac:picMkLst>
            <pc:docMk/>
            <pc:sldMk cId="0" sldId="284"/>
            <ac:picMk id="4" creationId="{5D87CA30-59E3-AB13-AD5C-CD57EEEDB63B}"/>
          </ac:picMkLst>
        </pc:picChg>
        <pc:picChg chg="add mod">
          <ac:chgData name="teja theeda" userId="109243ae8d3659d9" providerId="LiveId" clId="{D43C3B4C-3292-4B7B-B753-BF146A3AE69E}" dt="2026-02-11T04:02:30.317" v="489" actId="14100"/>
          <ac:picMkLst>
            <pc:docMk/>
            <pc:sldMk cId="0" sldId="284"/>
            <ac:picMk id="6" creationId="{7EBEA447-9924-E8B1-60F7-9B7A47575EC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
        <p:cNvGrpSpPr/>
        <p:nvPr/>
      </p:nvGrpSpPr>
      <p:grpSpPr>
        <a:xfrm>
          <a:off x="0" y="0"/>
          <a:ext cx="0" cy="0"/>
          <a:chOff x="0" y="0"/>
          <a:chExt cx="0" cy="0"/>
        </a:xfrm>
      </p:grpSpPr>
      <p:sp>
        <p:nvSpPr>
          <p:cNvPr id="22" name="Google Shape;2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 name="Google Shape;2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 name="Google Shape;24;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p:cNvGrpSpPr/>
        <p:nvPr/>
      </p:nvGrpSpPr>
      <p:grpSpPr>
        <a:xfrm>
          <a:off x="0" y="0"/>
          <a:ext cx="0" cy="0"/>
          <a:chOff x="0" y="0"/>
          <a:chExt cx="0" cy="0"/>
        </a:xfrm>
      </p:grpSpPr>
      <p:sp>
        <p:nvSpPr>
          <p:cNvPr id="31" name="Google Shape;3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 name="Google Shape;3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 name="Google Shape;33;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 name="Google Shape;4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 name="Google Shape;4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g3bd5ef2be4a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 name="Google Shape;50;g3bd5ef2be4a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 name="Google Shape;51;g3bd5ef2be4a_0_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 name="Google Shape;60;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 name="Google Shape;59;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 name="Google Shape;69;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 name="Google Shape;81;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 name="Google Shape;9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 name="Google Shape;112;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8" name="Google Shape;178;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notesSlide" Target="../notesSlides/notesSlide11.xml"/><Relationship Id="rId5" Type="http://schemas.openxmlformats.org/officeDocument/2006/relationships/slideLayout" Target="../slideLayouts/slideLayout1.xml"/><Relationship Id="rId4" Type="http://schemas.openxmlformats.org/officeDocument/2006/relationships/tags" Target="../tags/tag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file:///C:\Users\lohiv\Downloads\WhatsApp%20Image%202026-02-18%20at%2010.45.59%20AM.jpeg"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65C3D0"/>
        </a:solidFill>
        <a:effectLst/>
      </p:bgPr>
    </p:bg>
    <p:spTree>
      <p:nvGrpSpPr>
        <p:cNvPr id="1" name="Shape 15"/>
        <p:cNvGrpSpPr/>
        <p:nvPr/>
      </p:nvGrpSpPr>
      <p:grpSpPr>
        <a:xfrm>
          <a:off x="0" y="0"/>
          <a:ext cx="0" cy="0"/>
          <a:chOff x="0" y="0"/>
          <a:chExt cx="0" cy="0"/>
        </a:xfrm>
      </p:grpSpPr>
      <p:sp>
        <p:nvSpPr>
          <p:cNvPr id="16" name="Google Shape;16;p1"/>
          <p:cNvSpPr/>
          <p:nvPr/>
        </p:nvSpPr>
        <p:spPr>
          <a:xfrm>
            <a:off x="1043940" y="123190"/>
            <a:ext cx="7315200" cy="9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4000"/>
              <a:buFont typeface="Arial" panose="020B0604020202020204"/>
              <a:buNone/>
            </a:pPr>
            <a:r>
              <a:rPr lang="en-US" sz="3100" b="1" i="0" u="none" strike="noStrike" cap="none">
                <a:solidFill>
                  <a:srgbClr val="1A5F7A"/>
                </a:solidFill>
                <a:latin typeface="Arial" panose="020B0604020202020204"/>
                <a:ea typeface="Arial" panose="020B0604020202020204"/>
                <a:cs typeface="Arial" panose="020B0604020202020204"/>
                <a:sym typeface="Arial" panose="020B0604020202020204"/>
              </a:rPr>
              <a:t>CardioAI – Intelligent Heart Disease Risk Prediction System</a:t>
            </a:r>
            <a:endParaRPr sz="3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 name="Google Shape;17;p1"/>
          <p:cNvSpPr/>
          <p:nvPr/>
        </p:nvSpPr>
        <p:spPr>
          <a:xfrm>
            <a:off x="914400" y="2651760"/>
            <a:ext cx="7315200"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E293B"/>
              </a:buClr>
              <a:buSzPts val="1600"/>
              <a:buFont typeface="Arial" panose="020B0604020202020204"/>
              <a:buNone/>
            </a:pPr>
            <a:r>
              <a:rPr lang="en-US" sz="1600" b="0" i="0" u="none" strike="noStrike" cap="none">
                <a:solidFill>
                  <a:srgbClr val="1E293B"/>
                </a:solidFill>
                <a:latin typeface="Arial" panose="020B0604020202020204"/>
                <a:ea typeface="Arial" panose="020B0604020202020204"/>
                <a:cs typeface="Arial" panose="020B0604020202020204"/>
                <a:sym typeface="Arial" panose="020B0604020202020204"/>
              </a:rPr>
              <a:t>Under the Esteemed Guidance of</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 name="Google Shape;18;p1"/>
          <p:cNvSpPr/>
          <p:nvPr/>
        </p:nvSpPr>
        <p:spPr>
          <a:xfrm>
            <a:off x="914400" y="2926080"/>
            <a:ext cx="7315200"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E293B"/>
              </a:buClr>
              <a:buSzPts val="1800"/>
              <a:buFont typeface="Arial" panose="020B0604020202020204"/>
              <a:buNone/>
            </a:pPr>
            <a:r>
              <a:rPr lang="en-US" sz="1800" b="1">
                <a:solidFill>
                  <a:srgbClr val="1E293B"/>
                </a:solidFill>
                <a:sym typeface="Arial" panose="020B0604020202020204"/>
              </a:rPr>
              <a:t>Dr</a:t>
            </a:r>
            <a:r>
              <a:rPr lang="en-IN" altLang="en-US" sz="1800" b="1">
                <a:solidFill>
                  <a:srgbClr val="1E293B"/>
                </a:solidFill>
                <a:sym typeface="Arial" panose="020B0604020202020204"/>
              </a:rPr>
              <a:t>. V. Shanmukha Rao </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9" name="Google Shape;19;p1"/>
          <p:cNvSpPr/>
          <p:nvPr/>
        </p:nvSpPr>
        <p:spPr>
          <a:xfrm>
            <a:off x="914400" y="3474720"/>
            <a:ext cx="731520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E293B"/>
              </a:buClr>
              <a:buSzPts val="1400"/>
              <a:buFont typeface="Arial" panose="020B0604020202020204"/>
              <a:buNone/>
            </a:pPr>
            <a:r>
              <a:rPr lang="en-US" sz="1400" b="0" i="0" u="none" strike="noStrike" cap="none">
                <a:solidFill>
                  <a:srgbClr val="1E293B"/>
                </a:solidFill>
                <a:latin typeface="Arial" panose="020B0604020202020204"/>
                <a:ea typeface="Arial" panose="020B0604020202020204"/>
                <a:cs typeface="Arial" panose="020B0604020202020204"/>
                <a:sym typeface="Arial" panose="020B0604020202020204"/>
              </a:rPr>
              <a:t>Submitted by</a:t>
            </a:r>
            <a:endParaRPr sz="1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 name="Google Shape;20;p1"/>
          <p:cNvSpPr/>
          <p:nvPr/>
        </p:nvSpPr>
        <p:spPr>
          <a:xfrm>
            <a:off x="3348355" y="3931920"/>
            <a:ext cx="3657600" cy="731520"/>
          </a:xfrm>
          <a:prstGeom prst="rect">
            <a:avLst/>
          </a:prstGeom>
          <a:noFill/>
          <a:ln>
            <a:noFill/>
          </a:ln>
        </p:spPr>
        <p:txBody>
          <a:bodyPr spcFirstLastPara="1" wrap="square" lIns="91425" tIns="45700" rIns="91425" bIns="45700" anchor="ctr" anchorCtr="0">
            <a:noAutofit/>
          </a:bodyPr>
          <a:lstStyle/>
          <a:p>
            <a:pPr marL="12700" marR="5080" lvl="0" indent="0" algn="just" rtl="0">
              <a:lnSpc>
                <a:spcPct val="100000"/>
              </a:lnSpc>
              <a:spcBef>
                <a:spcPts val="0"/>
              </a:spcBef>
              <a:spcAft>
                <a:spcPts val="0"/>
              </a:spcAft>
              <a:buClr>
                <a:srgbClr val="000000"/>
              </a:buClr>
              <a:buSzPts val="1800"/>
              <a:buFont typeface="Arial" panose="020B0604020202020204"/>
              <a:buNone/>
            </a:pPr>
            <a:r>
              <a:rPr lang="en-IN" altLang="en-US">
                <a:solidFill>
                  <a:schemeClr val="tx1"/>
                </a:solidFill>
                <a:latin typeface="Times New Roman" panose="02020603050405020304"/>
                <a:ea typeface="Times New Roman" panose="02020603050405020304"/>
                <a:cs typeface="Times New Roman" panose="02020603050405020304"/>
                <a:sym typeface="Times New Roman" panose="02020603050405020304"/>
              </a:rPr>
              <a:t>P.Sravan Kumar          22KT1A4353</a:t>
            </a:r>
            <a:endParaRPr lang="en-IN" altLang="en-US" i="0" u="none" strike="noStrike" cap="none">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12700" marR="5080" lvl="0" indent="0" algn="just" rtl="0">
              <a:lnSpc>
                <a:spcPct val="100000"/>
              </a:lnSpc>
              <a:spcBef>
                <a:spcPts val="0"/>
              </a:spcBef>
              <a:spcAft>
                <a:spcPts val="0"/>
              </a:spcAft>
              <a:buClr>
                <a:srgbClr val="000000"/>
              </a:buClr>
              <a:buSzPts val="1800"/>
              <a:buFont typeface="Arial" panose="020B0604020202020204"/>
              <a:buNone/>
            </a:pPr>
            <a:r>
              <a:rPr lang="en-IN" altLang="en-US">
                <a:solidFill>
                  <a:schemeClr val="tx1"/>
                </a:solidFill>
                <a:latin typeface="Times New Roman" panose="02020603050405020304"/>
                <a:ea typeface="Times New Roman" panose="02020603050405020304"/>
                <a:cs typeface="Times New Roman" panose="02020603050405020304"/>
                <a:sym typeface="Times New Roman" panose="02020603050405020304"/>
              </a:rPr>
              <a:t>SK. Rehan                   22KT1A4355</a:t>
            </a:r>
            <a:endParaRPr lang="en-IN" altLang="en-US" i="0" u="none" strike="noStrike" cap="none">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12700" marR="5080" lvl="0" indent="0" algn="just" rtl="0">
              <a:lnSpc>
                <a:spcPct val="100000"/>
              </a:lnSpc>
              <a:spcBef>
                <a:spcPts val="0"/>
              </a:spcBef>
              <a:spcAft>
                <a:spcPts val="0"/>
              </a:spcAft>
              <a:buClr>
                <a:srgbClr val="000000"/>
              </a:buClr>
              <a:buSzPts val="1800"/>
              <a:buFont typeface="Arial" panose="020B0604020202020204"/>
              <a:buNone/>
            </a:pPr>
            <a:r>
              <a:rPr lang="en-IN" altLang="en-US">
                <a:solidFill>
                  <a:schemeClr val="tx1"/>
                </a:solidFill>
                <a:latin typeface="Times New Roman" panose="02020603050405020304"/>
                <a:ea typeface="Times New Roman" panose="02020603050405020304"/>
                <a:cs typeface="Times New Roman" panose="02020603050405020304"/>
                <a:sym typeface="Times New Roman" panose="02020603050405020304"/>
              </a:rPr>
              <a:t>B.Tharun Raj               23KT5A4303</a:t>
            </a:r>
            <a:endParaRPr lang="en-IN" altLang="en-US" i="0" u="none" strike="noStrike" cap="none">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12700" marR="5080" lvl="0" indent="0" algn="just" rtl="0">
              <a:lnSpc>
                <a:spcPct val="100000"/>
              </a:lnSpc>
              <a:spcBef>
                <a:spcPts val="0"/>
              </a:spcBef>
              <a:spcAft>
                <a:spcPts val="0"/>
              </a:spcAft>
              <a:buClr>
                <a:srgbClr val="000000"/>
              </a:buClr>
              <a:buSzPts val="1800"/>
              <a:buFont typeface="Arial" panose="020B0604020202020204"/>
              <a:buNone/>
            </a:pPr>
            <a:r>
              <a:rPr lang="en-IN">
                <a:solidFill>
                  <a:schemeClr val="tx1"/>
                </a:solidFill>
                <a:latin typeface="Times New Roman" panose="02020603050405020304"/>
                <a:ea typeface="Times New Roman" panose="02020603050405020304"/>
                <a:cs typeface="Times New Roman" panose="02020603050405020304"/>
                <a:sym typeface="Times New Roman" panose="02020603050405020304"/>
              </a:rPr>
              <a:t>T.Teja                          23KT5A4307</a:t>
            </a:r>
            <a:endParaRPr sz="1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43" name="Google Shape;143;p1"/>
          <p:cNvPicPr preferRelativeResize="0"/>
          <p:nvPr/>
        </p:nvPicPr>
        <p:blipFill rotWithShape="1">
          <a:blip r:embed="rId3"/>
          <a:srcRect/>
          <a:stretch>
            <a:fillRect/>
          </a:stretch>
        </p:blipFill>
        <p:spPr>
          <a:xfrm>
            <a:off x="3636010" y="1131570"/>
            <a:ext cx="1504950" cy="144907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sp>
        <p:nvSpPr>
          <p:cNvPr id="26" name="Google Shape;26;p2"/>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457200" y="914400"/>
            <a:ext cx="82296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CONTENTS</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9" name="Google Shape;29;p2"/>
          <p:cNvSpPr/>
          <p:nvPr/>
        </p:nvSpPr>
        <p:spPr>
          <a:xfrm>
            <a:off x="914400" y="1828800"/>
            <a:ext cx="7315200" cy="274320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E293B"/>
              </a:buClr>
              <a:buSzPts val="1600"/>
              <a:buFont typeface="Arial" panose="020B0604020202020204"/>
              <a:buChar char="•"/>
            </a:pPr>
            <a:r>
              <a:rPr lang="en-US" sz="1600" b="0" i="0" u="none" strike="noStrike" cap="none">
                <a:solidFill>
                  <a:srgbClr val="1E293B"/>
                </a:solidFill>
                <a:latin typeface="Arial" panose="020B0604020202020204"/>
                <a:ea typeface="Arial" panose="020B0604020202020204"/>
                <a:cs typeface="Arial" panose="020B0604020202020204"/>
                <a:sym typeface="Arial" panose="020B0604020202020204"/>
              </a:rPr>
              <a:t>Introduction</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600"/>
              <a:buFont typeface="Arial" panose="020B0604020202020204"/>
              <a:buChar char="•"/>
            </a:pPr>
            <a:r>
              <a:rPr lang="en-US" sz="1600" b="0" i="0" u="none" strike="noStrike" cap="none">
                <a:solidFill>
                  <a:srgbClr val="1E293B"/>
                </a:solidFill>
                <a:latin typeface="Arial" panose="020B0604020202020204"/>
                <a:ea typeface="Arial" panose="020B0604020202020204"/>
                <a:cs typeface="Arial" panose="020B0604020202020204"/>
                <a:sym typeface="Arial" panose="020B0604020202020204"/>
              </a:rPr>
              <a:t>Abstract</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600"/>
              <a:buFont typeface="Arial" panose="020B0604020202020204"/>
              <a:buChar char="•"/>
            </a:pPr>
            <a:r>
              <a:rPr lang="en-US" sz="1600" b="0" i="0" u="none" strike="noStrike" cap="none">
                <a:solidFill>
                  <a:srgbClr val="1E293B"/>
                </a:solidFill>
                <a:latin typeface="Arial" panose="020B0604020202020204"/>
                <a:ea typeface="Arial" panose="020B0604020202020204"/>
                <a:cs typeface="Arial" panose="020B0604020202020204"/>
                <a:sym typeface="Arial" panose="020B0604020202020204"/>
              </a:rPr>
              <a:t>Literature Survey</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600"/>
              <a:buFont typeface="Arial" panose="020B0604020202020204"/>
              <a:buChar char="•"/>
            </a:pPr>
            <a:r>
              <a:rPr lang="en-US" sz="1600" b="0" i="0" u="none" strike="noStrike" cap="none">
                <a:solidFill>
                  <a:srgbClr val="1E293B"/>
                </a:solidFill>
                <a:latin typeface="Arial" panose="020B0604020202020204"/>
                <a:ea typeface="Arial" panose="020B0604020202020204"/>
                <a:cs typeface="Arial" panose="020B0604020202020204"/>
                <a:sym typeface="Arial" panose="020B0604020202020204"/>
              </a:rPr>
              <a:t>Existing System</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600"/>
              <a:buFont typeface="Arial" panose="020B0604020202020204"/>
              <a:buChar char="•"/>
            </a:pPr>
            <a:r>
              <a:rPr lang="en-US" sz="1600" b="0" i="0" u="none" strike="noStrike" cap="none">
                <a:solidFill>
                  <a:srgbClr val="1E293B"/>
                </a:solidFill>
                <a:latin typeface="Arial" panose="020B0604020202020204"/>
                <a:ea typeface="Arial" panose="020B0604020202020204"/>
                <a:cs typeface="Arial" panose="020B0604020202020204"/>
                <a:sym typeface="Arial" panose="020B0604020202020204"/>
              </a:rPr>
              <a:t>Proposed System</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600"/>
              <a:buFont typeface="Arial" panose="020B0604020202020204"/>
              <a:buChar char="•"/>
            </a:pPr>
            <a:r>
              <a:rPr lang="en-US" sz="1600" b="0" i="0" u="none" strike="noStrike" cap="none">
                <a:solidFill>
                  <a:srgbClr val="1E293B"/>
                </a:solidFill>
                <a:latin typeface="Arial" panose="020B0604020202020204"/>
                <a:ea typeface="Arial" panose="020B0604020202020204"/>
                <a:cs typeface="Arial" panose="020B0604020202020204"/>
                <a:sym typeface="Arial" panose="020B0604020202020204"/>
              </a:rPr>
              <a:t>Requirement Analysis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600"/>
              <a:buFont typeface="Arial" panose="020B0604020202020204"/>
              <a:buChar char="•"/>
            </a:pPr>
            <a:r>
              <a:rPr lang="en-US" sz="1600" b="0" i="0" u="none" strike="noStrike" cap="none">
                <a:solidFill>
                  <a:srgbClr val="1E293B"/>
                </a:solidFill>
                <a:latin typeface="Arial" panose="020B0604020202020204"/>
                <a:ea typeface="Arial" panose="020B0604020202020204"/>
                <a:cs typeface="Arial" panose="020B0604020202020204"/>
                <a:sym typeface="Arial" panose="020B0604020202020204"/>
              </a:rPr>
              <a:t>System Architecture</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600"/>
              <a:buFont typeface="Arial" panose="020B0604020202020204"/>
              <a:buChar char="•"/>
            </a:pPr>
            <a:r>
              <a:rPr lang="en-US" sz="1600" b="0" i="0" u="none" strike="noStrike" cap="none">
                <a:solidFill>
                  <a:srgbClr val="1E293B"/>
                </a:solidFill>
                <a:latin typeface="Arial" panose="020B0604020202020204"/>
                <a:ea typeface="Arial" panose="020B0604020202020204"/>
                <a:cs typeface="Arial" panose="020B0604020202020204"/>
                <a:sym typeface="Arial" panose="020B0604020202020204"/>
              </a:rPr>
              <a:t>UML Diagrams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
        <p:cNvGrpSpPr/>
        <p:nvPr/>
      </p:nvGrpSpPr>
      <p:grpSpPr>
        <a:xfrm>
          <a:off x="0" y="0"/>
          <a:ext cx="0" cy="0"/>
          <a:chOff x="0" y="0"/>
          <a:chExt cx="0" cy="0"/>
        </a:xfrm>
      </p:grpSpPr>
      <p:sp>
        <p:nvSpPr>
          <p:cNvPr id="35" name="Google Shape;35;p3"/>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a:off x="457200" y="914400"/>
            <a:ext cx="82296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INTRODUCTION</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8" name="Google Shape;38;p3"/>
          <p:cNvSpPr/>
          <p:nvPr/>
        </p:nvSpPr>
        <p:spPr>
          <a:xfrm>
            <a:off x="457200" y="1645920"/>
            <a:ext cx="8229600" cy="3200400"/>
          </a:xfrm>
          <a:prstGeom prst="rect">
            <a:avLst/>
          </a:prstGeom>
          <a:noFill/>
          <a:ln>
            <a:noFill/>
          </a:ln>
        </p:spPr>
        <p:txBody>
          <a:bodyPr spcFirstLastPara="1" wrap="square" lIns="91425" tIns="45700" rIns="91425" bIns="45700" anchor="ctr" anchorCtr="0">
            <a:noAutofit/>
          </a:bodyPr>
          <a:lstStyle/>
          <a:p>
            <a:pPr marL="0" marR="0" lvl="0" indent="0" algn="l" rtl="0">
              <a:lnSpc>
                <a:spcPct val="200000"/>
              </a:lnSpc>
              <a:spcBef>
                <a:spcPts val="0"/>
              </a:spcBef>
              <a:spcAft>
                <a:spcPts val="0"/>
              </a:spcAft>
              <a:buClr>
                <a:srgbClr val="1E293B"/>
              </a:buClr>
              <a:buSzPts val="1300"/>
              <a:buFont typeface="Arial" panose="020B0604020202020204"/>
              <a:buNone/>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Cardiovascular diseases are among the leading causes of mortality worldwide, necessitating early detection and preventive care.</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200000"/>
              </a:lnSpc>
              <a:spcBef>
                <a:spcPts val="0"/>
              </a:spcBef>
              <a:spcAft>
                <a:spcPts val="0"/>
              </a:spcAft>
              <a:buClr>
                <a:srgbClr val="1E293B"/>
              </a:buClr>
              <a:buSzPts val="1300"/>
              <a:buFont typeface="Arial" panose="020B0604020202020204"/>
              <a:buNone/>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CardioAI is an intelligent healthcare platform designed to predict heart disease risk using machine learning techniques. The system employs a Random Forest classification model trained on real-world clinical datasets to accurately assess patient risk levels</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200000"/>
              </a:lnSpc>
              <a:spcBef>
                <a:spcPts val="0"/>
              </a:spcBef>
              <a:spcAft>
                <a:spcPts val="0"/>
              </a:spcAft>
              <a:buClr>
                <a:srgbClr val="1E293B"/>
              </a:buClr>
              <a:buSzPts val="1300"/>
              <a:buFont typeface="Arial" panose="020B0604020202020204"/>
              <a:buNone/>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A secure, web-based dashboard allows users to input physiological parameters, upload medical reports, and receive real-time diagnostic insights along with personalized clinical, dietary, and lifestyle recommendations. By combining predictive analytics, data security mechanisms, and population health monitoring, CardioAI aims to support both healthcare professionals and individuals in proactive heart health management.</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4"/>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4"/>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4"/>
          <p:cNvSpPr/>
          <p:nvPr/>
        </p:nvSpPr>
        <p:spPr>
          <a:xfrm>
            <a:off x="457200" y="806277"/>
            <a:ext cx="8229600" cy="6567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ABSTRACT</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7" name="Google Shape;47;p4"/>
          <p:cNvSpPr/>
          <p:nvPr/>
        </p:nvSpPr>
        <p:spPr>
          <a:xfrm>
            <a:off x="731520" y="1645920"/>
            <a:ext cx="7680900" cy="3200400"/>
          </a:xfrm>
          <a:prstGeom prst="rect">
            <a:avLst/>
          </a:prstGeom>
          <a:noFill/>
          <a:ln>
            <a:noFill/>
          </a:ln>
        </p:spPr>
        <p:txBody>
          <a:bodyPr spcFirstLastPara="1" wrap="square" lIns="91425" tIns="45700" rIns="91425" bIns="45700" anchor="ctr" anchorCtr="0">
            <a:noAutofit/>
          </a:bodyPr>
          <a:lstStyle/>
          <a:p>
            <a:pPr marL="12700" marR="0" lvl="0" indent="0" algn="l" rtl="0">
              <a:lnSpc>
                <a:spcPct val="200000"/>
              </a:lnSpc>
              <a:spcBef>
                <a:spcPts val="0"/>
              </a:spcBef>
              <a:spcAft>
                <a:spcPts val="0"/>
              </a:spcAft>
              <a:buClr>
                <a:srgbClr val="1E293B"/>
              </a:buClr>
              <a:buSzPts val="1100"/>
              <a:buNone/>
            </a:pPr>
            <a:r>
              <a:rPr lang="en-US" sz="1100" b="0" i="0" u="none" strike="noStrike" cap="none">
                <a:solidFill>
                  <a:srgbClr val="1E293B"/>
                </a:solidFill>
                <a:latin typeface="Arial" panose="020B0604020202020204"/>
                <a:ea typeface="Arial" panose="020B0604020202020204"/>
                <a:cs typeface="Arial" panose="020B0604020202020204"/>
                <a:sym typeface="Arial" panose="020B0604020202020204"/>
              </a:rPr>
              <a:t> 	Heart disease is one of the leading causes of mortality worldwide, making early and accurate diagnosis essential.This project presents an AI-based heart disease assessment system that predicts the risk using machine learning techniques with clinical parameters .A Random Forest classifier is trained on heart disease datasets to identify patterns associated with healthy and diseased conditions.The system provides real-time predictions through a user-friendly interface, assisting healthcare professionals in informed decision-making.</a:t>
            </a:r>
            <a:endParaRPr sz="1100" b="0" i="0" u="none" strike="noStrike" cap="none">
              <a:solidFill>
                <a:srgbClr val="1E293B"/>
              </a:solidFill>
              <a:latin typeface="Arial" panose="020B0604020202020204"/>
              <a:ea typeface="Arial" panose="020B0604020202020204"/>
              <a:cs typeface="Arial" panose="020B0604020202020204"/>
              <a:sym typeface="Arial" panose="020B0604020202020204"/>
            </a:endParaRPr>
          </a:p>
          <a:p>
            <a:pPr marL="0" marR="0" lvl="0" indent="0" algn="l" rtl="0">
              <a:lnSpc>
                <a:spcPct val="200000"/>
              </a:lnSpc>
              <a:spcBef>
                <a:spcPts val="0"/>
              </a:spcBef>
              <a:spcAft>
                <a:spcPts val="0"/>
              </a:spcAft>
              <a:buClr>
                <a:srgbClr val="1E293B"/>
              </a:buClr>
              <a:buSzPts val="1300"/>
              <a:buNone/>
            </a:pPr>
            <a:r>
              <a:rPr lang="en-US" sz="1100" b="1">
                <a:solidFill>
                  <a:schemeClr val="dk1"/>
                </a:solidFill>
              </a:rPr>
              <a:t>Keywords:</a:t>
            </a:r>
            <a:r>
              <a:rPr lang="en-US" sz="1100">
                <a:solidFill>
                  <a:schemeClr val="dk1"/>
                </a:solidFill>
              </a:rPr>
              <a:t> Heart Disease, Machine Learning, Random Forest, Risk Prediction, Clinical Parameters, Decision Support System, Logistic Regression, Support Vector Machine, Early Diagnosis, Healthcare AI</a:t>
            </a:r>
            <a:endParaRPr sz="1300">
              <a:solidFill>
                <a:srgbClr val="1E293B"/>
              </a:solidFill>
            </a:endParaRPr>
          </a:p>
          <a:p>
            <a:pPr marL="457200" marR="0" lvl="0" indent="0" algn="l" rtl="0">
              <a:lnSpc>
                <a:spcPct val="200000"/>
              </a:lnSpc>
              <a:spcBef>
                <a:spcPts val="0"/>
              </a:spcBef>
              <a:spcAft>
                <a:spcPts val="0"/>
              </a:spcAft>
              <a:buNone/>
            </a:pPr>
            <a:endParaRPr sz="1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g3bd5ef2be4a_0_10"/>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g3bd5ef2be4a_0_10"/>
          <p:cNvSpPr/>
          <p:nvPr/>
        </p:nvSpPr>
        <p:spPr>
          <a:xfrm>
            <a:off x="0" y="457200"/>
            <a:ext cx="9144000" cy="27420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g3bd5ef2be4a_0_10"/>
          <p:cNvSpPr/>
          <p:nvPr/>
        </p:nvSpPr>
        <p:spPr>
          <a:xfrm>
            <a:off x="457200" y="806277"/>
            <a:ext cx="8229600" cy="6567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ABSTRACT</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6" name="Google Shape;56;g3bd5ef2be4a_0_10"/>
          <p:cNvSpPr/>
          <p:nvPr/>
        </p:nvSpPr>
        <p:spPr>
          <a:xfrm>
            <a:off x="731525" y="926749"/>
            <a:ext cx="7680900" cy="3716100"/>
          </a:xfrm>
          <a:prstGeom prst="rect">
            <a:avLst/>
          </a:prstGeom>
          <a:noFill/>
          <a:ln>
            <a:noFill/>
          </a:ln>
        </p:spPr>
        <p:txBody>
          <a:bodyPr spcFirstLastPara="1" wrap="square" lIns="91425" tIns="45700" rIns="91425" bIns="45700" anchor="ctr" anchorCtr="0">
            <a:noAutofit/>
          </a:bodyPr>
          <a:lstStyle/>
          <a:p>
            <a:pPr marL="0" marR="0" lvl="0" indent="0" algn="l" rtl="0">
              <a:lnSpc>
                <a:spcPct val="200000"/>
              </a:lnSpc>
              <a:spcBef>
                <a:spcPts val="0"/>
              </a:spcBef>
              <a:spcAft>
                <a:spcPts val="0"/>
              </a:spcAft>
              <a:buNone/>
            </a:pPr>
            <a:r>
              <a:rPr lang="en-US" sz="1100">
                <a:solidFill>
                  <a:schemeClr val="dk1"/>
                </a:solidFill>
              </a:rPr>
              <a:t>In our experiments, we trained and tested these algorithms on the heart disease dataset. Among them, the </a:t>
            </a:r>
            <a:r>
              <a:rPr lang="en-US" sz="1100" b="1">
                <a:solidFill>
                  <a:schemeClr val="dk1"/>
                </a:solidFill>
              </a:rPr>
              <a:t>Random Forest classifier</a:t>
            </a:r>
            <a:r>
              <a:rPr lang="en-US" sz="1100">
                <a:solidFill>
                  <a:schemeClr val="dk1"/>
                </a:solidFill>
              </a:rPr>
              <a:t> achieved the </a:t>
            </a:r>
            <a:r>
              <a:rPr lang="en-US" sz="1100" b="1">
                <a:solidFill>
                  <a:schemeClr val="dk1"/>
                </a:solidFill>
              </a:rPr>
              <a:t>highest accuracy</a:t>
            </a:r>
            <a:r>
              <a:rPr lang="en-US" sz="1100">
                <a:solidFill>
                  <a:schemeClr val="dk1"/>
                </a:solidFill>
              </a:rPr>
              <a:t>, demonstrating better performance in handling feature interactions and reducing overfitting through ensemble learning. This comparison clearly shows that Random Forest is </a:t>
            </a:r>
            <a:r>
              <a:rPr lang="en-US" sz="1100" b="1">
                <a:solidFill>
                  <a:schemeClr val="dk1"/>
                </a:solidFill>
              </a:rPr>
              <a:t>more robust, reliable, and suitable</a:t>
            </a:r>
            <a:r>
              <a:rPr lang="en-US" sz="1100">
                <a:solidFill>
                  <a:schemeClr val="dk1"/>
                </a:solidFill>
              </a:rPr>
              <a:t> for real-time heart disease prediction compared to other models.</a:t>
            </a:r>
            <a:endParaRPr sz="1100">
              <a:solidFill>
                <a:schemeClr val="dk1"/>
              </a:solidFill>
            </a:endParaRPr>
          </a:p>
          <a:p>
            <a:pPr marL="0" marR="0" lvl="0" indent="0" algn="l" rtl="0">
              <a:lnSpc>
                <a:spcPct val="200000"/>
              </a:lnSpc>
              <a:spcBef>
                <a:spcPts val="0"/>
              </a:spcBef>
              <a:spcAft>
                <a:spcPts val="0"/>
              </a:spcAft>
              <a:buNone/>
            </a:pPr>
            <a:endParaRPr sz="1100">
              <a:solidFill>
                <a:schemeClr val="dk1"/>
              </a:solidFill>
            </a:endParaRPr>
          </a:p>
          <a:p>
            <a:pPr marL="0" marR="0" lvl="0" indent="0" algn="l" rtl="0">
              <a:lnSpc>
                <a:spcPct val="200000"/>
              </a:lnSpc>
              <a:spcBef>
                <a:spcPts val="0"/>
              </a:spcBef>
              <a:spcAft>
                <a:spcPts val="0"/>
              </a:spcAft>
              <a:buNone/>
            </a:pPr>
            <a:endParaRPr sz="1100">
              <a:solidFill>
                <a:schemeClr val="dk1"/>
              </a:solidFill>
            </a:endParaRPr>
          </a:p>
        </p:txBody>
      </p:sp>
      <p:graphicFrame>
        <p:nvGraphicFramePr>
          <p:cNvPr id="57" name="Google Shape;57;g3bd5ef2be4a_0_10"/>
          <p:cNvGraphicFramePr/>
          <p:nvPr/>
        </p:nvGraphicFramePr>
        <p:xfrm>
          <a:off x="731500" y="3157525"/>
          <a:ext cx="4874350" cy="1584840"/>
        </p:xfrm>
        <a:graphic>
          <a:graphicData uri="http://schemas.openxmlformats.org/drawingml/2006/table">
            <a:tbl>
              <a:tblPr>
                <a:noFill/>
                <a:tableStyleId>{773F969E-3429-4D86-A204-1F55B5CE3711}</a:tableStyleId>
              </a:tblPr>
              <a:tblGrid>
                <a:gridCol w="2437175">
                  <a:extLst>
                    <a:ext uri="{9D8B030D-6E8A-4147-A177-3AD203B41FA5}">
                      <a16:colId xmlns:a16="http://schemas.microsoft.com/office/drawing/2014/main" val="20000"/>
                    </a:ext>
                  </a:extLst>
                </a:gridCol>
                <a:gridCol w="2437175">
                  <a:extLst>
                    <a:ext uri="{9D8B030D-6E8A-4147-A177-3AD203B41FA5}">
                      <a16:colId xmlns:a16="http://schemas.microsoft.com/office/drawing/2014/main" val="20001"/>
                    </a:ext>
                  </a:extLst>
                </a:gridCol>
              </a:tblGrid>
              <a:tr h="362225">
                <a:tc>
                  <a:txBody>
                    <a:bodyPr/>
                    <a:lstStyle/>
                    <a:p>
                      <a:pPr marL="0" lvl="0" indent="0" algn="l" rtl="0">
                        <a:spcBef>
                          <a:spcPts val="0"/>
                        </a:spcBef>
                        <a:spcAft>
                          <a:spcPts val="0"/>
                        </a:spcAft>
                        <a:buNone/>
                      </a:pPr>
                      <a:r>
                        <a:rPr lang="en-US"/>
                        <a:t>  ALGORITHAM</a:t>
                      </a:r>
                    </a:p>
                  </a:txBody>
                  <a:tcPr marL="91425" marR="91425" marT="91425" marB="91425"/>
                </a:tc>
                <a:tc>
                  <a:txBody>
                    <a:bodyPr/>
                    <a:lstStyle/>
                    <a:p>
                      <a:pPr marL="0" lvl="0" indent="0" algn="l" rtl="0">
                        <a:spcBef>
                          <a:spcPts val="0"/>
                        </a:spcBef>
                        <a:spcAft>
                          <a:spcPts val="0"/>
                        </a:spcAft>
                        <a:buNone/>
                      </a:pPr>
                      <a:r>
                        <a:rPr lang="en-US"/>
                        <a:t>    ACCURACY</a:t>
                      </a:r>
                    </a:p>
                  </a:txBody>
                  <a:tcPr marL="91425" marR="91425" marT="91425" marB="91425"/>
                </a:tc>
                <a:extLst>
                  <a:ext uri="{0D108BD9-81ED-4DB2-BD59-A6C34878D82A}">
                    <a16:rowId xmlns:a16="http://schemas.microsoft.com/office/drawing/2014/main" val="10000"/>
                  </a:ext>
                </a:extLst>
              </a:tr>
              <a:tr h="362225">
                <a:tc>
                  <a:txBody>
                    <a:bodyPr/>
                    <a:lstStyle/>
                    <a:p>
                      <a:pPr marL="0" lvl="0" indent="0" algn="l" rtl="0">
                        <a:spcBef>
                          <a:spcPts val="0"/>
                        </a:spcBef>
                        <a:spcAft>
                          <a:spcPts val="0"/>
                        </a:spcAft>
                        <a:buNone/>
                      </a:pPr>
                      <a:r>
                        <a:rPr lang="en-US"/>
                        <a:t>               SVM </a:t>
                      </a:r>
                    </a:p>
                  </a:txBody>
                  <a:tcPr marL="91425" marR="91425" marT="91425" marB="91425"/>
                </a:tc>
                <a:tc>
                  <a:txBody>
                    <a:bodyPr/>
                    <a:lstStyle/>
                    <a:p>
                      <a:pPr marL="0" lvl="0" indent="0" algn="l" rtl="0">
                        <a:spcBef>
                          <a:spcPts val="0"/>
                        </a:spcBef>
                        <a:spcAft>
                          <a:spcPts val="0"/>
                        </a:spcAft>
                        <a:buNone/>
                      </a:pPr>
                      <a:r>
                        <a:rPr lang="en-US"/>
                        <a:t>    60</a:t>
                      </a:r>
                    </a:p>
                  </a:txBody>
                  <a:tcPr marL="91425" marR="91425" marT="91425" marB="91425"/>
                </a:tc>
                <a:extLst>
                  <a:ext uri="{0D108BD9-81ED-4DB2-BD59-A6C34878D82A}">
                    <a16:rowId xmlns:a16="http://schemas.microsoft.com/office/drawing/2014/main" val="10001"/>
                  </a:ext>
                </a:extLst>
              </a:tr>
              <a:tr h="362225">
                <a:tc>
                  <a:txBody>
                    <a:bodyPr/>
                    <a:lstStyle/>
                    <a:p>
                      <a:pPr marL="0" lvl="0" indent="0" algn="l" rtl="0">
                        <a:spcBef>
                          <a:spcPts val="0"/>
                        </a:spcBef>
                        <a:spcAft>
                          <a:spcPts val="0"/>
                        </a:spcAft>
                        <a:buNone/>
                      </a:pPr>
                      <a:r>
                        <a:rPr lang="en-US"/>
                        <a:t>    DECISION TREE</a:t>
                      </a:r>
                    </a:p>
                  </a:txBody>
                  <a:tcPr marL="91425" marR="91425" marT="91425" marB="91425"/>
                </a:tc>
                <a:tc>
                  <a:txBody>
                    <a:bodyPr/>
                    <a:lstStyle/>
                    <a:p>
                      <a:pPr marL="0" lvl="0" indent="0" algn="l" rtl="0">
                        <a:spcBef>
                          <a:spcPts val="0"/>
                        </a:spcBef>
                        <a:spcAft>
                          <a:spcPts val="0"/>
                        </a:spcAft>
                        <a:buNone/>
                      </a:pPr>
                      <a:r>
                        <a:rPr lang="en-US"/>
                        <a:t>    83</a:t>
                      </a:r>
                    </a:p>
                  </a:txBody>
                  <a:tcPr marL="91425" marR="91425" marT="91425" marB="91425"/>
                </a:tc>
                <a:extLst>
                  <a:ext uri="{0D108BD9-81ED-4DB2-BD59-A6C34878D82A}">
                    <a16:rowId xmlns:a16="http://schemas.microsoft.com/office/drawing/2014/main" val="10002"/>
                  </a:ext>
                </a:extLst>
              </a:tr>
              <a:tr h="362225">
                <a:tc>
                  <a:txBody>
                    <a:bodyPr/>
                    <a:lstStyle/>
                    <a:p>
                      <a:pPr marL="0" lvl="0" indent="0" algn="l" rtl="0">
                        <a:spcBef>
                          <a:spcPts val="0"/>
                        </a:spcBef>
                        <a:spcAft>
                          <a:spcPts val="0"/>
                        </a:spcAft>
                        <a:buNone/>
                      </a:pPr>
                      <a:r>
                        <a:rPr lang="en-US"/>
                        <a:t>   RANDOM FOREST </a:t>
                      </a:r>
                    </a:p>
                  </a:txBody>
                  <a:tcPr marL="91425" marR="91425" marT="91425" marB="91425"/>
                </a:tc>
                <a:tc>
                  <a:txBody>
                    <a:bodyPr/>
                    <a:lstStyle/>
                    <a:p>
                      <a:pPr marL="0" lvl="0" indent="0" algn="l" rtl="0">
                        <a:spcBef>
                          <a:spcPts val="0"/>
                        </a:spcBef>
                        <a:spcAft>
                          <a:spcPts val="0"/>
                        </a:spcAft>
                        <a:buNone/>
                      </a:pPr>
                      <a:r>
                        <a:rPr lang="en-US"/>
                        <a:t>     92</a:t>
                      </a: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6"/>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6"/>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6"/>
          <p:cNvSpPr/>
          <p:nvPr/>
        </p:nvSpPr>
        <p:spPr>
          <a:xfrm>
            <a:off x="457200" y="822960"/>
            <a:ext cx="82296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200"/>
              <a:buFont typeface="Arial" panose="020B0604020202020204"/>
              <a:buNone/>
            </a:pPr>
            <a:r>
              <a:rPr lang="en-US" sz="3200" b="1" i="0" u="none" strike="noStrike" cap="none">
                <a:solidFill>
                  <a:srgbClr val="1A5F7A"/>
                </a:solidFill>
                <a:latin typeface="Arial" panose="020B0604020202020204"/>
                <a:ea typeface="Arial" panose="020B0604020202020204"/>
                <a:cs typeface="Arial" panose="020B0604020202020204"/>
                <a:sym typeface="Arial" panose="020B0604020202020204"/>
              </a:rPr>
              <a:t>LITERATURE SURVEY</a:t>
            </a:r>
            <a:endParaRPr sz="3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aphicFrame>
        <p:nvGraphicFramePr>
          <p:cNvPr id="66" name="Google Shape;66;p6"/>
          <p:cNvGraphicFramePr/>
          <p:nvPr>
            <p:extLst>
              <p:ext uri="{D42A27DB-BD31-4B8C-83A1-F6EECF244321}">
                <p14:modId xmlns:p14="http://schemas.microsoft.com/office/powerpoint/2010/main" val="983638263"/>
              </p:ext>
            </p:extLst>
          </p:nvPr>
        </p:nvGraphicFramePr>
        <p:xfrm>
          <a:off x="274320" y="1371600"/>
          <a:ext cx="8412450" cy="3600490"/>
        </p:xfrm>
        <a:graphic>
          <a:graphicData uri="http://schemas.openxmlformats.org/drawingml/2006/table">
            <a:tbl>
              <a:tblPr>
                <a:noFill/>
                <a:tableStyleId>{44C97820-2DA0-41D9-BC04-251C204D0269}</a:tableStyleId>
              </a:tblPr>
              <a:tblGrid>
                <a:gridCol w="527685">
                  <a:extLst>
                    <a:ext uri="{9D8B030D-6E8A-4147-A177-3AD203B41FA5}">
                      <a16:colId xmlns:a16="http://schemas.microsoft.com/office/drawing/2014/main" val="20000"/>
                    </a:ext>
                  </a:extLst>
                </a:gridCol>
                <a:gridCol w="1153782">
                  <a:extLst>
                    <a:ext uri="{9D8B030D-6E8A-4147-A177-3AD203B41FA5}">
                      <a16:colId xmlns:a16="http://schemas.microsoft.com/office/drawing/2014/main" val="20001"/>
                    </a:ext>
                  </a:extLst>
                </a:gridCol>
                <a:gridCol w="1129747">
                  <a:extLst>
                    <a:ext uri="{9D8B030D-6E8A-4147-A177-3AD203B41FA5}">
                      <a16:colId xmlns:a16="http://schemas.microsoft.com/office/drawing/2014/main" val="20002"/>
                    </a:ext>
                  </a:extLst>
                </a:gridCol>
                <a:gridCol w="1184660">
                  <a:extLst>
                    <a:ext uri="{9D8B030D-6E8A-4147-A177-3AD203B41FA5}">
                      <a16:colId xmlns:a16="http://schemas.microsoft.com/office/drawing/2014/main" val="20003"/>
                    </a:ext>
                  </a:extLst>
                </a:gridCol>
                <a:gridCol w="1395679">
                  <a:extLst>
                    <a:ext uri="{9D8B030D-6E8A-4147-A177-3AD203B41FA5}">
                      <a16:colId xmlns:a16="http://schemas.microsoft.com/office/drawing/2014/main" val="20004"/>
                    </a:ext>
                  </a:extLst>
                </a:gridCol>
                <a:gridCol w="1476888">
                  <a:extLst>
                    <a:ext uri="{9D8B030D-6E8A-4147-A177-3AD203B41FA5}">
                      <a16:colId xmlns:a16="http://schemas.microsoft.com/office/drawing/2014/main" val="20005"/>
                    </a:ext>
                  </a:extLst>
                </a:gridCol>
                <a:gridCol w="872699">
                  <a:extLst>
                    <a:ext uri="{9D8B030D-6E8A-4147-A177-3AD203B41FA5}">
                      <a16:colId xmlns:a16="http://schemas.microsoft.com/office/drawing/2014/main" val="20006"/>
                    </a:ext>
                  </a:extLst>
                </a:gridCol>
                <a:gridCol w="671310">
                  <a:extLst>
                    <a:ext uri="{9D8B030D-6E8A-4147-A177-3AD203B41FA5}">
                      <a16:colId xmlns:a16="http://schemas.microsoft.com/office/drawing/2014/main" val="20007"/>
                    </a:ext>
                  </a:extLst>
                </a:gridCol>
              </a:tblGrid>
              <a:tr h="491775">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S.NO.</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AUTHOR</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TITLE</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None/>
                      </a:pPr>
                      <a:r>
                        <a:rPr lang="en-US" sz="900" b="1">
                          <a:solidFill>
                            <a:srgbClr val="FFFFFF"/>
                          </a:solidFill>
                        </a:rPr>
                        <a:t>PUBLISHED YEAR</a:t>
                      </a:r>
                      <a:endParaRPr sz="900" b="1" u="none" strike="noStrike" cap="none">
                        <a:solidFill>
                          <a:srgbClr val="FFFFFF"/>
                        </a:solidFill>
                      </a:endParaRP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ALGORITHM</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METHODOLOGY</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DATASET</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ACCURACY</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extLst>
                  <a:ext uri="{0D108BD9-81ED-4DB2-BD59-A6C34878D82A}">
                    <a16:rowId xmlns:a16="http://schemas.microsoft.com/office/drawing/2014/main" val="10000"/>
                  </a:ext>
                </a:extLst>
              </a:tr>
              <a:tr h="721275">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t> 1</a:t>
                      </a: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Cleveland et al.</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Heart Disease Prediction Using Logistic Regression</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None/>
                      </a:pPr>
                      <a:r>
                        <a:rPr lang="en-US" sz="1000" dirty="0"/>
                        <a:t>       </a:t>
                      </a:r>
                      <a:r>
                        <a:rPr lang="en-US" sz="800" dirty="0"/>
                        <a:t>2024</a:t>
                      </a:r>
                      <a:endParaRPr sz="800" u="none" strike="noStrike" cap="none" dirty="0">
                        <a:solidFill>
                          <a:srgbClr val="000000"/>
                        </a:solidFill>
                      </a:endParaRP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Logistic Regression</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Used UCI dataset with basic clinical attributes</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UCI Heart Dataset</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~77%</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extLst>
                  <a:ext uri="{0D108BD9-81ED-4DB2-BD59-A6C34878D82A}">
                    <a16:rowId xmlns:a16="http://schemas.microsoft.com/office/drawing/2014/main" val="10001"/>
                  </a:ext>
                </a:extLst>
              </a:tr>
              <a:tr h="721275">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t> 2</a:t>
                      </a: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Patel et al.</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SVM-Based Heart Disease Risk Assessment</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None/>
                      </a:pPr>
                      <a:r>
                        <a:rPr lang="en-US" sz="900" dirty="0"/>
                        <a:t>       </a:t>
                      </a:r>
                      <a:r>
                        <a:rPr lang="en-US" sz="1100" dirty="0"/>
                        <a:t> </a:t>
                      </a:r>
                      <a:r>
                        <a:rPr lang="en-US" sz="800" dirty="0"/>
                        <a:t>2023</a:t>
                      </a:r>
                      <a:endParaRPr sz="800" u="none" strike="noStrike" cap="none" dirty="0">
                        <a:solidFill>
                          <a:srgbClr val="000000"/>
                        </a:solidFill>
                      </a:endParaRP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SVM</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Normalized clinical records analyzed using SVM</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Clinical Records</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81%</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extLst>
                  <a:ext uri="{0D108BD9-81ED-4DB2-BD59-A6C34878D82A}">
                    <a16:rowId xmlns:a16="http://schemas.microsoft.com/office/drawing/2014/main" val="10002"/>
                  </a:ext>
                </a:extLst>
              </a:tr>
              <a:tr h="721275">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  3</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Kumar et al.</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Decision Tree Model for Heart Disease Diagnosis</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None/>
                      </a:pPr>
                      <a:r>
                        <a:rPr lang="en-US" sz="800" dirty="0"/>
                        <a:t>      </a:t>
                      </a:r>
                      <a:r>
                        <a:rPr lang="en-US" sz="1100" dirty="0"/>
                        <a:t>  </a:t>
                      </a:r>
                      <a:r>
                        <a:rPr lang="en-US" sz="800" dirty="0"/>
                        <a:t>2023</a:t>
                      </a:r>
                      <a:endParaRPr sz="800" u="none" strike="noStrike" cap="none" dirty="0">
                        <a:solidFill>
                          <a:srgbClr val="000000"/>
                        </a:solidFill>
                      </a:endParaRP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Decision Trees</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Hospital data classified using Decision Trees</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Hospital Data</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83%</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extLst>
                  <a:ext uri="{0D108BD9-81ED-4DB2-BD59-A6C34878D82A}">
                    <a16:rowId xmlns:a16="http://schemas.microsoft.com/office/drawing/2014/main" val="10003"/>
                  </a:ext>
                </a:extLst>
              </a:tr>
              <a:tr h="72127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sz="800" u="none" strike="noStrike" cap="none"/>
                        <a:t>  4</a:t>
                      </a: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sz="800" dirty="0">
                          <a:sym typeface="+mn-ea"/>
                        </a:rPr>
                        <a:t>Ch. Anwar et al.</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US" altLang="en-US" sz="800" dirty="0">
                          <a:sym typeface="+mn-ea"/>
                        </a:rPr>
                        <a:t>Effectively Predicting the Presence of Coronary Heart Disease</a:t>
                      </a:r>
                      <a:endParaRPr lang="en-US" altLang="en-US" sz="800" u="none" strike="noStrike" cap="none" dirty="0"/>
                    </a:p>
                    <a:p>
                      <a:pPr marL="0" marR="0" lvl="0" indent="0" algn="l" rtl="0">
                        <a:lnSpc>
                          <a:spcPct val="100000"/>
                        </a:lnSpc>
                        <a:spcBef>
                          <a:spcPts val="0"/>
                        </a:spcBef>
                        <a:spcAft>
                          <a:spcPts val="0"/>
                        </a:spcAft>
                        <a:buClr>
                          <a:srgbClr val="000000"/>
                        </a:buClr>
                        <a:buFont typeface="Arial" panose="020B0604020202020204"/>
                        <a:buNone/>
                      </a:pPr>
                      <a:r>
                        <a:rPr lang="en-US" altLang="en-US" sz="800" dirty="0">
                          <a:sym typeface="+mn-ea"/>
                        </a:rPr>
                        <a:t>Using Machine Learning Classiﬁer</a:t>
                      </a:r>
                      <a:r>
                        <a:rPr lang="en-IN" altLang="en-US" sz="800" dirty="0">
                          <a:sym typeface="+mn-ea"/>
                        </a:rPr>
                        <a:t>s</a:t>
                      </a:r>
                      <a:endParaRPr lang="en-IN" altLang="en-US" sz="800" u="none" strike="noStrike" cap="none" dirty="0">
                        <a:sym typeface="+mn-ea"/>
                      </a:endParaRP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None/>
                      </a:pPr>
                      <a:r>
                        <a:rPr lang="en-US" sz="800" dirty="0"/>
                        <a:t>          2022</a:t>
                      </a:r>
                      <a:endParaRPr sz="800" u="none" strike="noStrike" cap="none" dirty="0">
                        <a:solidFill>
                          <a:srgbClr val="000000"/>
                        </a:solidFill>
                      </a:endParaRP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IN" sz="800" dirty="0">
                          <a:sym typeface="+mn-ea"/>
                        </a:rPr>
                        <a:t>GBA, MLP</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altLang="en-US" sz="800" u="none" strike="noStrike" cap="none"/>
                        <a:t>Applied multiple machine learning classifiers on the UCI Heart Disease dataset to predict coronary heart disease.</a:t>
                      </a: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IN" sz="800" dirty="0">
                          <a:sym typeface="+mn-ea"/>
                        </a:rPr>
                        <a:t>UCI Heart Disease</a:t>
                      </a:r>
                      <a:endParaRPr sz="800" u="none" strike="noStrike" cap="none" dirty="0"/>
                    </a:p>
                    <a:p>
                      <a:pPr marL="0" marR="0" lvl="0" indent="0" algn="l" rtl="0">
                        <a:spcBef>
                          <a:spcPts val="0"/>
                        </a:spcBef>
                        <a:spcAft>
                          <a:spcPts val="0"/>
                        </a:spcAft>
                        <a:buClr>
                          <a:srgbClr val="000000"/>
                        </a:buClr>
                        <a:buSzPts val="800"/>
                        <a:buFont typeface="Calibri" panose="020F0502020204030204"/>
                        <a:buNone/>
                      </a:pP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IN" altLang="en-US" sz="800" u="none" strike="noStrike" cap="none" dirty="0">
                          <a:solidFill>
                            <a:srgbClr val="000000"/>
                          </a:solidFill>
                        </a:rPr>
                        <a:t>90</a:t>
                      </a:r>
                      <a:r>
                        <a:rPr lang="en-US" sz="800" u="none" strike="noStrike" cap="none" dirty="0">
                          <a:solidFill>
                            <a:srgbClr val="000000"/>
                          </a:solidFill>
                        </a:rPr>
                        <a:t>%</a:t>
                      </a:r>
                      <a:endParaRPr sz="800" u="none" strike="noStrike" cap="none" dirty="0"/>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6"/>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6"/>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65" name="Google Shape;65;p6"/>
          <p:cNvGraphicFramePr/>
          <p:nvPr>
            <p:custDataLst>
              <p:tags r:id="rId1"/>
            </p:custDataLst>
          </p:nvPr>
        </p:nvGraphicFramePr>
        <p:xfrm>
          <a:off x="274320" y="731520"/>
          <a:ext cx="8412480" cy="4256405"/>
        </p:xfrm>
        <a:graphic>
          <a:graphicData uri="http://schemas.openxmlformats.org/drawingml/2006/table">
            <a:tbl>
              <a:tblPr>
                <a:noFill/>
                <a:tableStyleId>{A58D2B4B-3948-4824-9F31-7F648A82ED31}</a:tableStyleId>
              </a:tblPr>
              <a:tblGrid>
                <a:gridCol w="673100">
                  <a:extLst>
                    <a:ext uri="{9D8B030D-6E8A-4147-A177-3AD203B41FA5}">
                      <a16:colId xmlns:a16="http://schemas.microsoft.com/office/drawing/2014/main" val="20000"/>
                    </a:ext>
                  </a:extLst>
                </a:gridCol>
                <a:gridCol w="1076960">
                  <a:extLst>
                    <a:ext uri="{9D8B030D-6E8A-4147-A177-3AD203B41FA5}">
                      <a16:colId xmlns:a16="http://schemas.microsoft.com/office/drawing/2014/main" val="20001"/>
                    </a:ext>
                  </a:extLst>
                </a:gridCol>
                <a:gridCol w="1345565">
                  <a:extLst>
                    <a:ext uri="{9D8B030D-6E8A-4147-A177-3AD203B41FA5}">
                      <a16:colId xmlns:a16="http://schemas.microsoft.com/office/drawing/2014/main" val="20002"/>
                    </a:ext>
                  </a:extLst>
                </a:gridCol>
                <a:gridCol w="1346200">
                  <a:extLst>
                    <a:ext uri="{9D8B030D-6E8A-4147-A177-3AD203B41FA5}">
                      <a16:colId xmlns:a16="http://schemas.microsoft.com/office/drawing/2014/main" val="20003"/>
                    </a:ext>
                  </a:extLst>
                </a:gridCol>
                <a:gridCol w="942340">
                  <a:extLst>
                    <a:ext uri="{9D8B030D-6E8A-4147-A177-3AD203B41FA5}">
                      <a16:colId xmlns:a16="http://schemas.microsoft.com/office/drawing/2014/main" val="20004"/>
                    </a:ext>
                  </a:extLst>
                </a:gridCol>
                <a:gridCol w="1480185">
                  <a:extLst>
                    <a:ext uri="{9D8B030D-6E8A-4147-A177-3AD203B41FA5}">
                      <a16:colId xmlns:a16="http://schemas.microsoft.com/office/drawing/2014/main" val="20005"/>
                    </a:ext>
                  </a:extLst>
                </a:gridCol>
                <a:gridCol w="875030">
                  <a:extLst>
                    <a:ext uri="{9D8B030D-6E8A-4147-A177-3AD203B41FA5}">
                      <a16:colId xmlns:a16="http://schemas.microsoft.com/office/drawing/2014/main" val="20006"/>
                    </a:ext>
                  </a:extLst>
                </a:gridCol>
                <a:gridCol w="673100">
                  <a:extLst>
                    <a:ext uri="{9D8B030D-6E8A-4147-A177-3AD203B41FA5}">
                      <a16:colId xmlns:a16="http://schemas.microsoft.com/office/drawing/2014/main" val="20007"/>
                    </a:ext>
                  </a:extLst>
                </a:gridCol>
              </a:tblGrid>
              <a:tr h="567690">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S.NO.</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AUTHOR</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TITLE</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None/>
                      </a:pPr>
                      <a:r>
                        <a:rPr lang="en-US" sz="900" b="1">
                          <a:solidFill>
                            <a:srgbClr val="FFFFFF"/>
                          </a:solidFill>
                        </a:rPr>
                        <a:t>PUBLISHED YEAR</a:t>
                      </a:r>
                      <a:endParaRPr sz="900" b="1" u="none" strike="noStrike" cap="none">
                        <a:solidFill>
                          <a:srgbClr val="FFFFFF"/>
                        </a:solidFill>
                      </a:endParaRP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ALGORITHM</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METHODOLOGY</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DATASET</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tc>
                  <a:txBody>
                    <a:bodyPr/>
                    <a:lstStyle/>
                    <a:p>
                      <a:pPr marL="0" marR="0" lvl="0" indent="0" algn="l" rtl="0">
                        <a:spcBef>
                          <a:spcPts val="0"/>
                        </a:spcBef>
                        <a:spcAft>
                          <a:spcPts val="0"/>
                        </a:spcAft>
                        <a:buClr>
                          <a:srgbClr val="FFFFFF"/>
                        </a:buClr>
                        <a:buSzPts val="900"/>
                        <a:buFont typeface="Calibri" panose="020F0502020204030204"/>
                        <a:buNone/>
                      </a:pPr>
                      <a:r>
                        <a:rPr lang="en-US" sz="900" b="1" u="none" strike="noStrike" cap="none">
                          <a:solidFill>
                            <a:srgbClr val="FFFFFF"/>
                          </a:solidFill>
                        </a:rPr>
                        <a:t>ACCURACY</a:t>
                      </a:r>
                      <a:endParaRPr sz="9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5FB0A6"/>
                    </a:solidFill>
                  </a:tcPr>
                </a:tc>
                <a:extLst>
                  <a:ext uri="{0D108BD9-81ED-4DB2-BD59-A6C34878D82A}">
                    <a16:rowId xmlns:a16="http://schemas.microsoft.com/office/drawing/2014/main" val="10000"/>
                  </a:ext>
                </a:extLst>
              </a:tr>
              <a:tr h="833120">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t> 5</a:t>
                      </a: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IN" sz="800" dirty="0">
                          <a:sym typeface="+mn-ea"/>
                        </a:rPr>
                        <a:t>Jaswanth Narayana et al.</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Heart Disease Prediction Using </a:t>
                      </a:r>
                      <a:r>
                        <a:rPr lang="en-IN" altLang="en-US" sz="800" u="none" strike="noStrike" cap="none">
                          <a:solidFill>
                            <a:srgbClr val="000000"/>
                          </a:solidFill>
                        </a:rPr>
                        <a:t>Machine Learning</a:t>
                      </a: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None/>
                      </a:pPr>
                      <a:r>
                        <a:rPr lang="en-US" sz="1000"/>
                        <a:t>        </a:t>
                      </a:r>
                      <a:r>
                        <a:rPr lang="en-US" sz="800"/>
                        <a:t>2022</a:t>
                      </a:r>
                      <a:endParaRPr lang="en-US" sz="800" u="none" strike="noStrike" cap="none">
                        <a:solidFill>
                          <a:srgbClr val="000000"/>
                        </a:solidFill>
                      </a:endParaRP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IN" altLang="en-US" sz="800" u="none" strike="noStrike" cap="none">
                          <a:solidFill>
                            <a:srgbClr val="000000"/>
                          </a:solidFill>
                        </a:rPr>
                        <a:t>KNN</a:t>
                      </a: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altLang="en-US" sz="800" u="none" strike="noStrike" cap="none"/>
                        <a:t>Used a public health dataset and applied KNN after basic data analysis and feature distribution checking.</a:t>
                      </a: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IN" sz="800" dirty="0">
                          <a:sym typeface="+mn-ea"/>
                        </a:rPr>
                        <a:t>Public Health Dataset</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IN" altLang="en-US" sz="800" u="none" strike="noStrike" cap="none">
                          <a:solidFill>
                            <a:srgbClr val="000000"/>
                          </a:solidFill>
                        </a:rPr>
                        <a:t>84.86</a:t>
                      </a:r>
                      <a:r>
                        <a:rPr lang="en-US" sz="800" u="none" strike="noStrike" cap="none">
                          <a:solidFill>
                            <a:srgbClr val="000000"/>
                          </a:solidFill>
                        </a:rPr>
                        <a:t>%</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extLst>
                  <a:ext uri="{0D108BD9-81ED-4DB2-BD59-A6C34878D82A}">
                    <a16:rowId xmlns:a16="http://schemas.microsoft.com/office/drawing/2014/main" val="10001"/>
                  </a:ext>
                </a:extLst>
              </a:tr>
              <a:tr h="833120">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t> 6</a:t>
                      </a: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en-US" sz="800" dirty="0">
                          <a:sym typeface="+mn-ea"/>
                        </a:rPr>
                        <a:t>Ahmad Shak</a:t>
                      </a:r>
                      <a:r>
                        <a:rPr lang="en-IN" altLang="en-US" sz="800" dirty="0">
                          <a:sym typeface="+mn-ea"/>
                        </a:rPr>
                        <a:t>et al</a:t>
                      </a:r>
                      <a:r>
                        <a:rPr lang="en-IN" sz="800" dirty="0">
                          <a:sym typeface="+mn-ea"/>
                        </a:rPr>
                        <a:t>.</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US" altLang="en-US" sz="800" dirty="0">
                          <a:sym typeface="+mn-ea"/>
                        </a:rPr>
                        <a:t>Machine learning models for prediction of co-occurrence of diabetes </a:t>
                      </a:r>
                      <a:endParaRPr lang="en-US" altLang="en-US" sz="800" u="none" strike="noStrike" cap="none" dirty="0"/>
                    </a:p>
                    <a:p>
                      <a:pPr marL="0" marR="0" lvl="0" indent="0" algn="l" rtl="0">
                        <a:lnSpc>
                          <a:spcPct val="100000"/>
                        </a:lnSpc>
                        <a:spcBef>
                          <a:spcPts val="0"/>
                        </a:spcBef>
                        <a:spcAft>
                          <a:spcPts val="0"/>
                        </a:spcAft>
                        <a:buClr>
                          <a:srgbClr val="000000"/>
                        </a:buClr>
                        <a:buFont typeface="Arial" panose="020B0604020202020204"/>
                        <a:buNone/>
                      </a:pPr>
                      <a:r>
                        <a:rPr lang="en-US" altLang="en-US" sz="800" dirty="0">
                          <a:sym typeface="+mn-ea"/>
                        </a:rPr>
                        <a:t>and cardiovascular diseases: a retrospective cohort study</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None/>
                      </a:pPr>
                      <a:r>
                        <a:rPr lang="en-US" sz="900"/>
                        <a:t>       </a:t>
                      </a:r>
                      <a:r>
                        <a:rPr lang="en-US" sz="1100"/>
                        <a:t> </a:t>
                      </a:r>
                      <a:r>
                        <a:rPr lang="en-US" sz="800"/>
                        <a:t>2022</a:t>
                      </a:r>
                      <a:endParaRPr lang="en-US" sz="800" u="none" strike="noStrike" cap="none">
                        <a:solidFill>
                          <a:srgbClr val="000000"/>
                        </a:solidFill>
                      </a:endParaRP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altLang="en-IN" sz="800" dirty="0">
                          <a:sym typeface="+mn-ea"/>
                        </a:rPr>
                        <a:t>Random Forest</a:t>
                      </a:r>
                      <a:endParaRPr lang="en-US" altLang="en-IN"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altLang="en-US" sz="800" u="none" strike="noStrike" cap="none"/>
                        <a:t>Used UCI heart disease data and applied random forest on retrospectively collected clinical records.</a:t>
                      </a: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IN" sz="800" dirty="0">
                          <a:sym typeface="+mn-ea"/>
                        </a:rPr>
                        <a:t>UCI Heart Disease</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IN" altLang="en-US" sz="800" u="none" strike="noStrike" cap="none">
                          <a:solidFill>
                            <a:srgbClr val="000000"/>
                          </a:solidFill>
                        </a:rPr>
                        <a:t>91</a:t>
                      </a:r>
                      <a:r>
                        <a:rPr lang="en-US" sz="800" u="none" strike="noStrike" cap="none">
                          <a:solidFill>
                            <a:srgbClr val="000000"/>
                          </a:solidFill>
                        </a:rPr>
                        <a:t>%</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extLst>
                  <a:ext uri="{0D108BD9-81ED-4DB2-BD59-A6C34878D82A}">
                    <a16:rowId xmlns:a16="http://schemas.microsoft.com/office/drawing/2014/main" val="10002"/>
                  </a:ext>
                </a:extLst>
              </a:tr>
              <a:tr h="833755">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t>   7</a:t>
                      </a: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Sharma et al.</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 Heart Disease Prediction</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None/>
                      </a:pPr>
                      <a:r>
                        <a:rPr lang="en-US" sz="800"/>
                        <a:t>          2022</a:t>
                      </a:r>
                      <a:endParaRPr lang="en-US" sz="800" u="none" strike="noStrike" cap="none">
                        <a:solidFill>
                          <a:srgbClr val="000000"/>
                        </a:solidFill>
                      </a:endParaRP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Random Forest</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ECG signals combined with clinical features</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ECG + Clinical</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US" sz="800" u="none" strike="noStrike" cap="none">
                          <a:solidFill>
                            <a:srgbClr val="000000"/>
                          </a:solidFill>
                        </a:rPr>
                        <a:t>85%</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extLst>
                  <a:ext uri="{0D108BD9-81ED-4DB2-BD59-A6C34878D82A}">
                    <a16:rowId xmlns:a16="http://schemas.microsoft.com/office/drawing/2014/main" val="10003"/>
                  </a:ext>
                </a:extLst>
              </a:tr>
              <a:tr h="1188720">
                <a:tc>
                  <a:txBody>
                    <a:bodyPr/>
                    <a:lstStyle/>
                    <a:p>
                      <a:pPr marL="0" marR="0" lvl="0" indent="0" algn="l" rtl="0">
                        <a:lnSpc>
                          <a:spcPct val="100000"/>
                        </a:lnSpc>
                        <a:spcBef>
                          <a:spcPts val="0"/>
                        </a:spcBef>
                        <a:spcAft>
                          <a:spcPts val="0"/>
                        </a:spcAft>
                        <a:buClr>
                          <a:srgbClr val="000000"/>
                        </a:buClr>
                        <a:buFont typeface="Arial" panose="020B0604020202020204"/>
                        <a:buNone/>
                      </a:pPr>
                      <a:r>
                        <a:rPr lang="en-IN" altLang="en-US" sz="800" u="none" strike="noStrike" cap="none"/>
                        <a:t>8</a:t>
                      </a: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IN" sz="800" dirty="0">
                          <a:sym typeface="+mn-ea"/>
                        </a:rPr>
                        <a:t>Adarsh Sharma et al.</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US" altLang="en-US" sz="800" dirty="0">
                          <a:sym typeface="+mn-ea"/>
                        </a:rPr>
                        <a:t>Heart Disease Prediction: A Comparative Analysis of Machine Learning Algorithms</a:t>
                      </a: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IN" sz="800" u="none" strike="noStrike" cap="none" dirty="0"/>
                        <a:t>         2021</a:t>
                      </a:r>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IN" sz="800" dirty="0">
                          <a:sym typeface="+mn-ea"/>
                        </a:rPr>
                        <a:t>Random Forest</a:t>
                      </a:r>
                      <a:endParaRPr sz="800" u="none" strike="noStrike" cap="none"/>
                    </a:p>
                    <a:p>
                      <a:pPr marL="0" marR="0" lvl="0" indent="0" algn="l" rtl="0">
                        <a:spcBef>
                          <a:spcPts val="0"/>
                        </a:spcBef>
                        <a:spcAft>
                          <a:spcPts val="0"/>
                        </a:spcAft>
                        <a:buClr>
                          <a:srgbClr val="000000"/>
                        </a:buClr>
                        <a:buSzPts val="800"/>
                        <a:buFont typeface="Calibri" panose="020F0502020204030204"/>
                        <a:buNone/>
                      </a:pPr>
                      <a:endParaRPr lang="en-US" altLang="en-US"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US" altLang="en-US" sz="800">
                          <a:sym typeface="+mn-ea"/>
                        </a:rPr>
                        <a:t>Collected and cleaned heart disease data, handled missing values, normalized features, and applied Random Forest.</a:t>
                      </a:r>
                      <a:endParaRPr lang="en-US" altLang="en-US" sz="800" u="none" strike="noStrike" cap="none"/>
                    </a:p>
                    <a:p>
                      <a:pPr marL="0" marR="0" lvl="0" indent="0" algn="l" rtl="0">
                        <a:lnSpc>
                          <a:spcPct val="100000"/>
                        </a:lnSpc>
                        <a:spcBef>
                          <a:spcPts val="0"/>
                        </a:spcBef>
                        <a:spcAft>
                          <a:spcPts val="0"/>
                        </a:spcAft>
                        <a:buClr>
                          <a:srgbClr val="000000"/>
                        </a:buClr>
                        <a:buFont typeface="Arial" panose="020B0604020202020204"/>
                        <a:buNone/>
                      </a:pP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spcBef>
                          <a:spcPts val="0"/>
                        </a:spcBef>
                        <a:spcAft>
                          <a:spcPts val="0"/>
                        </a:spcAft>
                        <a:buClr>
                          <a:srgbClr val="000000"/>
                        </a:buClr>
                        <a:buSzPts val="800"/>
                        <a:buFont typeface="Calibri" panose="020F0502020204030204"/>
                        <a:buNone/>
                      </a:pPr>
                      <a:r>
                        <a:rPr lang="en-IN" sz="800" dirty="0">
                          <a:sym typeface="+mn-ea"/>
                        </a:rPr>
                        <a:t>Heart Dataset</a:t>
                      </a:r>
                      <a:endParaRPr sz="800" u="none" strike="noStrike" cap="none"/>
                    </a:p>
                    <a:p>
                      <a:pPr marL="0" marR="0" lvl="0" indent="0" algn="l" rtl="0">
                        <a:spcBef>
                          <a:spcPts val="0"/>
                        </a:spcBef>
                        <a:spcAft>
                          <a:spcPts val="0"/>
                        </a:spcAft>
                        <a:buClr>
                          <a:srgbClr val="000000"/>
                        </a:buClr>
                        <a:buSzPts val="800"/>
                        <a:buFont typeface="Calibri" panose="020F0502020204030204"/>
                        <a:buNone/>
                      </a:pPr>
                      <a:endParaRPr sz="800" u="none" strike="noStrike" cap="none"/>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US" sz="800" dirty="0">
                          <a:sym typeface="+mn-ea"/>
                        </a:rPr>
                        <a:t>8</a:t>
                      </a:r>
                      <a:r>
                        <a:rPr lang="en-IN" altLang="en-US" sz="800" dirty="0">
                          <a:sym typeface="+mn-ea"/>
                        </a:rPr>
                        <a:t>4.96</a:t>
                      </a:r>
                      <a:r>
                        <a:rPr lang="en-US" sz="800" dirty="0">
                          <a:sym typeface="+mn-ea"/>
                        </a:rPr>
                        <a:t>%</a:t>
                      </a:r>
                      <a:endParaRPr sz="800" u="none" strike="noStrike" cap="none" dirty="0"/>
                    </a:p>
                    <a:p>
                      <a:pPr marL="0" marR="0" lvl="0" indent="0" algn="l" rtl="0">
                        <a:lnSpc>
                          <a:spcPct val="100000"/>
                        </a:lnSpc>
                        <a:spcBef>
                          <a:spcPts val="0"/>
                        </a:spcBef>
                        <a:spcAft>
                          <a:spcPts val="0"/>
                        </a:spcAft>
                        <a:buClr>
                          <a:srgbClr val="000000"/>
                        </a:buClr>
                        <a:buFont typeface="Arial" panose="020B0604020202020204"/>
                        <a:buNone/>
                      </a:pPr>
                      <a:endParaRPr lang="en-US" sz="800" u="none" strike="noStrike" cap="none" dirty="0"/>
                    </a:p>
                  </a:txBody>
                  <a:tcPr marL="91450" marR="91450" marT="45725" marB="45725">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9FE7D8"/>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7"/>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7"/>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p:nvPr/>
        </p:nvSpPr>
        <p:spPr>
          <a:xfrm>
            <a:off x="467995" y="729615"/>
            <a:ext cx="82296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EXISTING SYSTEM</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5" name="Google Shape;75;p7"/>
          <p:cNvSpPr/>
          <p:nvPr/>
        </p:nvSpPr>
        <p:spPr>
          <a:xfrm>
            <a:off x="457200" y="1920251"/>
            <a:ext cx="8229600" cy="9384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1200"/>
              </a:spcBef>
              <a:spcAft>
                <a:spcPts val="0"/>
              </a:spcAft>
              <a:buClr>
                <a:schemeClr val="dk1"/>
              </a:buClr>
              <a:buSzPts val="1100"/>
              <a:buFont typeface="Arial" panose="020B0604020202020204"/>
              <a:buNone/>
            </a:pPr>
            <a:r>
              <a:rPr lang="en-US" sz="1200">
                <a:solidFill>
                  <a:schemeClr val="dk1"/>
                </a:solidFill>
              </a:rPr>
              <a:t>In the existing heart disease diagnostic systems, traditional methods largely rely on </a:t>
            </a:r>
            <a:r>
              <a:rPr lang="en-US" sz="1200" b="1">
                <a:solidFill>
                  <a:schemeClr val="dk1"/>
                </a:solidFill>
              </a:rPr>
              <a:t>manual evaluation</a:t>
            </a:r>
            <a:r>
              <a:rPr lang="en-US" sz="1200">
                <a:solidFill>
                  <a:schemeClr val="dk1"/>
                </a:solidFill>
              </a:rPr>
              <a:t> by healthcare professionals based on clinical symptoms, medical history, and standard diagnostic tests such as ECG, blood tests, and imaging. While these methods are effective, they are often:</a:t>
            </a:r>
            <a:endParaRPr sz="1200">
              <a:solidFill>
                <a:schemeClr val="dk1"/>
              </a:solidFill>
            </a:endParaRPr>
          </a:p>
          <a:p>
            <a:pPr marL="457200" lvl="0" indent="-304800" algn="l" rtl="0">
              <a:lnSpc>
                <a:spcPct val="115000"/>
              </a:lnSpc>
              <a:spcBef>
                <a:spcPts val="1200"/>
              </a:spcBef>
              <a:spcAft>
                <a:spcPts val="0"/>
              </a:spcAft>
              <a:buClr>
                <a:schemeClr val="dk1"/>
              </a:buClr>
              <a:buSzPts val="1200"/>
              <a:buAutoNum type="arabicPeriod"/>
            </a:pPr>
            <a:r>
              <a:rPr lang="en-US" sz="1200" b="1">
                <a:solidFill>
                  <a:schemeClr val="dk1"/>
                </a:solidFill>
              </a:rPr>
              <a:t>Time-Consuming:</a:t>
            </a:r>
            <a:r>
              <a:rPr lang="en-US" sz="1200">
                <a:solidFill>
                  <a:schemeClr val="dk1"/>
                </a:solidFill>
              </a:rPr>
              <a:t> Doctors need to analyze multiple parameters manually, which can delay diagnosis.</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US" sz="1200" b="1">
                <a:solidFill>
                  <a:schemeClr val="dk1"/>
                </a:solidFill>
              </a:rPr>
              <a:t>Subjective:</a:t>
            </a:r>
            <a:r>
              <a:rPr lang="en-US" sz="1200">
                <a:solidFill>
                  <a:schemeClr val="dk1"/>
                </a:solidFill>
              </a:rPr>
              <a:t> Diagnosis may vary depending on the experience and expertise of the physician.</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US" sz="1200" b="1">
                <a:solidFill>
                  <a:schemeClr val="dk1"/>
                </a:solidFill>
              </a:rPr>
              <a:t>Limited in Pattern Recognition:</a:t>
            </a:r>
            <a:r>
              <a:rPr lang="en-US" sz="1200">
                <a:solidFill>
                  <a:schemeClr val="dk1"/>
                </a:solidFill>
              </a:rPr>
              <a:t> Traditional methods may fail to detect complex patterns and interactions among multiple risk factors</a:t>
            </a:r>
            <a:endParaRPr sz="1200">
              <a:solidFill>
                <a:schemeClr val="dk1"/>
              </a:solidFill>
            </a:endParaRPr>
          </a:p>
          <a:p>
            <a:pPr marL="0" marR="0" lvl="0" indent="0" algn="l" rtl="0">
              <a:spcBef>
                <a:spcPts val="1200"/>
              </a:spcBef>
              <a:spcAft>
                <a:spcPts val="0"/>
              </a:spcAft>
              <a:buClr>
                <a:srgbClr val="1E293B"/>
              </a:buClr>
              <a:buSzPts val="1300"/>
              <a:buFont typeface="Arial" panose="020B0604020202020204"/>
              <a:buNone/>
            </a:pPr>
            <a:endParaRPr>
              <a:solidFill>
                <a:srgbClr val="1E293B"/>
              </a:solidFill>
            </a:endParaRPr>
          </a:p>
        </p:txBody>
      </p:sp>
      <p:sp>
        <p:nvSpPr>
          <p:cNvPr id="76" name="Google Shape;76;p7"/>
          <p:cNvSpPr/>
          <p:nvPr/>
        </p:nvSpPr>
        <p:spPr>
          <a:xfrm>
            <a:off x="457200" y="3215850"/>
            <a:ext cx="8229600" cy="389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5F7A"/>
              </a:buClr>
              <a:buSzPts val="1800"/>
              <a:buFont typeface="Arial" panose="020B0604020202020204"/>
              <a:buNone/>
            </a:pPr>
            <a:r>
              <a:rPr lang="en-US" sz="1800" b="1" i="0" u="none" strike="noStrike" cap="none">
                <a:solidFill>
                  <a:srgbClr val="1A5F7A"/>
                </a:solidFill>
                <a:latin typeface="Arial" panose="020B0604020202020204"/>
                <a:ea typeface="Arial" panose="020B0604020202020204"/>
                <a:cs typeface="Arial" panose="020B0604020202020204"/>
                <a:sym typeface="Arial" panose="020B0604020202020204"/>
              </a:rPr>
              <a:t>DISADVANTAGES</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7" name="Google Shape;77;p7"/>
          <p:cNvSpPr/>
          <p:nvPr/>
        </p:nvSpPr>
        <p:spPr>
          <a:xfrm>
            <a:off x="731525" y="3429000"/>
            <a:ext cx="7680900" cy="153840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E293B"/>
              </a:buClr>
              <a:buSzPts val="1300"/>
              <a:buFont typeface="Arial" panose="020B0604020202020204"/>
              <a:buChar char="•"/>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Time-consuming diagnosis - Manual analysis of medical reports takes significant time.</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300"/>
              <a:buFont typeface="Arial" panose="020B0604020202020204"/>
              <a:buChar char="•"/>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Human error and subjectivity - Diagnosis depends on doctor's experience, leading to inconsistent results.</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300"/>
              <a:buFont typeface="Arial" panose="020B0604020202020204"/>
              <a:buChar char="•"/>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Limited accuracy - Rule-based systems cannot adapt to new patterns in data.</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300"/>
              <a:buFont typeface="Arial" panose="020B0604020202020204"/>
              <a:buChar char="•"/>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Single machine learning models often suffer from overfitting or underfitting.</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8"/>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8"/>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8"/>
          <p:cNvSpPr/>
          <p:nvPr/>
        </p:nvSpPr>
        <p:spPr>
          <a:xfrm>
            <a:off x="457200" y="914400"/>
            <a:ext cx="82296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PROPOSED SYSTEM</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6" name="Google Shape;86;p8"/>
          <p:cNvSpPr/>
          <p:nvPr/>
        </p:nvSpPr>
        <p:spPr>
          <a:xfrm>
            <a:off x="457200" y="1645920"/>
            <a:ext cx="8229600"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93B"/>
              </a:buClr>
              <a:buSzPts val="1300"/>
              <a:buFont typeface="Arial" panose="020B0604020202020204"/>
              <a:buNone/>
            </a:pPr>
            <a:r>
              <a:rPr lang="en-US" sz="1300" b="0" i="0" u="none" strike="noStrike" cap="none">
                <a:solidFill>
                  <a:srgbClr val="1E293B"/>
                </a:solidFill>
                <a:latin typeface="Arial" panose="020B0604020202020204"/>
                <a:ea typeface="Arial" panose="020B0604020202020204"/>
                <a:cs typeface="Arial" panose="020B0604020202020204"/>
                <a:sym typeface="Arial" panose="020B0604020202020204"/>
              </a:rPr>
              <a:t>The proposed system is an AI-based heart disease assessment platform that uses Random Forest classifier to predict risk. The system takes patient medical parameters such as age, gender, blood pressure, cholesterol levels, and heart rate as input. Data is preprocessed to handle missing values and normalize features before model training.</a:t>
            </a:r>
            <a:endParaRPr sz="13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7" name="Google Shape;87;p8"/>
          <p:cNvSpPr/>
          <p:nvPr/>
        </p:nvSpPr>
        <p:spPr>
          <a:xfrm>
            <a:off x="457200" y="2651760"/>
            <a:ext cx="82296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5F7A"/>
              </a:buClr>
              <a:buSzPts val="1800"/>
              <a:buFont typeface="Arial" panose="020B0604020202020204"/>
              <a:buNone/>
            </a:pPr>
            <a:r>
              <a:rPr lang="en-US" sz="1800" b="1" i="0" u="none" strike="noStrike" cap="none">
                <a:solidFill>
                  <a:srgbClr val="1A5F7A"/>
                </a:solidFill>
                <a:latin typeface="Arial" panose="020B0604020202020204"/>
                <a:ea typeface="Arial" panose="020B0604020202020204"/>
                <a:cs typeface="Arial" panose="020B0604020202020204"/>
                <a:sym typeface="Arial" panose="020B0604020202020204"/>
              </a:rPr>
              <a:t>ADVANTAGES</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8" name="Google Shape;88;p8"/>
          <p:cNvSpPr/>
          <p:nvPr/>
        </p:nvSpPr>
        <p:spPr>
          <a:xfrm>
            <a:off x="731520" y="3108960"/>
            <a:ext cx="7680960" cy="164592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200000"/>
              </a:lnSpc>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High prediction accuracy through Random Forest ensemble approach.</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200000"/>
              </a:lnSpc>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Early detection of heart disease before severe symptoms appear.</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200000"/>
              </a:lnSpc>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Automated and fast assessment - Results within seconds.</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200000"/>
              </a:lnSpc>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Reduced human error with consistent and reliable predictions.</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200000"/>
              </a:lnSpc>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Handles complex medical data and captures hidden relationships.</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9"/>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9"/>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9"/>
          <p:cNvSpPr/>
          <p:nvPr/>
        </p:nvSpPr>
        <p:spPr>
          <a:xfrm>
            <a:off x="457200" y="731520"/>
            <a:ext cx="82296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200"/>
              <a:buFont typeface="Arial" panose="020B0604020202020204"/>
              <a:buNone/>
            </a:pPr>
            <a:r>
              <a:rPr lang="en-US" sz="3200" b="1" i="0" u="none" strike="noStrike" cap="none">
                <a:solidFill>
                  <a:srgbClr val="1A5F7A"/>
                </a:solidFill>
                <a:latin typeface="Arial" panose="020B0604020202020204"/>
                <a:ea typeface="Arial" panose="020B0604020202020204"/>
                <a:cs typeface="Arial" panose="020B0604020202020204"/>
                <a:sym typeface="Arial" panose="020B0604020202020204"/>
              </a:rPr>
              <a:t>WHY RANDOM FOREST IS CHOSEN</a:t>
            </a:r>
            <a:endParaRPr sz="3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7" name="Google Shape;97;p9"/>
          <p:cNvSpPr/>
          <p:nvPr/>
        </p:nvSpPr>
        <p:spPr>
          <a:xfrm>
            <a:off x="731520" y="1463040"/>
            <a:ext cx="7680960" cy="320040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200000"/>
              </a:lnSpc>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High Accuracy - Combines multiple decision trees, improving prediction accuracy.</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200000"/>
              </a:lnSpc>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Handles Non-Linear Data - Medical data is complex; Random Forest captures these patterns effectively.</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200000"/>
              </a:lnSpc>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Reduces Overfitting - Averaging results from many trees avoids overfitting.</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200000"/>
              </a:lnSpc>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Works Well with Medical Datasets - Efficient even with missing values and mixed data types.</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200000"/>
              </a:lnSpc>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Feature Importance - Identifies important health parameters like cholesterol, blood pressure, and age.</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200000"/>
              </a:lnSpc>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Robust and Reliable - Suitable for real-world healthcare applications.</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0"/>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0"/>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0"/>
          <p:cNvSpPr/>
          <p:nvPr/>
        </p:nvSpPr>
        <p:spPr>
          <a:xfrm>
            <a:off x="457200" y="731520"/>
            <a:ext cx="82296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2800"/>
              <a:buFont typeface="Arial" panose="020B0604020202020204"/>
              <a:buNone/>
            </a:pPr>
            <a:r>
              <a:rPr lang="en-US" sz="2800" b="1" i="0" u="none" strike="noStrike" cap="none">
                <a:solidFill>
                  <a:srgbClr val="1A5F7A"/>
                </a:solidFill>
                <a:latin typeface="Arial" panose="020B0604020202020204"/>
                <a:ea typeface="Arial" panose="020B0604020202020204"/>
                <a:cs typeface="Arial" panose="020B0604020202020204"/>
                <a:sym typeface="Arial" panose="020B0604020202020204"/>
              </a:rPr>
              <a:t>FUNCTIONAL AND NON-FUNCTIONAL REQUIREMENTS</a:t>
            </a:r>
            <a:endParaRPr sz="2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6" name="Google Shape;106;p10"/>
          <p:cNvSpPr/>
          <p:nvPr>
            <p:custDataLst>
              <p:tags r:id="rId1"/>
            </p:custDataLst>
          </p:nvPr>
        </p:nvSpPr>
        <p:spPr>
          <a:xfrm>
            <a:off x="539750" y="1851660"/>
            <a:ext cx="4114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5F7A"/>
              </a:buClr>
              <a:buSzPts val="1600"/>
              <a:buFont typeface="Arial" panose="020B0604020202020204"/>
              <a:buNone/>
            </a:pPr>
            <a:r>
              <a:rPr lang="en-US" sz="1600" b="1" i="0" u="none" strike="noStrike" cap="none">
                <a:solidFill>
                  <a:srgbClr val="1A5F7A"/>
                </a:solidFill>
                <a:latin typeface="Arial" panose="020B0604020202020204"/>
                <a:ea typeface="Arial" panose="020B0604020202020204"/>
                <a:cs typeface="Arial" panose="020B0604020202020204"/>
                <a:sym typeface="Arial" panose="020B0604020202020204"/>
              </a:rPr>
              <a:t>FUNCTIONAL REQUIREMENTS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7" name="Google Shape;107;p10"/>
          <p:cNvSpPr/>
          <p:nvPr>
            <p:custDataLst>
              <p:tags r:id="rId2"/>
            </p:custDataLst>
          </p:nvPr>
        </p:nvSpPr>
        <p:spPr>
          <a:xfrm>
            <a:off x="731520" y="1920240"/>
            <a:ext cx="3657600" cy="256032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Input patient medical details</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Validate input data</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Preprocess medical data</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Apply Random Forest algorithm</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Predict heart disease risk</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Display prediction results</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8" name="Google Shape;108;p10"/>
          <p:cNvSpPr/>
          <p:nvPr>
            <p:custDataLst>
              <p:tags r:id="rId3"/>
            </p:custDataLst>
          </p:nvPr>
        </p:nvSpPr>
        <p:spPr>
          <a:xfrm>
            <a:off x="4754880" y="1779270"/>
            <a:ext cx="4114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5F7A"/>
              </a:buClr>
              <a:buSzPts val="1600"/>
              <a:buFont typeface="Arial" panose="020B0604020202020204"/>
              <a:buNone/>
            </a:pPr>
            <a:r>
              <a:rPr lang="en-US" sz="1600" b="1" i="0" u="none" strike="noStrike" cap="none">
                <a:solidFill>
                  <a:srgbClr val="1A5F7A"/>
                </a:solidFill>
                <a:latin typeface="Arial" panose="020B0604020202020204"/>
                <a:ea typeface="Arial" panose="020B0604020202020204"/>
                <a:cs typeface="Arial" panose="020B0604020202020204"/>
                <a:sym typeface="Arial" panose="020B0604020202020204"/>
              </a:rPr>
              <a:t>NON-FUNCTIONAL REQUIREMENTS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9" name="Google Shape;109;p10"/>
          <p:cNvSpPr/>
          <p:nvPr>
            <p:custDataLst>
              <p:tags r:id="rId4"/>
            </p:custDataLst>
          </p:nvPr>
        </p:nvSpPr>
        <p:spPr>
          <a:xfrm>
            <a:off x="4937760" y="1920240"/>
            <a:ext cx="3657600" cy="256032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High prediction accuracy</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Fast response time</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Scalability</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Data security and privacy</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Reliability and robustness</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rgbClr val="1E293B"/>
              </a:buClr>
              <a:buSzPts val="1200"/>
              <a:buFont typeface="Arial" panose="020B0604020202020204"/>
              <a:buChar char="•"/>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User-friendly interface</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1"/>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1"/>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a:off x="457200" y="731520"/>
            <a:ext cx="82296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2800"/>
              <a:buFont typeface="Arial" panose="020B0604020202020204"/>
              <a:buNone/>
            </a:pPr>
            <a:r>
              <a:rPr lang="en-US" sz="2800" b="1" i="0" u="none" strike="noStrike" cap="none">
                <a:solidFill>
                  <a:srgbClr val="1A5F7A"/>
                </a:solidFill>
                <a:latin typeface="Arial" panose="020B0604020202020204"/>
                <a:ea typeface="Arial" panose="020B0604020202020204"/>
                <a:cs typeface="Arial" panose="020B0604020202020204"/>
                <a:sym typeface="Arial" panose="020B0604020202020204"/>
              </a:rPr>
              <a:t>SOFTWARE AND HARDWARE REQUIREMENTS</a:t>
            </a:r>
            <a:endParaRPr sz="2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8" name="Google Shape;118;p11"/>
          <p:cNvSpPr/>
          <p:nvPr/>
        </p:nvSpPr>
        <p:spPr>
          <a:xfrm>
            <a:off x="539750" y="1851660"/>
            <a:ext cx="4114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5F7A"/>
              </a:buClr>
              <a:buSzPts val="1600"/>
              <a:buFont typeface="Arial" panose="020B0604020202020204"/>
              <a:buNone/>
            </a:pPr>
            <a:r>
              <a:rPr lang="en-US" sz="1600" b="1" i="0" u="none" strike="noStrike" cap="none">
                <a:solidFill>
                  <a:srgbClr val="1A5F7A"/>
                </a:solidFill>
                <a:latin typeface="Arial" panose="020B0604020202020204"/>
                <a:ea typeface="Arial" panose="020B0604020202020204"/>
                <a:cs typeface="Arial" panose="020B0604020202020204"/>
                <a:sym typeface="Arial" panose="020B0604020202020204"/>
              </a:rPr>
              <a:t>SOFTWARE REQUIREMENTS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9" name="Google Shape;119;p11"/>
          <p:cNvSpPr/>
          <p:nvPr/>
        </p:nvSpPr>
        <p:spPr>
          <a:xfrm>
            <a:off x="731520" y="1920240"/>
            <a:ext cx="3840480" cy="2560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93B"/>
              </a:buClr>
              <a:buSzPts val="1100"/>
              <a:buFont typeface="Arial" panose="020B0604020202020204"/>
              <a:buNone/>
            </a:pPr>
            <a:r>
              <a:rPr lang="en-US" sz="1100" b="0" i="0" u="none" strike="noStrike" cap="none">
                <a:solidFill>
                  <a:srgbClr val="1E293B"/>
                </a:solidFill>
                <a:latin typeface="Arial" panose="020B0604020202020204"/>
                <a:ea typeface="Arial" panose="020B0604020202020204"/>
                <a:cs typeface="Arial" panose="020B0604020202020204"/>
                <a:sym typeface="Arial" panose="020B0604020202020204"/>
              </a:rPr>
              <a:t>Operating System: Windows</a:t>
            </a:r>
            <a:endParaRPr sz="1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100"/>
              <a:buFont typeface="Arial" panose="020B0604020202020204"/>
              <a:buNone/>
            </a:pPr>
            <a:r>
              <a:rPr lang="en-US" sz="1100" b="0" i="0" u="none" strike="noStrike" cap="none">
                <a:solidFill>
                  <a:srgbClr val="1E293B"/>
                </a:solidFill>
                <a:latin typeface="Arial" panose="020B0604020202020204"/>
                <a:ea typeface="Arial" panose="020B0604020202020204"/>
                <a:cs typeface="Arial" panose="020B0604020202020204"/>
                <a:sym typeface="Arial" panose="020B0604020202020204"/>
              </a:rPr>
              <a:t>Programming Language: Python 3.9, Kotlin</a:t>
            </a:r>
            <a:endParaRPr sz="1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100"/>
              <a:buFont typeface="Arial" panose="020B0604020202020204"/>
              <a:buNone/>
            </a:pPr>
            <a:r>
              <a:rPr lang="en-US" sz="1100" b="0" i="0" u="none" strike="noStrike" cap="none">
                <a:solidFill>
                  <a:srgbClr val="1E293B"/>
                </a:solidFill>
                <a:latin typeface="Arial" panose="020B0604020202020204"/>
                <a:ea typeface="Arial" panose="020B0604020202020204"/>
                <a:cs typeface="Arial" panose="020B0604020202020204"/>
                <a:sym typeface="Arial" panose="020B0604020202020204"/>
              </a:rPr>
              <a:t>Backend Framework: Flask / FastAPI</a:t>
            </a:r>
            <a:endParaRPr sz="1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100"/>
              <a:buFont typeface="Arial" panose="020B0604020202020204"/>
              <a:buNone/>
            </a:pPr>
            <a:r>
              <a:rPr lang="en-US" sz="1100" b="0" i="0" u="none" strike="noStrike" cap="none">
                <a:solidFill>
                  <a:srgbClr val="1E293B"/>
                </a:solidFill>
                <a:latin typeface="Arial" panose="020B0604020202020204"/>
                <a:ea typeface="Arial" panose="020B0604020202020204"/>
                <a:cs typeface="Arial" panose="020B0604020202020204"/>
                <a:sym typeface="Arial" panose="020B0604020202020204"/>
              </a:rPr>
              <a:t>Frontend: HTML, CSS, JavaScript</a:t>
            </a:r>
            <a:endParaRPr sz="1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100"/>
              <a:buFont typeface="Arial" panose="020B0604020202020204"/>
              <a:buNone/>
            </a:pPr>
            <a:r>
              <a:rPr lang="en-US" sz="1100" b="0" i="0" u="none" strike="noStrike" cap="none">
                <a:solidFill>
                  <a:srgbClr val="1E293B"/>
                </a:solidFill>
                <a:latin typeface="Arial" panose="020B0604020202020204"/>
                <a:ea typeface="Arial" panose="020B0604020202020204"/>
                <a:cs typeface="Arial" panose="020B0604020202020204"/>
                <a:sym typeface="Arial" panose="020B0604020202020204"/>
              </a:rPr>
              <a:t>Android Studio (Latest stable version)</a:t>
            </a:r>
            <a:endParaRPr sz="1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100"/>
              <a:buFont typeface="Arial" panose="020B0604020202020204"/>
              <a:buNone/>
            </a:pPr>
            <a:r>
              <a:rPr lang="en-US" sz="1100" b="0" i="0" u="none" strike="noStrike" cap="none">
                <a:solidFill>
                  <a:srgbClr val="1E293B"/>
                </a:solidFill>
                <a:latin typeface="Arial" panose="020B0604020202020204"/>
                <a:ea typeface="Arial" panose="020B0604020202020204"/>
                <a:cs typeface="Arial" panose="020B0604020202020204"/>
                <a:sym typeface="Arial" panose="020B0604020202020204"/>
              </a:rPr>
              <a:t>Android SDK</a:t>
            </a:r>
            <a:endParaRPr sz="1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100"/>
              <a:buFont typeface="Arial" panose="020B0604020202020204"/>
              <a:buNone/>
            </a:pPr>
            <a:r>
              <a:rPr lang="en-US" sz="1100" b="0" i="0" u="none" strike="noStrike" cap="none">
                <a:solidFill>
                  <a:srgbClr val="1E293B"/>
                </a:solidFill>
                <a:latin typeface="Arial" panose="020B0604020202020204"/>
                <a:ea typeface="Arial" panose="020B0604020202020204"/>
                <a:cs typeface="Arial" panose="020B0604020202020204"/>
                <a:sym typeface="Arial" panose="020B0604020202020204"/>
              </a:rPr>
              <a:t>Libraries: NumPy, Pandas, Scikit-learn, Matplotlib, Seaborn, Flask/Streamlit</a:t>
            </a:r>
            <a:endParaRPr sz="1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0" name="Google Shape;120;p11"/>
          <p:cNvSpPr/>
          <p:nvPr/>
        </p:nvSpPr>
        <p:spPr>
          <a:xfrm>
            <a:off x="4788535" y="1920240"/>
            <a:ext cx="41148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5F7A"/>
              </a:buClr>
              <a:buSzPts val="1600"/>
              <a:buFont typeface="Arial" panose="020B0604020202020204"/>
              <a:buNone/>
            </a:pPr>
            <a:r>
              <a:rPr lang="en-US" sz="1600" b="1" i="0" u="none" strike="noStrike" cap="none">
                <a:solidFill>
                  <a:srgbClr val="1A5F7A"/>
                </a:solidFill>
                <a:latin typeface="Arial" panose="020B0604020202020204"/>
                <a:ea typeface="Arial" panose="020B0604020202020204"/>
                <a:cs typeface="Arial" panose="020B0604020202020204"/>
                <a:sym typeface="Arial" panose="020B0604020202020204"/>
              </a:rPr>
              <a:t>HARDWARE REQUIREMENTS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1" name="Google Shape;121;p11"/>
          <p:cNvSpPr/>
          <p:nvPr/>
        </p:nvSpPr>
        <p:spPr>
          <a:xfrm>
            <a:off x="4937760" y="1920240"/>
            <a:ext cx="3657600" cy="2560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93B"/>
              </a:buClr>
              <a:buSzPts val="1200"/>
              <a:buFont typeface="Arial" panose="020B0604020202020204"/>
              <a:buNone/>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Processor: Intel i5 or higher</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200"/>
              <a:buFont typeface="Arial" panose="020B0604020202020204"/>
              <a:buNone/>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RAM: Minimum 8 GB</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rgbClr val="1E293B"/>
              </a:buClr>
              <a:buSzPts val="1200"/>
              <a:buFont typeface="Arial" panose="020B0604020202020204"/>
              <a:buNone/>
            </a:pPr>
            <a:r>
              <a:rPr lang="en-US" sz="1200" b="0" i="0" u="none" strike="noStrike" cap="none">
                <a:solidFill>
                  <a:srgbClr val="1E293B"/>
                </a:solidFill>
                <a:latin typeface="Arial" panose="020B0604020202020204"/>
                <a:ea typeface="Arial" panose="020B0604020202020204"/>
                <a:cs typeface="Arial" panose="020B0604020202020204"/>
                <a:sym typeface="Arial" panose="020B0604020202020204"/>
              </a:rPr>
              <a:t>Storage: Minimum 50 GB</a:t>
            </a: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4"/>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4"/>
          <p:cNvSpPr/>
          <p:nvPr/>
        </p:nvSpPr>
        <p:spPr>
          <a:xfrm>
            <a:off x="395605" y="457200"/>
            <a:ext cx="82296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a:solidFill>
                  <a:srgbClr val="1A5F7A"/>
                </a:solidFill>
                <a:sym typeface="Arial" panose="020B0604020202020204"/>
              </a:rPr>
              <a:t>SYSTEM ARCHITECTURE</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Picture 1"/>
          <p:cNvPicPr>
            <a:picLocks noChangeAspect="1"/>
          </p:cNvPicPr>
          <p:nvPr/>
        </p:nvPicPr>
        <p:blipFill>
          <a:blip r:embed="rId3"/>
          <a:srcRect/>
          <a:stretch/>
        </p:blipFill>
        <p:spPr>
          <a:xfrm>
            <a:off x="303203" y="1204332"/>
            <a:ext cx="8537594" cy="348196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6"/>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6"/>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6"/>
          <p:cNvSpPr/>
          <p:nvPr/>
        </p:nvSpPr>
        <p:spPr>
          <a:xfrm>
            <a:off x="467360" y="772160"/>
            <a:ext cx="82296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DATA FLOW DIAGRAM</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Picture 1"/>
          <p:cNvPicPr>
            <a:picLocks noChangeAspect="1"/>
          </p:cNvPicPr>
          <p:nvPr/>
        </p:nvPicPr>
        <p:blipFill>
          <a:blip r:embed="rId3"/>
          <a:stretch>
            <a:fillRect/>
          </a:stretch>
        </p:blipFill>
        <p:spPr>
          <a:xfrm>
            <a:off x="1331595" y="1491615"/>
            <a:ext cx="6591935" cy="343090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4"/>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4"/>
          <p:cNvSpPr/>
          <p:nvPr/>
        </p:nvSpPr>
        <p:spPr>
          <a:xfrm>
            <a:off x="395605" y="483870"/>
            <a:ext cx="82296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USE CASE DIAGRAM</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Picture 1"/>
          <p:cNvPicPr>
            <a:picLocks noChangeAspect="1"/>
          </p:cNvPicPr>
          <p:nvPr/>
        </p:nvPicPr>
        <p:blipFill>
          <a:blip r:embed="rId3"/>
          <a:stretch>
            <a:fillRect/>
          </a:stretch>
        </p:blipFill>
        <p:spPr>
          <a:xfrm>
            <a:off x="1979930" y="1059815"/>
            <a:ext cx="5038725" cy="405320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4"/>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4"/>
          <p:cNvSpPr/>
          <p:nvPr/>
        </p:nvSpPr>
        <p:spPr>
          <a:xfrm>
            <a:off x="340373" y="55232"/>
            <a:ext cx="82296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dirty="0">
                <a:solidFill>
                  <a:srgbClr val="1A5F7A"/>
                </a:solidFill>
                <a:latin typeface="Arial" panose="020B0604020202020204"/>
                <a:ea typeface="Arial" panose="020B0604020202020204"/>
                <a:cs typeface="Arial" panose="020B0604020202020204"/>
                <a:sym typeface="Arial" panose="020B0604020202020204"/>
              </a:rPr>
              <a:t>CLASS DIAGRAM</a:t>
            </a:r>
            <a:endParaRPr sz="3600" b="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4" name="Picture 3">
            <a:extLst>
              <a:ext uri="{FF2B5EF4-FFF2-40B4-BE49-F238E27FC236}">
                <a16:creationId xmlns:a16="http://schemas.microsoft.com/office/drawing/2014/main" id="{3DF5A083-702D-43AC-0684-B5CFF94A7F78}"/>
              </a:ext>
            </a:extLst>
          </p:cNvPr>
          <p:cNvPicPr>
            <a:picLocks noChangeAspect="1"/>
          </p:cNvPicPr>
          <p:nvPr/>
        </p:nvPicPr>
        <p:blipFill>
          <a:blip r:embed="rId3"/>
          <a:stretch>
            <a:fillRect/>
          </a:stretch>
        </p:blipFill>
        <p:spPr>
          <a:xfrm>
            <a:off x="797799" y="457200"/>
            <a:ext cx="6910163" cy="458197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4"/>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4"/>
          <p:cNvSpPr/>
          <p:nvPr/>
        </p:nvSpPr>
        <p:spPr>
          <a:xfrm>
            <a:off x="323850" y="51435"/>
            <a:ext cx="82296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ACTIVITY DIAGRAM</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Picture 1">
            <a:hlinkClick r:id="rId3" action="ppaction://hlinkfile"/>
          </p:cNvPr>
          <p:cNvPicPr>
            <a:picLocks noChangeAspect="1"/>
          </p:cNvPicPr>
          <p:nvPr/>
        </p:nvPicPr>
        <p:blipFill>
          <a:blip r:embed="rId4"/>
          <a:srcRect/>
          <a:stretch/>
        </p:blipFill>
        <p:spPr>
          <a:xfrm>
            <a:off x="3040566" y="659304"/>
            <a:ext cx="2820719" cy="443276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6"/>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6"/>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6"/>
          <p:cNvSpPr/>
          <p:nvPr/>
        </p:nvSpPr>
        <p:spPr>
          <a:xfrm>
            <a:off x="467360" y="772160"/>
            <a:ext cx="82296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SEQUENCE DIAGRAM</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6" name="Picture 5">
            <a:extLst>
              <a:ext uri="{FF2B5EF4-FFF2-40B4-BE49-F238E27FC236}">
                <a16:creationId xmlns:a16="http://schemas.microsoft.com/office/drawing/2014/main" id="{7EBEA447-9924-E8B1-60F7-9B7A47575ECE}"/>
              </a:ext>
            </a:extLst>
          </p:cNvPr>
          <p:cNvPicPr>
            <a:picLocks noChangeAspect="1"/>
          </p:cNvPicPr>
          <p:nvPr/>
        </p:nvPicPr>
        <p:blipFill>
          <a:blip r:embed="rId3"/>
          <a:stretch>
            <a:fillRect/>
          </a:stretch>
        </p:blipFill>
        <p:spPr>
          <a:xfrm>
            <a:off x="1073961" y="1342648"/>
            <a:ext cx="7229282" cy="356284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7"/>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7"/>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7"/>
          <p:cNvSpPr/>
          <p:nvPr/>
        </p:nvSpPr>
        <p:spPr>
          <a:xfrm>
            <a:off x="457200" y="731520"/>
            <a:ext cx="82296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COMPONENT DIAGRAM</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Picture 1"/>
          <p:cNvPicPr>
            <a:picLocks noChangeAspect="1"/>
          </p:cNvPicPr>
          <p:nvPr/>
        </p:nvPicPr>
        <p:blipFill>
          <a:blip r:embed="rId3"/>
          <a:stretch>
            <a:fillRect/>
          </a:stretch>
        </p:blipFill>
        <p:spPr>
          <a:xfrm>
            <a:off x="611505" y="1463040"/>
            <a:ext cx="8110855" cy="341312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8"/>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8"/>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8"/>
          <p:cNvSpPr/>
          <p:nvPr/>
        </p:nvSpPr>
        <p:spPr>
          <a:xfrm>
            <a:off x="457200" y="731520"/>
            <a:ext cx="82296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COLLABORATION DIAGRAM</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Picture 1"/>
          <p:cNvPicPr>
            <a:picLocks noChangeAspect="1"/>
          </p:cNvPicPr>
          <p:nvPr/>
        </p:nvPicPr>
        <p:blipFill>
          <a:blip r:embed="rId3"/>
          <a:stretch>
            <a:fillRect/>
          </a:stretch>
        </p:blipFill>
        <p:spPr>
          <a:xfrm>
            <a:off x="683895" y="1564005"/>
            <a:ext cx="7842885" cy="304355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8"/>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8"/>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8"/>
          <p:cNvSpPr/>
          <p:nvPr/>
        </p:nvSpPr>
        <p:spPr>
          <a:xfrm>
            <a:off x="457200" y="731520"/>
            <a:ext cx="82296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a:solidFill>
                  <a:srgbClr val="1A5F7A"/>
                </a:solidFill>
                <a:latin typeface="Arial" panose="020B0604020202020204"/>
                <a:ea typeface="Arial" panose="020B0604020202020204"/>
                <a:cs typeface="Arial" panose="020B0604020202020204"/>
                <a:sym typeface="Arial" panose="020B0604020202020204"/>
              </a:rPr>
              <a:t>DEPLOYMENT DIAGRAM</a:t>
            </a:r>
            <a:endParaRPr sz="3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Picture 1"/>
          <p:cNvPicPr>
            <a:picLocks noChangeAspect="1"/>
          </p:cNvPicPr>
          <p:nvPr/>
        </p:nvPicPr>
        <p:blipFill>
          <a:blip r:embed="rId3"/>
          <a:stretch>
            <a:fillRect/>
          </a:stretch>
        </p:blipFill>
        <p:spPr>
          <a:xfrm>
            <a:off x="685165" y="1699895"/>
            <a:ext cx="8035290" cy="274701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1"/>
          <p:cNvSpPr/>
          <p:nvPr/>
        </p:nvSpPr>
        <p:spPr>
          <a:xfrm>
            <a:off x="0" y="0"/>
            <a:ext cx="9144000" cy="457200"/>
          </a:xfrm>
          <a:prstGeom prst="rect">
            <a:avLst/>
          </a:prstGeom>
          <a:solidFill>
            <a:srgbClr val="65C3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1"/>
          <p:cNvSpPr/>
          <p:nvPr/>
        </p:nvSpPr>
        <p:spPr>
          <a:xfrm>
            <a:off x="0" y="457200"/>
            <a:ext cx="9144000" cy="274320"/>
          </a:xfrm>
          <a:prstGeom prst="rect">
            <a:avLst/>
          </a:prstGeom>
          <a:solidFill>
            <a:srgbClr val="65C3D0">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1"/>
          <p:cNvSpPr/>
          <p:nvPr/>
        </p:nvSpPr>
        <p:spPr>
          <a:xfrm>
            <a:off x="457200" y="914400"/>
            <a:ext cx="822960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3600"/>
              <a:buFont typeface="Arial" panose="020B0604020202020204"/>
              <a:buNone/>
            </a:pPr>
            <a:r>
              <a:rPr lang="en-US" sz="3600" b="1" i="0" u="none" strike="noStrike" cap="none" dirty="0">
                <a:solidFill>
                  <a:srgbClr val="1A5F7A"/>
                </a:solidFill>
                <a:latin typeface="Arial" panose="020B0604020202020204"/>
                <a:ea typeface="Arial" panose="020B0604020202020204"/>
                <a:cs typeface="Arial" panose="020B0604020202020204"/>
                <a:sym typeface="Arial" panose="020B0604020202020204"/>
              </a:rPr>
              <a:t>REFERENCES</a:t>
            </a:r>
            <a:endParaRPr sz="3600" b="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4" name="Google Shape;184;p21"/>
          <p:cNvSpPr/>
          <p:nvPr/>
        </p:nvSpPr>
        <p:spPr>
          <a:xfrm>
            <a:off x="731520" y="1645920"/>
            <a:ext cx="7680960" cy="30175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93B"/>
              </a:buClr>
              <a:buSzPts val="1200"/>
              <a:buFont typeface="Arial" panose="020B0604020202020204"/>
              <a:buNone/>
            </a:pPr>
            <a:endParaRPr sz="1200" b="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 name="TextBox 1">
            <a:extLst>
              <a:ext uri="{FF2B5EF4-FFF2-40B4-BE49-F238E27FC236}">
                <a16:creationId xmlns:a16="http://schemas.microsoft.com/office/drawing/2014/main" id="{8B4FE677-EA7D-6E70-A8F6-7C6429AA5E69}"/>
              </a:ext>
            </a:extLst>
          </p:cNvPr>
          <p:cNvSpPr txBox="1"/>
          <p:nvPr/>
        </p:nvSpPr>
        <p:spPr>
          <a:xfrm>
            <a:off x="719246" y="1652057"/>
            <a:ext cx="7854021" cy="2677656"/>
          </a:xfrm>
          <a:prstGeom prst="rect">
            <a:avLst/>
          </a:prstGeom>
          <a:noFill/>
        </p:spPr>
        <p:txBody>
          <a:bodyPr wrap="square" rtlCol="0">
            <a:spAutoFit/>
          </a:bodyPr>
          <a:lstStyle/>
          <a:p>
            <a:pPr fontAlgn="t"/>
            <a:r>
              <a:rPr lang="en-US" dirty="0"/>
              <a:t> 1. Cleveland et al. (2024</a:t>
            </a:r>
            <a:r>
              <a:rPr lang="en-IN" dirty="0"/>
              <a:t>) - </a:t>
            </a:r>
            <a:r>
              <a:rPr lang="en-US" dirty="0"/>
              <a:t>Heart Disease Prediction Using Logistic Regression.</a:t>
            </a:r>
            <a:endParaRPr lang="en-IN" dirty="0"/>
          </a:p>
          <a:p>
            <a:pPr fontAlgn="t"/>
            <a:r>
              <a:rPr lang="en-US" dirty="0"/>
              <a:t> 2. Patel et al. (2023) - SVM-Based Heart Disease Risk Assessment.</a:t>
            </a:r>
            <a:endParaRPr lang="en-IN" dirty="0"/>
          </a:p>
          <a:p>
            <a:pPr fontAlgn="t"/>
            <a:r>
              <a:rPr lang="en-US" dirty="0"/>
              <a:t> 3. Kumar et al. (2023) - Decision Tree Model for Heart Disease Diagnosis.</a:t>
            </a:r>
            <a:endParaRPr lang="en-IN" dirty="0"/>
          </a:p>
          <a:p>
            <a:r>
              <a:rPr lang="en-US" dirty="0"/>
              <a:t> 4. </a:t>
            </a:r>
            <a:r>
              <a:rPr lang="en-IN" dirty="0"/>
              <a:t>Ch. Anwar et al. (</a:t>
            </a:r>
            <a:r>
              <a:rPr lang="en-US" dirty="0"/>
              <a:t>2022</a:t>
            </a:r>
            <a:r>
              <a:rPr lang="en-IN" dirty="0"/>
              <a:t>) - </a:t>
            </a:r>
            <a:r>
              <a:rPr lang="en-US" dirty="0"/>
              <a:t>Effectively Predicting the Presence of Coronary Heart Disease</a:t>
            </a:r>
            <a:endParaRPr lang="en-IN" dirty="0"/>
          </a:p>
          <a:p>
            <a:pPr fontAlgn="t"/>
            <a:r>
              <a:rPr lang="en-US" dirty="0"/>
              <a:t>      Using Machine Learning Classiﬁer</a:t>
            </a:r>
            <a:r>
              <a:rPr lang="en-IN" dirty="0"/>
              <a:t>s.</a:t>
            </a:r>
          </a:p>
          <a:p>
            <a:pPr fontAlgn="t"/>
            <a:r>
              <a:rPr lang="en-US" dirty="0"/>
              <a:t> 5. </a:t>
            </a:r>
            <a:r>
              <a:rPr lang="en-IN" dirty="0"/>
              <a:t>Jaswanth Narayana et al. (</a:t>
            </a:r>
            <a:r>
              <a:rPr lang="en-US" dirty="0"/>
              <a:t>2022</a:t>
            </a:r>
            <a:r>
              <a:rPr lang="en-IN" dirty="0"/>
              <a:t>) - </a:t>
            </a:r>
            <a:r>
              <a:rPr lang="en-US" dirty="0"/>
              <a:t>Heart Disease Prediction Using </a:t>
            </a:r>
            <a:r>
              <a:rPr lang="en-IN" dirty="0"/>
              <a:t>Machine Learning.</a:t>
            </a:r>
          </a:p>
          <a:p>
            <a:pPr fontAlgn="t"/>
            <a:r>
              <a:rPr lang="en-US" dirty="0"/>
              <a:t> 6. Ahmad Shak</a:t>
            </a:r>
            <a:r>
              <a:rPr lang="en-IN" dirty="0"/>
              <a:t>et al. (</a:t>
            </a:r>
            <a:r>
              <a:rPr lang="en-US" dirty="0"/>
              <a:t>2022</a:t>
            </a:r>
            <a:r>
              <a:rPr lang="en-IN" dirty="0"/>
              <a:t>) - </a:t>
            </a:r>
            <a:r>
              <a:rPr lang="en-US" dirty="0"/>
              <a:t>Machine learning models for prediction of co-occurrence of diabetes and cardiovascular diseases.</a:t>
            </a:r>
            <a:endParaRPr lang="en-IN" dirty="0"/>
          </a:p>
          <a:p>
            <a:pPr fontAlgn="t"/>
            <a:r>
              <a:rPr lang="en-US" dirty="0"/>
              <a:t> 7. Sharma et al. (2022) -  Heart Disease Prediction.</a:t>
            </a:r>
            <a:endParaRPr lang="en-IN" dirty="0"/>
          </a:p>
          <a:p>
            <a:pPr fontAlgn="t"/>
            <a:r>
              <a:rPr lang="en-IN" dirty="0"/>
              <a:t> 8. Adarsh Sharma et al. (2021) - </a:t>
            </a:r>
            <a:r>
              <a:rPr lang="en-US" dirty="0"/>
              <a:t>Heart Disease Prediction: A Comparative Analysis of Machine Learning Algorithms.</a:t>
            </a:r>
            <a:endParaRPr lang="en-IN" dirty="0"/>
          </a:p>
          <a:p>
            <a:pPr fontAlgn="t"/>
            <a:r>
              <a:rPr lang="en-IN" dirty="0"/>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65C3D0"/>
        </a:solidFill>
        <a:effectLst/>
      </p:bgPr>
    </p:bg>
    <p:spTree>
      <p:nvGrpSpPr>
        <p:cNvPr id="1" name="Shape 189"/>
        <p:cNvGrpSpPr/>
        <p:nvPr/>
      </p:nvGrpSpPr>
      <p:grpSpPr>
        <a:xfrm>
          <a:off x="0" y="0"/>
          <a:ext cx="0" cy="0"/>
          <a:chOff x="0" y="0"/>
          <a:chExt cx="0" cy="0"/>
        </a:xfrm>
      </p:grpSpPr>
      <p:sp>
        <p:nvSpPr>
          <p:cNvPr id="190" name="Google Shape;190;p22"/>
          <p:cNvSpPr/>
          <p:nvPr/>
        </p:nvSpPr>
        <p:spPr>
          <a:xfrm>
            <a:off x="914400" y="2011680"/>
            <a:ext cx="7315200" cy="9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5F7A"/>
              </a:buClr>
              <a:buSzPts val="4800"/>
              <a:buFont typeface="Arial" panose="020B0604020202020204"/>
              <a:buNone/>
            </a:pPr>
            <a:r>
              <a:rPr lang="en-US" sz="4800" b="1" i="0" u="none" strike="noStrike" cap="none">
                <a:solidFill>
                  <a:srgbClr val="1A5F7A"/>
                </a:solidFill>
                <a:latin typeface="Arial" panose="020B0604020202020204"/>
                <a:ea typeface="Arial" panose="020B0604020202020204"/>
                <a:cs typeface="Arial" panose="020B0604020202020204"/>
                <a:sym typeface="Arial" panose="020B0604020202020204"/>
              </a:rPr>
              <a:t>Thank you !</a:t>
            </a:r>
            <a:endParaRPr sz="4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662*332"/>
  <p:tag name="TABLE_ENDDRAG_RECT" val="21*57*662*332"/>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37.6,&quot;left&quot;:36,&quot;top&quot;:115.2,&quot;width&quot;:662.4}"/>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37.6,&quot;left&quot;:36,&quot;top&quot;:115.2,&quot;width&quot;:662.4}"/>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37.6,&quot;left&quot;:36,&quot;top&quot;:115.2,&quot;width&quot;:662.4}"/>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37.6,&quot;left&quot;:36,&quot;top&quot;:115.2,&quot;width&quot;:662.4}"/>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TotalTime>
  <Words>1355</Words>
  <Application>Microsoft Office PowerPoint</Application>
  <PresentationFormat>On-screen Show (16:9)</PresentationFormat>
  <Paragraphs>214</Paragraphs>
  <Slides>23</Slides>
  <Notes>23</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23</vt:i4>
      </vt:variant>
    </vt:vector>
  </HeadingPairs>
  <TitlesOfParts>
    <vt:vector size="28" baseType="lpstr">
      <vt:lpstr>Arial</vt:lpstr>
      <vt:lpstr>Calibri</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Student Project</dc:creator>
  <cp:lastModifiedBy>Lohith A</cp:lastModifiedBy>
  <cp:revision>13</cp:revision>
  <dcterms:created xsi:type="dcterms:W3CDTF">2026-02-07T06:46:00Z</dcterms:created>
  <dcterms:modified xsi:type="dcterms:W3CDTF">2026-02-18T07:16:14Z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AD8BAAF05D3743BA99F40239510D2001_12</vt:lpwstr>
  </property>
  <property fmtid="{D5CDD505-2E9C-101B-9397-08002B2CF9AE}" pid="3" name="KSOProductBuildVer">
    <vt:lpwstr>1033-12.2.0.23196</vt:lpwstr>
  </property>
</Properties>
</file>