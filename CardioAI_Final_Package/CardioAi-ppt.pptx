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1" r:id="rId7"/>
    <p:sldId id="262" r:id="rId8"/>
    <p:sldId id="269" r:id="rId9"/>
    <p:sldId id="270" r:id="rId10"/>
    <p:sldId id="263" r:id="rId11"/>
    <p:sldId id="271" r:id="rId12"/>
    <p:sldId id="276" r:id="rId13"/>
    <p:sldId id="275" r:id="rId14"/>
    <p:sldId id="266" r:id="rId15"/>
    <p:sldId id="267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46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03572" y="850468"/>
            <a:ext cx="3205353" cy="702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9784" y="1904110"/>
            <a:ext cx="1932432" cy="16874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95240" y="3630929"/>
            <a:ext cx="30587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Under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Esteemed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Guidance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Dr/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Mr/Mrs/Ms.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Guide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Name </a:t>
            </a:r>
            <a:r>
              <a:rPr sz="1800" b="1" spc="-10" dirty="0">
                <a:latin typeface="Times New Roman"/>
                <a:cs typeface="Times New Roman"/>
              </a:rPr>
              <a:t>Designation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Submitted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619" rIns="0" bIns="0" rtlCol="0">
            <a:spAutoFit/>
          </a:bodyPr>
          <a:lstStyle/>
          <a:p>
            <a:pPr marL="15779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4210D"/>
                </a:solidFill>
              </a:rPr>
              <a:t>Project</a:t>
            </a:r>
            <a:r>
              <a:rPr sz="2400" spc="-120" dirty="0">
                <a:solidFill>
                  <a:srgbClr val="C4210D"/>
                </a:solidFill>
              </a:rPr>
              <a:t> </a:t>
            </a:r>
            <a:r>
              <a:rPr sz="2400" spc="-20" dirty="0">
                <a:solidFill>
                  <a:srgbClr val="C4210D"/>
                </a:solidFill>
              </a:rPr>
              <a:t>Title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3915917" y="4898263"/>
            <a:ext cx="7112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Name1 Name2 Name3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2694" y="4898263"/>
            <a:ext cx="10369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(Roll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No1) </a:t>
            </a:r>
            <a:r>
              <a:rPr sz="1800" b="1" dirty="0">
                <a:latin typeface="Times New Roman"/>
                <a:cs typeface="Times New Roman"/>
              </a:rPr>
              <a:t>(Roll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No2) </a:t>
            </a:r>
            <a:r>
              <a:rPr sz="1800" b="1" dirty="0">
                <a:latin typeface="Times New Roman"/>
                <a:cs typeface="Times New Roman"/>
              </a:rPr>
              <a:t>(Roll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No3)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176D-B55E-4B9B-DA53-A89EF8A0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929" y="1371600"/>
            <a:ext cx="7391400" cy="762000"/>
          </a:xfrm>
        </p:spPr>
        <p:txBody>
          <a:bodyPr/>
          <a:lstStyle/>
          <a:p>
            <a:r>
              <a:rPr lang="en-IN" b="1" dirty="0"/>
              <a:t>     </a:t>
            </a:r>
            <a:r>
              <a:rPr lang="en-IN" b="1" dirty="0" err="1"/>
              <a:t>CardioAI</a:t>
            </a:r>
            <a:r>
              <a:rPr lang="en-IN" b="1" dirty="0"/>
              <a:t> – Intelligent Heart Disease Risk Prediction System</a:t>
            </a:r>
            <a:br>
              <a:rPr lang="en-IN" b="1" dirty="0"/>
            </a:b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016B1-40F8-DFFF-739F-CF38F23AF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94964" y="2514600"/>
            <a:ext cx="7391400" cy="332398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 AI-driven clinical decision support platform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Uses Machine Learning for early cardiovascular risk assessment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Provides personalized clinical, dietary, and lifestyle insights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r>
              <a:rPr lang="en-IN" b="1" dirty="0"/>
              <a:t>Technology Stack:</a:t>
            </a:r>
          </a:p>
          <a:p>
            <a:br>
              <a:rPr lang="en-IN" dirty="0"/>
            </a:br>
            <a:r>
              <a:rPr lang="en-IN" dirty="0" err="1"/>
              <a:t>FastAPI</a:t>
            </a:r>
            <a:r>
              <a:rPr lang="en-IN" dirty="0"/>
              <a:t> | Machine Learning | Random Forest | Web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3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CONTENTS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5007" y="1835911"/>
            <a:ext cx="254000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Survey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Table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Hardware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Requirements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Requirements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imes New Roman"/>
                <a:cs typeface="Times New Roman"/>
              </a:rPr>
              <a:t>Libraries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DFD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Diagrams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UML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Diagrams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Proposed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System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imes New Roman"/>
                <a:cs typeface="Times New Roman"/>
              </a:rPr>
              <a:t>System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Architecture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3572" y="850468"/>
            <a:ext cx="4026028" cy="652409"/>
          </a:xfrm>
          <a:prstGeom prst="rect">
            <a:avLst/>
          </a:prstGeom>
        </p:spPr>
        <p:txBody>
          <a:bodyPr vert="horz" wrap="square" lIns="0" tIns="158419" rIns="0" bIns="0" rtlCol="0">
            <a:spAutoFit/>
          </a:bodyPr>
          <a:lstStyle/>
          <a:p>
            <a:pPr marL="1050925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1D0B6-60CC-918C-EB4E-D0A4172D430A}"/>
              </a:ext>
            </a:extLst>
          </p:cNvPr>
          <p:cNvSpPr txBox="1"/>
          <p:nvPr/>
        </p:nvSpPr>
        <p:spPr>
          <a:xfrm>
            <a:off x="1600200" y="1905000"/>
            <a:ext cx="950400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Cardiovascular diseases remain one of the leading causes of mortality worldwide. Early detection and preventive intervention are critical in reducing fatal outcomes. </a:t>
            </a:r>
            <a:r>
              <a:rPr lang="en-US" dirty="0" err="1"/>
              <a:t>CardioAI</a:t>
            </a:r>
            <a:r>
              <a:rPr lang="en-US" dirty="0"/>
              <a:t> is an intelligent healthcare platform designed to predict heart disease risk using machine learning techniques. The system leverages a Random Forest classification model trained on real-world clinical data to assess patient risk levels with high accuracy. A web-based dashboard allows users to input physiological parameters, upload medical reports, and receive real-time diagnostic insights along with personalized clinical, dietary, and lifestyle recommendations. The system ensures data security through encryption mechanisms and provides analytics to track population health trends. </a:t>
            </a:r>
            <a:r>
              <a:rPr lang="en-US" dirty="0" err="1"/>
              <a:t>CardioAI</a:t>
            </a:r>
            <a:r>
              <a:rPr lang="en-US" dirty="0"/>
              <a:t> aims to assist healthcare professionals and individuals in proactive heart health management.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4800" y="838200"/>
            <a:ext cx="4102228" cy="635559"/>
          </a:xfrm>
          <a:prstGeom prst="rect">
            <a:avLst/>
          </a:prstGeom>
        </p:spPr>
        <p:txBody>
          <a:bodyPr vert="horz" wrap="square" lIns="0" tIns="141732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INTRODUCTION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A32F387-5BF0-BA36-BE29-AD00B228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577974"/>
            <a:ext cx="7924800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 disease is a major global health concern with increasing incidence.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diagnosis relies on multiple clinical tests and expert interpretation.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assessment is time-consuming and prone to human error.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enables early prediction using historical data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CardioAI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integrates Machine Learning with a secure web platform to:</a:t>
            </a:r>
          </a:p>
          <a:p>
            <a:pPr marL="285750" indent="-28575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Predict heart disease risk</a:t>
            </a:r>
          </a:p>
          <a:p>
            <a:pPr marL="285750" lvl="3" indent="-28575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Analyze clinical biomarkers</a:t>
            </a:r>
          </a:p>
          <a:p>
            <a:pPr marL="285750" lvl="3" indent="-28575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Provide personalized recommendations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supports preventive healthcare and decision-making.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67768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090">
                  <a:extLst>
                    <a:ext uri="{9D8B030D-6E8A-4147-A177-3AD203B41FA5}">
                      <a16:colId xmlns:a16="http://schemas.microsoft.com/office/drawing/2014/main" val="2341603062"/>
                    </a:ext>
                  </a:extLst>
                </a:gridCol>
                <a:gridCol w="1631090">
                  <a:extLst>
                    <a:ext uri="{9D8B030D-6E8A-4147-A177-3AD203B41FA5}">
                      <a16:colId xmlns:a16="http://schemas.microsoft.com/office/drawing/2014/main" val="955049396"/>
                    </a:ext>
                  </a:extLst>
                </a:gridCol>
                <a:gridCol w="2417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5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8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5108">
                <a:tc>
                  <a:txBody>
                    <a:bodyPr/>
                    <a:lstStyle/>
                    <a:p>
                      <a:pPr marL="97155" marR="89535" indent="711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 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421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1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Year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1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10D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Dataset</a:t>
                      </a: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1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Accuracy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1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Limitations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</a:t>
                      </a:r>
                      <a:br>
                        <a:rPr lang="en-IN" sz="1800" dirty="0">
                          <a:latin typeface="Times New Roman"/>
                          <a:cs typeface="Times New Roman"/>
                        </a:rPr>
                      </a:br>
                      <a:br>
                        <a:rPr lang="en-IN" sz="1800" dirty="0">
                          <a:latin typeface="Times New Roman"/>
                          <a:cs typeface="Times New Roman"/>
                        </a:rPr>
                      </a:b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 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Cleveland et al.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UCI Heart Dataset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~77%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feature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099656"/>
                  </a:ext>
                </a:extLst>
              </a:tr>
              <a:tr h="8713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  </a:t>
                      </a:r>
                      <a:br>
                        <a:rPr lang="en-IN" sz="1800" dirty="0">
                          <a:latin typeface="Times New Roman"/>
                          <a:cs typeface="Times New Roman"/>
                        </a:rPr>
                      </a:b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 2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Patel et al.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SVM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Clinical Records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81%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 computation cost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11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br>
                        <a:rPr lang="en-IN" sz="1800" dirty="0">
                          <a:latin typeface="Times New Roman"/>
                          <a:cs typeface="Times New Roman"/>
                        </a:rPr>
                      </a:b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 3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Kumar et al.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Decision Trees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Hospital Data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83%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Overfitting issues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</a:t>
                      </a:r>
                      <a:br>
                        <a:rPr lang="en-IN" sz="1800" dirty="0">
                          <a:latin typeface="Times New Roman"/>
                          <a:cs typeface="Times New Roman"/>
                        </a:rPr>
                      </a:br>
                      <a:br>
                        <a:rPr lang="en-IN" sz="1800" dirty="0">
                          <a:latin typeface="Times New Roman"/>
                          <a:cs typeface="Times New Roman"/>
                        </a:rPr>
                      </a:b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 4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Sharma et al.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Neural Networks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ECG + Clinical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85%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Requires large datasets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4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br>
                        <a:rPr lang="en-IN" sz="1800" dirty="0">
                          <a:latin typeface="Times New Roman"/>
                          <a:cs typeface="Times New Roman"/>
                        </a:rPr>
                      </a:b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 5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Proposed System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Random Forest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UCI Dataset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~88%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Requires structured input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1295400"/>
            <a:ext cx="4800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Hardware</a:t>
            </a:r>
            <a:r>
              <a:rPr lang="en-IN" sz="3200" dirty="0"/>
              <a:t>  </a:t>
            </a:r>
            <a:r>
              <a:rPr sz="3200" spc="-10" dirty="0"/>
              <a:t>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DD1780-68B5-883F-D790-720BF9D7A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369735"/>
            <a:ext cx="7010400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Processor: Intel i5 / Ryzen 5 or higher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RAM: Minimum 8 GB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 20 GB free disk space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Display: Standard monitor (Web UI access)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Network: Internet connection (for deployment)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0A7F-7350-5728-69E3-F675B25F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572" y="850469"/>
            <a:ext cx="4940428" cy="9783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/>
                <a:cs typeface="Times New Roman"/>
              </a:rPr>
              <a:t>       </a:t>
            </a:r>
            <a:r>
              <a:rPr lang="en-IN" sz="3200" b="1" dirty="0">
                <a:latin typeface="Times New Roman"/>
                <a:cs typeface="Times New Roman"/>
              </a:rPr>
              <a:t>Software</a:t>
            </a:r>
            <a:r>
              <a:rPr lang="en-IN" sz="3200" b="1" spc="-100" dirty="0">
                <a:latin typeface="Times New Roman"/>
                <a:cs typeface="Times New Roman"/>
              </a:rPr>
              <a:t> </a:t>
            </a:r>
            <a:r>
              <a:rPr lang="en-IN" sz="3200" b="1" spc="-10" dirty="0">
                <a:latin typeface="Times New Roman"/>
                <a:cs typeface="Times New Roman"/>
              </a:rPr>
              <a:t>Requirements</a:t>
            </a:r>
            <a:br>
              <a:rPr lang="en-IN" sz="2000" dirty="0">
                <a:latin typeface="Times New Roman"/>
                <a:cs typeface="Times New Roman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89D40-2EFD-EA48-EFA7-86A3DCEBC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0" y="1828800"/>
            <a:ext cx="8458200" cy="4431983"/>
          </a:xfr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System: Windows / Linux / macOS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 Python 3.9+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Framework: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Web-based Dashboard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Tools: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VS Code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 (API testing)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Tools: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Docker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Uvicorn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335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9A57-29CD-0EB6-061B-4A0FF050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588" y="850468"/>
            <a:ext cx="3603812" cy="800219"/>
          </a:xfrm>
        </p:spPr>
        <p:txBody>
          <a:bodyPr/>
          <a:lstStyle/>
          <a:p>
            <a:r>
              <a:rPr lang="en-IN" sz="3200" spc="-10" dirty="0">
                <a:latin typeface="Times New Roman"/>
                <a:cs typeface="Times New Roman"/>
              </a:rPr>
              <a:t>      Libraries</a:t>
            </a:r>
            <a:br>
              <a:rPr lang="en-IN" sz="2000" dirty="0">
                <a:latin typeface="Times New Roman"/>
                <a:cs typeface="Times New Roman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13179F-F264-5C9A-0478-CDA0016E5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28800" y="1905000"/>
            <a:ext cx="6705600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API development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uvicorn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ASGI server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scikit-learn – Machine Learning model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pandas – Data processing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Numerical operations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joblib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Model serialization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Data validation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python-multipart – File upload handling</a:t>
            </a:r>
          </a:p>
        </p:txBody>
      </p:sp>
    </p:spTree>
    <p:extLst>
      <p:ext uri="{BB962C8B-B14F-4D97-AF65-F5344CB8AC3E}">
        <p14:creationId xmlns:p14="http://schemas.microsoft.com/office/powerpoint/2010/main" val="2692926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542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5CC1B82-C81E-6DBC-69F0-8B2457A7C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905000"/>
            <a:ext cx="83058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heart disease prediction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analysis of physiological 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classification: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Low Risk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Medium Risk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High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Diagnostic confidence scoring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recommendations: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Clinical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Dietary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Lifestyle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data handling with 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 with chatbot assistance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CardioBot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0CEB-F686-8FC7-9CC6-09F91A42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990600"/>
            <a:ext cx="7048500" cy="492443"/>
          </a:xfrm>
        </p:spPr>
        <p:txBody>
          <a:bodyPr/>
          <a:lstStyle/>
          <a:p>
            <a:r>
              <a:rPr lang="en-US" dirty="0"/>
              <a:t>                         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Data Flow Diagram 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2847D2-7ADA-D6F2-DD39-7B35D968D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2672717"/>
            <a:ext cx="6934200" cy="220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2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D148C1-A07B-ADED-F7C8-67AC9FEC3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1409700"/>
            <a:ext cx="66294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94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5DC22E-E9E6-47C4-9A7E-5B7F274B0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295400"/>
            <a:ext cx="7924800" cy="494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17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8802" y="1632204"/>
            <a:ext cx="7401433" cy="38576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812" y="3099816"/>
            <a:ext cx="3191256" cy="12938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36675" y="3234385"/>
            <a:ext cx="228663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9596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00AFEF"/>
                </a:solidFill>
                <a:latin typeface="Times New Roman"/>
                <a:cs typeface="Times New Roman"/>
              </a:rPr>
              <a:t>ANY </a:t>
            </a:r>
            <a:r>
              <a:rPr sz="3200" spc="-10" dirty="0">
                <a:solidFill>
                  <a:srgbClr val="00AFEF"/>
                </a:solidFill>
                <a:latin typeface="Times New Roman"/>
                <a:cs typeface="Times New Roman"/>
              </a:rPr>
              <a:t>QUESTIONS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582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Calibri</vt:lpstr>
      <vt:lpstr>Times New Roman</vt:lpstr>
      <vt:lpstr>Wingdings</vt:lpstr>
      <vt:lpstr>Office Theme</vt:lpstr>
      <vt:lpstr>Project Title</vt:lpstr>
      <vt:lpstr>     CardioAI – Intelligent Heart Disease Risk Prediction System   </vt:lpstr>
      <vt:lpstr>CONTENTS</vt:lpstr>
      <vt:lpstr>ABSTRACT</vt:lpstr>
      <vt:lpstr>INTRODUCTION</vt:lpstr>
      <vt:lpstr>PowerPoint Presentation</vt:lpstr>
      <vt:lpstr>Hardware  Requirements</vt:lpstr>
      <vt:lpstr>       Software Requirements </vt:lpstr>
      <vt:lpstr>      Libraries </vt:lpstr>
      <vt:lpstr>PROPOSED SYSTEM</vt:lpstr>
      <vt:lpstr>                           Data Flow Diagram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SAMEENA PARVEEN</dc:creator>
  <cp:lastModifiedBy>kavya kamatham</cp:lastModifiedBy>
  <cp:revision>2</cp:revision>
  <dcterms:created xsi:type="dcterms:W3CDTF">2026-01-16T06:33:50Z</dcterms:created>
  <dcterms:modified xsi:type="dcterms:W3CDTF">2026-01-16T07:44:12Z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2026-01-16T00:00:00Z</vt:filetime>
  </property>
  <property fmtid="{D5CDD505-2E9C-101B-9397-08002B2CF9AE}" pid="5" name="Producer">
    <vt:lpwstr>Microsoft® Office PowerPoint® 2007</vt:lpwstr>
  </property>
</Properties>
</file>