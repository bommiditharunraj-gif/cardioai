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50" r:id="rId3"/>
  </p:sldMasterIdLst>
  <p:notesMasterIdLst>
    <p:notesMasterId r:id="rId5"/>
  </p:notesMasterIdLst>
  <p:sldIdLst>
    <p:sldId id="256" r:id="rId4"/>
    <p:sldId id="257" r:id="rId6"/>
    <p:sldId id="258" r:id="rId7"/>
    <p:sldId id="259" r:id="rId8"/>
    <p:sldId id="260" r:id="rId9"/>
    <p:sldId id="261" r:id="rId10"/>
    <p:sldId id="277"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9144000" cy="5143500"/>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A58D2B4B-3948-4824-9F31-7F648A82ED31}"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 name="Shape 11"/>
        <p:cNvGrpSpPr/>
        <p:nvPr/>
      </p:nvGrpSpPr>
      <p:grpSpPr>
        <a:xfrm>
          <a:off x="0" y="0"/>
          <a:ext cx="0" cy="0"/>
          <a:chOff x="0" y="0"/>
          <a:chExt cx="0" cy="0"/>
        </a:xfrm>
      </p:grpSpPr>
      <p:sp>
        <p:nvSpPr>
          <p:cNvPr id="12" name="Google Shape;12;p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 name="Google Shape;14;p1: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 name="Shape 21"/>
        <p:cNvGrpSpPr/>
        <p:nvPr/>
      </p:nvGrpSpPr>
      <p:grpSpPr>
        <a:xfrm>
          <a:off x="0" y="0"/>
          <a:ext cx="0" cy="0"/>
          <a:chOff x="0" y="0"/>
          <a:chExt cx="0" cy="0"/>
        </a:xfrm>
      </p:grpSpPr>
      <p:sp>
        <p:nvSpPr>
          <p:cNvPr id="22" name="Google Shape;22;p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 name="Google Shape;23;p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4" name="Google Shape;24;p2: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 name="Shape 30"/>
        <p:cNvGrpSpPr/>
        <p:nvPr/>
      </p:nvGrpSpPr>
      <p:grpSpPr>
        <a:xfrm>
          <a:off x="0" y="0"/>
          <a:ext cx="0" cy="0"/>
          <a:chOff x="0" y="0"/>
          <a:chExt cx="0" cy="0"/>
        </a:xfrm>
      </p:grpSpPr>
      <p:sp>
        <p:nvSpPr>
          <p:cNvPr id="31" name="Google Shape;31;p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 name="Google Shape;32;p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3" name="Google Shape;33;p3: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 name="Shape 39"/>
        <p:cNvGrpSpPr/>
        <p:nvPr/>
      </p:nvGrpSpPr>
      <p:grpSpPr>
        <a:xfrm>
          <a:off x="0" y="0"/>
          <a:ext cx="0" cy="0"/>
          <a:chOff x="0" y="0"/>
          <a:chExt cx="0" cy="0"/>
        </a:xfrm>
      </p:grpSpPr>
      <p:sp>
        <p:nvSpPr>
          <p:cNvPr id="40" name="Google Shape;40;p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 name="Google Shape;41;p4: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2" name="Google Shape;42;p4: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48" name="Shape 48"/>
        <p:cNvGrpSpPr/>
        <p:nvPr/>
      </p:nvGrpSpPr>
      <p:grpSpPr>
        <a:xfrm>
          <a:off x="0" y="0"/>
          <a:ext cx="0" cy="0"/>
          <a:chOff x="0" y="0"/>
          <a:chExt cx="0" cy="0"/>
        </a:xfrm>
      </p:grpSpPr>
      <p:sp>
        <p:nvSpPr>
          <p:cNvPr id="49" name="Google Shape;49;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 name="Google Shape;50;p5: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1" name="Google Shape;51;p5: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57" name="Shape 57"/>
        <p:cNvGrpSpPr/>
        <p:nvPr/>
      </p:nvGrpSpPr>
      <p:grpSpPr>
        <a:xfrm>
          <a:off x="0" y="0"/>
          <a:ext cx="0" cy="0"/>
          <a:chOff x="0" y="0"/>
          <a:chExt cx="0" cy="0"/>
        </a:xfrm>
      </p:grpSpPr>
      <p:sp>
        <p:nvSpPr>
          <p:cNvPr id="58" name="Google Shape;58;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 name="Google Shape;59;p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0" name="Google Shape;60;p6: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57" name="Shape 57"/>
        <p:cNvGrpSpPr/>
        <p:nvPr/>
      </p:nvGrpSpPr>
      <p:grpSpPr>
        <a:xfrm>
          <a:off x="0" y="0"/>
          <a:ext cx="0" cy="0"/>
          <a:chOff x="0" y="0"/>
          <a:chExt cx="0" cy="0"/>
        </a:xfrm>
      </p:grpSpPr>
      <p:sp>
        <p:nvSpPr>
          <p:cNvPr id="58" name="Google Shape;58;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 name="Google Shape;59;p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0" name="Google Shape;60;p6: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66" name="Shape 66"/>
        <p:cNvGrpSpPr/>
        <p:nvPr/>
      </p:nvGrpSpPr>
      <p:grpSpPr>
        <a:xfrm>
          <a:off x="0" y="0"/>
          <a:ext cx="0" cy="0"/>
          <a:chOff x="0" y="0"/>
          <a:chExt cx="0" cy="0"/>
        </a:xfrm>
      </p:grpSpPr>
      <p:sp>
        <p:nvSpPr>
          <p:cNvPr id="67" name="Google Shape;67;p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 name="Google Shape;68;p7: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9" name="Google Shape;69;p7: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77" name="Shape 77"/>
        <p:cNvGrpSpPr/>
        <p:nvPr/>
      </p:nvGrpSpPr>
      <p:grpSpPr>
        <a:xfrm>
          <a:off x="0" y="0"/>
          <a:ext cx="0" cy="0"/>
          <a:chOff x="0" y="0"/>
          <a:chExt cx="0" cy="0"/>
        </a:xfrm>
      </p:grpSpPr>
      <p:sp>
        <p:nvSpPr>
          <p:cNvPr id="78" name="Google Shape;78;p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 name="Google Shape;79;p8: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0" name="Google Shape;80;p8: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88" name="Shape 88"/>
        <p:cNvGrpSpPr/>
        <p:nvPr/>
      </p:nvGrpSpPr>
      <p:grpSpPr>
        <a:xfrm>
          <a:off x="0" y="0"/>
          <a:ext cx="0" cy="0"/>
          <a:chOff x="0" y="0"/>
          <a:chExt cx="0" cy="0"/>
        </a:xfrm>
      </p:grpSpPr>
      <p:sp>
        <p:nvSpPr>
          <p:cNvPr id="89" name="Google Shape;89;p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 name="Google Shape;90;p9: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1" name="Google Shape;91;p9: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97" name="Shape 97"/>
        <p:cNvGrpSpPr/>
        <p:nvPr/>
      </p:nvGrpSpPr>
      <p:grpSpPr>
        <a:xfrm>
          <a:off x="0" y="0"/>
          <a:ext cx="0" cy="0"/>
          <a:chOff x="0" y="0"/>
          <a:chExt cx="0" cy="0"/>
        </a:xfrm>
      </p:grpSpPr>
      <p:sp>
        <p:nvSpPr>
          <p:cNvPr id="98" name="Google Shape;98;p1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10: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0" name="Google Shape;100;p10: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9" name="Shape 109"/>
        <p:cNvGrpSpPr/>
        <p:nvPr/>
      </p:nvGrpSpPr>
      <p:grpSpPr>
        <a:xfrm>
          <a:off x="0" y="0"/>
          <a:ext cx="0" cy="0"/>
          <a:chOff x="0" y="0"/>
          <a:chExt cx="0" cy="0"/>
        </a:xfrm>
      </p:grpSpPr>
      <p:sp>
        <p:nvSpPr>
          <p:cNvPr id="110" name="Google Shape;110;p1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1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2" name="Google Shape;112;p11: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1" name="Shape 121"/>
        <p:cNvGrpSpPr/>
        <p:nvPr/>
      </p:nvGrpSpPr>
      <p:grpSpPr>
        <a:xfrm>
          <a:off x="0" y="0"/>
          <a:ext cx="0" cy="0"/>
          <a:chOff x="0" y="0"/>
          <a:chExt cx="0" cy="0"/>
        </a:xfrm>
      </p:grpSpPr>
      <p:sp>
        <p:nvSpPr>
          <p:cNvPr id="122" name="Google Shape;122;p1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p1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4" name="Google Shape;124;p13: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0" name="Shape 130"/>
        <p:cNvGrpSpPr/>
        <p:nvPr/>
      </p:nvGrpSpPr>
      <p:grpSpPr>
        <a:xfrm>
          <a:off x="0" y="0"/>
          <a:ext cx="0" cy="0"/>
          <a:chOff x="0" y="0"/>
          <a:chExt cx="0" cy="0"/>
        </a:xfrm>
      </p:grpSpPr>
      <p:sp>
        <p:nvSpPr>
          <p:cNvPr id="131" name="Google Shape;131;p1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 name="Google Shape;132;p14: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3" name="Google Shape;133;p14: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9" name="Shape 139"/>
        <p:cNvGrpSpPr/>
        <p:nvPr/>
      </p:nvGrpSpPr>
      <p:grpSpPr>
        <a:xfrm>
          <a:off x="0" y="0"/>
          <a:ext cx="0" cy="0"/>
          <a:chOff x="0" y="0"/>
          <a:chExt cx="0" cy="0"/>
        </a:xfrm>
      </p:grpSpPr>
      <p:sp>
        <p:nvSpPr>
          <p:cNvPr id="140" name="Google Shape;140;p1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15: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2" name="Google Shape;142;p15: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8" name="Shape 148"/>
        <p:cNvGrpSpPr/>
        <p:nvPr/>
      </p:nvGrpSpPr>
      <p:grpSpPr>
        <a:xfrm>
          <a:off x="0" y="0"/>
          <a:ext cx="0" cy="0"/>
          <a:chOff x="0" y="0"/>
          <a:chExt cx="0" cy="0"/>
        </a:xfrm>
      </p:grpSpPr>
      <p:sp>
        <p:nvSpPr>
          <p:cNvPr id="149" name="Google Shape;149;p1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 name="Google Shape;150;p1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1" name="Google Shape;151;p16: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7" name="Shape 157"/>
        <p:cNvGrpSpPr/>
        <p:nvPr/>
      </p:nvGrpSpPr>
      <p:grpSpPr>
        <a:xfrm>
          <a:off x="0" y="0"/>
          <a:ext cx="0" cy="0"/>
          <a:chOff x="0" y="0"/>
          <a:chExt cx="0" cy="0"/>
        </a:xfrm>
      </p:grpSpPr>
      <p:sp>
        <p:nvSpPr>
          <p:cNvPr id="158" name="Google Shape;158;p1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p17: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0" name="Google Shape;160;p17: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6" name="Shape 166"/>
        <p:cNvGrpSpPr/>
        <p:nvPr/>
      </p:nvGrpSpPr>
      <p:grpSpPr>
        <a:xfrm>
          <a:off x="0" y="0"/>
          <a:ext cx="0" cy="0"/>
          <a:chOff x="0" y="0"/>
          <a:chExt cx="0" cy="0"/>
        </a:xfrm>
      </p:grpSpPr>
      <p:sp>
        <p:nvSpPr>
          <p:cNvPr id="167" name="Google Shape;167;p1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p18: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9" name="Google Shape;169;p18: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5" name="Shape 175"/>
        <p:cNvGrpSpPr/>
        <p:nvPr/>
      </p:nvGrpSpPr>
      <p:grpSpPr>
        <a:xfrm>
          <a:off x="0" y="0"/>
          <a:ext cx="0" cy="0"/>
          <a:chOff x="0" y="0"/>
          <a:chExt cx="0" cy="0"/>
        </a:xfrm>
      </p:grpSpPr>
      <p:sp>
        <p:nvSpPr>
          <p:cNvPr id="176" name="Google Shape;176;p1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 name="Google Shape;177;p19: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8" name="Google Shape;178;p19: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4" name="Shape 184"/>
        <p:cNvGrpSpPr/>
        <p:nvPr/>
      </p:nvGrpSpPr>
      <p:grpSpPr>
        <a:xfrm>
          <a:off x="0" y="0"/>
          <a:ext cx="0" cy="0"/>
          <a:chOff x="0" y="0"/>
          <a:chExt cx="0" cy="0"/>
        </a:xfrm>
      </p:grpSpPr>
      <p:sp>
        <p:nvSpPr>
          <p:cNvPr id="185" name="Google Shape;185;p2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 name="Google Shape;186;p20: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87" name="Google Shape;187;p20: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3" name="Shape 193"/>
        <p:cNvGrpSpPr/>
        <p:nvPr/>
      </p:nvGrpSpPr>
      <p:grpSpPr>
        <a:xfrm>
          <a:off x="0" y="0"/>
          <a:ext cx="0" cy="0"/>
          <a:chOff x="0" y="0"/>
          <a:chExt cx="0" cy="0"/>
        </a:xfrm>
      </p:grpSpPr>
      <p:sp>
        <p:nvSpPr>
          <p:cNvPr id="194" name="Google Shape;194;p2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p2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96" name="Google Shape;196;p21: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2" name="Shape 202"/>
        <p:cNvGrpSpPr/>
        <p:nvPr/>
      </p:nvGrpSpPr>
      <p:grpSpPr>
        <a:xfrm>
          <a:off x="0" y="0"/>
          <a:ext cx="0" cy="0"/>
          <a:chOff x="0" y="0"/>
          <a:chExt cx="0" cy="0"/>
        </a:xfrm>
      </p:grpSpPr>
      <p:sp>
        <p:nvSpPr>
          <p:cNvPr id="203" name="Google Shape;203;p2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4" name="Google Shape;204;p2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05" name="Google Shape;205;p22: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9"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9"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65C3D0"/>
        </a:solidFill>
        <a:effectLst/>
      </p:bgPr>
    </p:bg>
    <p:spTree>
      <p:nvGrpSpPr>
        <p:cNvPr id="15" name="Shape 15"/>
        <p:cNvGrpSpPr/>
        <p:nvPr/>
      </p:nvGrpSpPr>
      <p:grpSpPr>
        <a:xfrm>
          <a:off x="0" y="0"/>
          <a:ext cx="0" cy="0"/>
          <a:chOff x="0" y="0"/>
          <a:chExt cx="0" cy="0"/>
        </a:xfrm>
      </p:grpSpPr>
      <p:sp>
        <p:nvSpPr>
          <p:cNvPr id="16" name="Google Shape;16;p1"/>
          <p:cNvSpPr/>
          <p:nvPr/>
        </p:nvSpPr>
        <p:spPr>
          <a:xfrm>
            <a:off x="971550" y="195580"/>
            <a:ext cx="7315200" cy="914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4000"/>
              <a:buFont typeface="Arial" panose="020B0604020202020204"/>
              <a:buNone/>
            </a:pPr>
            <a:r>
              <a:rPr lang="en-US" sz="3100" b="1" i="0" u="none" strike="noStrike" cap="none">
                <a:solidFill>
                  <a:srgbClr val="1A5F7A"/>
                </a:solidFill>
                <a:latin typeface="Arial" panose="020B0604020202020204"/>
                <a:ea typeface="Arial" panose="020B0604020202020204"/>
                <a:cs typeface="Arial" panose="020B0604020202020204"/>
                <a:sym typeface="Arial" panose="020B0604020202020204"/>
              </a:rPr>
              <a:t>CardioAI – Intelligent Heart Disease Risk Prediction System</a:t>
            </a:r>
            <a:endParaRPr sz="3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 name="Google Shape;17;p1"/>
          <p:cNvSpPr/>
          <p:nvPr/>
        </p:nvSpPr>
        <p:spPr>
          <a:xfrm>
            <a:off x="914400" y="2744470"/>
            <a:ext cx="7315200"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E293B"/>
              </a:buClr>
              <a:buSzPts val="1600"/>
              <a:buFont typeface="Arial" panose="020B0604020202020204"/>
              <a:buNone/>
            </a:pPr>
            <a:r>
              <a:rPr lang="en-US" sz="1600" b="0" i="0" u="none" strike="noStrike" cap="none">
                <a:solidFill>
                  <a:srgbClr val="1E293B"/>
                </a:solidFill>
                <a:latin typeface="Arial" panose="020B0604020202020204"/>
                <a:ea typeface="Arial" panose="020B0604020202020204"/>
                <a:cs typeface="Arial" panose="020B0604020202020204"/>
                <a:sym typeface="Arial" panose="020B0604020202020204"/>
              </a:rPr>
              <a:t>Under the Esteemed Guidance of</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 name="Google Shape;18;p1"/>
          <p:cNvSpPr/>
          <p:nvPr/>
        </p:nvSpPr>
        <p:spPr>
          <a:xfrm>
            <a:off x="914400" y="3004185"/>
            <a:ext cx="7315200"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E293B"/>
              </a:buClr>
              <a:buSzPts val="1800"/>
              <a:buFont typeface="Arial" panose="020B0604020202020204"/>
              <a:buNone/>
            </a:pPr>
            <a:r>
              <a:rPr lang="en-US" sz="1800" b="1" i="0" u="none" strike="noStrike" cap="none">
                <a:solidFill>
                  <a:srgbClr val="1E293B"/>
                </a:solidFill>
                <a:latin typeface="Arial" panose="020B0604020202020204"/>
                <a:ea typeface="Arial" panose="020B0604020202020204"/>
                <a:cs typeface="Arial" panose="020B0604020202020204"/>
                <a:sym typeface="Arial" panose="020B0604020202020204"/>
              </a:rPr>
              <a:t>Dr</a:t>
            </a:r>
            <a:r>
              <a:rPr lang="en-IN" altLang="en-US" sz="1800" b="1" i="0" u="none" strike="noStrike" cap="none">
                <a:solidFill>
                  <a:srgbClr val="1E293B"/>
                </a:solidFill>
                <a:latin typeface="Arial" panose="020B0604020202020204"/>
                <a:ea typeface="Arial" panose="020B0604020202020204"/>
                <a:cs typeface="Arial" panose="020B0604020202020204"/>
                <a:sym typeface="Arial" panose="020B0604020202020204"/>
              </a:rPr>
              <a:t>. V. Shanmukha Rao </a:t>
            </a:r>
            <a:endParaRPr lang="en-IN" altLang="en-US" sz="1800" b="1" i="0" u="none" strike="noStrike" cap="none">
              <a:solidFill>
                <a:srgbClr val="1E293B"/>
              </a:solidFill>
              <a:latin typeface="Arial" panose="020B0604020202020204"/>
              <a:ea typeface="Arial" panose="020B0604020202020204"/>
              <a:cs typeface="Arial" panose="020B0604020202020204"/>
              <a:sym typeface="Arial" panose="020B0604020202020204"/>
            </a:endParaRPr>
          </a:p>
        </p:txBody>
      </p:sp>
      <p:sp>
        <p:nvSpPr>
          <p:cNvPr id="19" name="Google Shape;19;p1"/>
          <p:cNvSpPr/>
          <p:nvPr/>
        </p:nvSpPr>
        <p:spPr>
          <a:xfrm>
            <a:off x="914400" y="3474720"/>
            <a:ext cx="731520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E293B"/>
              </a:buClr>
              <a:buSzPts val="1400"/>
              <a:buFont typeface="Arial" panose="020B0604020202020204"/>
              <a:buNone/>
            </a:pPr>
            <a:r>
              <a:rPr lang="en-US" sz="1400" b="0" i="0" u="none" strike="noStrike" cap="none">
                <a:solidFill>
                  <a:srgbClr val="1E293B"/>
                </a:solidFill>
                <a:latin typeface="Arial" panose="020B0604020202020204"/>
                <a:ea typeface="Arial" panose="020B0604020202020204"/>
                <a:cs typeface="Arial" panose="020B0604020202020204"/>
                <a:sym typeface="Arial" panose="020B0604020202020204"/>
              </a:rPr>
              <a:t>Submitted by</a:t>
            </a:r>
            <a:endParaRPr sz="1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 name="Google Shape;20;p1"/>
          <p:cNvSpPr/>
          <p:nvPr/>
        </p:nvSpPr>
        <p:spPr>
          <a:xfrm>
            <a:off x="2771775" y="3940175"/>
            <a:ext cx="3657600" cy="7315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E293B"/>
              </a:buClr>
              <a:buSzPts val="1400"/>
              <a:buFont typeface="Arial" panose="020B0604020202020204"/>
              <a:buNone/>
            </a:pPr>
            <a:r>
              <a:rPr lang="en-IN" altLang="en-US" sz="1400" b="0" i="0" u="none" strike="noStrike" cap="none">
                <a:solidFill>
                  <a:srgbClr val="1E293B"/>
                </a:solidFill>
                <a:latin typeface="Arial" panose="020B0604020202020204"/>
                <a:ea typeface="Arial" panose="020B0604020202020204"/>
                <a:cs typeface="Arial" panose="020B0604020202020204"/>
                <a:sym typeface="Arial" panose="020B0604020202020204"/>
              </a:rPr>
              <a:t>         </a:t>
            </a:r>
            <a:endParaRPr lang="en-IN" sz="1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43" name="Google Shape;143;p1"/>
          <p:cNvPicPr preferRelativeResize="0"/>
          <p:nvPr/>
        </p:nvPicPr>
        <p:blipFill rotWithShape="1">
          <a:blip r:embed="rId1"/>
          <a:srcRect/>
          <a:stretch>
            <a:fillRect/>
          </a:stretch>
        </p:blipFill>
        <p:spPr>
          <a:xfrm>
            <a:off x="3851910" y="1202690"/>
            <a:ext cx="1504950" cy="1449070"/>
          </a:xfrm>
          <a:prstGeom prst="rect">
            <a:avLst/>
          </a:prstGeom>
          <a:noFill/>
          <a:ln>
            <a:noFill/>
          </a:ln>
        </p:spPr>
      </p:pic>
      <p:sp>
        <p:nvSpPr>
          <p:cNvPr id="2" name="Text Box 1"/>
          <p:cNvSpPr txBox="1"/>
          <p:nvPr/>
        </p:nvSpPr>
        <p:spPr>
          <a:xfrm>
            <a:off x="3051175" y="3890010"/>
            <a:ext cx="3896995" cy="953135"/>
          </a:xfrm>
          <a:prstGeom prst="rect">
            <a:avLst/>
          </a:prstGeom>
          <a:noFill/>
        </p:spPr>
        <p:txBody>
          <a:bodyPr wrap="square" rtlCol="0">
            <a:spAutoFit/>
          </a:bodyPr>
          <a:p>
            <a:pPr marL="12700" marR="5080" lvl="0" indent="0" algn="just" rtl="0">
              <a:lnSpc>
                <a:spcPct val="100000"/>
              </a:lnSpc>
              <a:spcBef>
                <a:spcPts val="0"/>
              </a:spcBef>
              <a:spcAft>
                <a:spcPts val="0"/>
              </a:spcAft>
              <a:buClr>
                <a:srgbClr val="000000"/>
              </a:buClr>
              <a:buSzPts val="1800"/>
              <a:buFont typeface="Arial" panose="020B0604020202020204"/>
              <a:buNone/>
            </a:pPr>
            <a:r>
              <a:rPr lang="en-IN" altLang="en-US">
                <a:solidFill>
                  <a:schemeClr val="tx1"/>
                </a:solidFill>
                <a:latin typeface="Times New Roman" panose="02020603050405020304"/>
                <a:ea typeface="Times New Roman" panose="02020603050405020304"/>
                <a:cs typeface="Times New Roman" panose="02020603050405020304"/>
                <a:sym typeface="Times New Roman" panose="02020603050405020304"/>
              </a:rPr>
              <a:t>P.Sravan Kumar           22KT1A4353</a:t>
            </a:r>
            <a:endParaRPr lang="en-IN" altLang="en-US" i="0" u="none" strike="noStrike" cap="none">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12700" marR="5080" lvl="0" indent="0" algn="just" rtl="0">
              <a:lnSpc>
                <a:spcPct val="100000"/>
              </a:lnSpc>
              <a:spcBef>
                <a:spcPts val="0"/>
              </a:spcBef>
              <a:spcAft>
                <a:spcPts val="0"/>
              </a:spcAft>
              <a:buClr>
                <a:srgbClr val="000000"/>
              </a:buClr>
              <a:buSzPts val="1800"/>
              <a:buFont typeface="Arial" panose="020B0604020202020204"/>
              <a:buNone/>
            </a:pPr>
            <a:r>
              <a:rPr lang="en-IN" altLang="en-US">
                <a:solidFill>
                  <a:schemeClr val="tx1"/>
                </a:solidFill>
                <a:latin typeface="Times New Roman" panose="02020603050405020304"/>
                <a:ea typeface="Times New Roman" panose="02020603050405020304"/>
                <a:cs typeface="Times New Roman" panose="02020603050405020304"/>
                <a:sym typeface="Times New Roman" panose="02020603050405020304"/>
              </a:rPr>
              <a:t>SK. Rehan                    22KT1A4355</a:t>
            </a:r>
            <a:endParaRPr lang="en-IN" altLang="en-US" i="0" u="none" strike="noStrike" cap="none">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12700" marR="5080" lvl="0" indent="0" algn="just" rtl="0">
              <a:lnSpc>
                <a:spcPct val="100000"/>
              </a:lnSpc>
              <a:spcBef>
                <a:spcPts val="0"/>
              </a:spcBef>
              <a:spcAft>
                <a:spcPts val="0"/>
              </a:spcAft>
              <a:buClr>
                <a:srgbClr val="000000"/>
              </a:buClr>
              <a:buSzPts val="1800"/>
              <a:buFont typeface="Arial" panose="020B0604020202020204"/>
              <a:buNone/>
            </a:pPr>
            <a:r>
              <a:rPr lang="en-IN" altLang="en-US">
                <a:solidFill>
                  <a:schemeClr val="tx1"/>
                </a:solidFill>
                <a:latin typeface="Times New Roman" panose="02020603050405020304"/>
                <a:ea typeface="Times New Roman" panose="02020603050405020304"/>
                <a:cs typeface="Times New Roman" panose="02020603050405020304"/>
                <a:sym typeface="Times New Roman" panose="02020603050405020304"/>
              </a:rPr>
              <a:t>B.Tharun Raj               23KT5A4303</a:t>
            </a:r>
            <a:endParaRPr lang="en-IN" altLang="en-US" i="0" u="none" strike="noStrike" cap="none">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12700" marR="5080" lvl="0" indent="0" algn="just" rtl="0">
              <a:lnSpc>
                <a:spcPct val="100000"/>
              </a:lnSpc>
              <a:spcBef>
                <a:spcPts val="0"/>
              </a:spcBef>
              <a:spcAft>
                <a:spcPts val="0"/>
              </a:spcAft>
              <a:buClr>
                <a:srgbClr val="000000"/>
              </a:buClr>
              <a:buSzPts val="1800"/>
              <a:buFont typeface="Arial" panose="020B0604020202020204"/>
              <a:buNone/>
            </a:pPr>
            <a:r>
              <a:rPr lang="en-IN">
                <a:solidFill>
                  <a:schemeClr val="tx1"/>
                </a:solidFill>
                <a:latin typeface="Times New Roman" panose="02020603050405020304"/>
                <a:ea typeface="Times New Roman" panose="02020603050405020304"/>
                <a:cs typeface="Times New Roman" panose="02020603050405020304"/>
                <a:sym typeface="Times New Roman" panose="02020603050405020304"/>
              </a:rPr>
              <a:t>T.Teja                          23KT5A4307</a:t>
            </a:r>
            <a:endParaRPr lang="en-IN">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5" name="Shape 25"/>
        <p:cNvGrpSpPr/>
        <p:nvPr/>
      </p:nvGrpSpPr>
      <p:grpSpPr>
        <a:xfrm>
          <a:off x="0" y="0"/>
          <a:ext cx="0" cy="0"/>
          <a:chOff x="0" y="0"/>
          <a:chExt cx="0" cy="0"/>
        </a:xfrm>
      </p:grpSpPr>
      <p:sp>
        <p:nvSpPr>
          <p:cNvPr id="26" name="Google Shape;26;p2"/>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 name="Google Shape;27;p2"/>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 name="Google Shape;28;p2"/>
          <p:cNvSpPr/>
          <p:nvPr/>
        </p:nvSpPr>
        <p:spPr>
          <a:xfrm>
            <a:off x="457200" y="914400"/>
            <a:ext cx="8229600"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CONTENTS</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9" name="Google Shape;29;p2"/>
          <p:cNvSpPr/>
          <p:nvPr/>
        </p:nvSpPr>
        <p:spPr>
          <a:xfrm>
            <a:off x="914400" y="1828800"/>
            <a:ext cx="7315200" cy="274320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E293B"/>
              </a:buClr>
              <a:buSzPts val="1600"/>
              <a:buFont typeface="Arial" panose="020B0604020202020204"/>
              <a:buChar char="•"/>
            </a:pPr>
            <a:r>
              <a:rPr lang="en-US" sz="1600" b="0" i="0" u="none" strike="noStrike" cap="none">
                <a:solidFill>
                  <a:srgbClr val="1E293B"/>
                </a:solidFill>
                <a:latin typeface="Arial" panose="020B0604020202020204"/>
                <a:ea typeface="Arial" panose="020B0604020202020204"/>
                <a:cs typeface="Arial" panose="020B0604020202020204"/>
                <a:sym typeface="Arial" panose="020B0604020202020204"/>
              </a:rPr>
              <a:t>Introduction</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600"/>
              <a:buFont typeface="Arial" panose="020B0604020202020204"/>
              <a:buChar char="•"/>
            </a:pPr>
            <a:r>
              <a:rPr lang="en-US" sz="1600" b="0" i="0" u="none" strike="noStrike" cap="none">
                <a:solidFill>
                  <a:srgbClr val="1E293B"/>
                </a:solidFill>
                <a:latin typeface="Arial" panose="020B0604020202020204"/>
                <a:ea typeface="Arial" panose="020B0604020202020204"/>
                <a:cs typeface="Arial" panose="020B0604020202020204"/>
                <a:sym typeface="Arial" panose="020B0604020202020204"/>
              </a:rPr>
              <a:t>Abstract</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600"/>
              <a:buFont typeface="Arial" panose="020B0604020202020204"/>
              <a:buChar char="•"/>
            </a:pPr>
            <a:r>
              <a:rPr lang="en-US" sz="1600" b="0" i="0" u="none" strike="noStrike" cap="none">
                <a:solidFill>
                  <a:srgbClr val="1E293B"/>
                </a:solidFill>
                <a:latin typeface="Arial" panose="020B0604020202020204"/>
                <a:ea typeface="Arial" panose="020B0604020202020204"/>
                <a:cs typeface="Arial" panose="020B0604020202020204"/>
                <a:sym typeface="Arial" panose="020B0604020202020204"/>
              </a:rPr>
              <a:t>Problem Statement</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600"/>
              <a:buFont typeface="Arial" panose="020B0604020202020204"/>
              <a:buChar char="•"/>
            </a:pPr>
            <a:r>
              <a:rPr lang="en-US" sz="1600" b="0" i="0" u="none" strike="noStrike" cap="none">
                <a:solidFill>
                  <a:srgbClr val="1E293B"/>
                </a:solidFill>
                <a:latin typeface="Arial" panose="020B0604020202020204"/>
                <a:ea typeface="Arial" panose="020B0604020202020204"/>
                <a:cs typeface="Arial" panose="020B0604020202020204"/>
                <a:sym typeface="Arial" panose="020B0604020202020204"/>
              </a:rPr>
              <a:t>Literature Survey</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600"/>
              <a:buFont typeface="Arial" panose="020B0604020202020204"/>
              <a:buChar char="•"/>
            </a:pPr>
            <a:r>
              <a:rPr lang="en-US" sz="1600" b="0" i="0" u="none" strike="noStrike" cap="none">
                <a:solidFill>
                  <a:srgbClr val="1E293B"/>
                </a:solidFill>
                <a:latin typeface="Arial" panose="020B0604020202020204"/>
                <a:ea typeface="Arial" panose="020B0604020202020204"/>
                <a:cs typeface="Arial" panose="020B0604020202020204"/>
                <a:sym typeface="Arial" panose="020B0604020202020204"/>
              </a:rPr>
              <a:t>Existing System</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600"/>
              <a:buFont typeface="Arial" panose="020B0604020202020204"/>
              <a:buChar char="•"/>
            </a:pPr>
            <a:r>
              <a:rPr lang="en-US" sz="1600" b="0" i="0" u="none" strike="noStrike" cap="none">
                <a:solidFill>
                  <a:srgbClr val="1E293B"/>
                </a:solidFill>
                <a:latin typeface="Arial" panose="020B0604020202020204"/>
                <a:ea typeface="Arial" panose="020B0604020202020204"/>
                <a:cs typeface="Arial" panose="020B0604020202020204"/>
                <a:sym typeface="Arial" panose="020B0604020202020204"/>
              </a:rPr>
              <a:t>Proposed System</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600"/>
              <a:buFont typeface="Arial" panose="020B0604020202020204"/>
              <a:buChar char="•"/>
            </a:pPr>
            <a:r>
              <a:rPr lang="en-US" sz="1600" b="0" i="0" u="none" strike="noStrike" cap="none">
                <a:solidFill>
                  <a:srgbClr val="1E293B"/>
                </a:solidFill>
                <a:latin typeface="Arial" panose="020B0604020202020204"/>
                <a:ea typeface="Arial" panose="020B0604020202020204"/>
                <a:cs typeface="Arial" panose="020B0604020202020204"/>
                <a:sym typeface="Arial" panose="020B0604020202020204"/>
              </a:rPr>
              <a:t>Requirement Analysis</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600"/>
              <a:buFont typeface="Arial" panose="020B0604020202020204"/>
              <a:buChar char="•"/>
            </a:pPr>
            <a:r>
              <a:rPr lang="en-US" sz="1600" b="0" i="0" u="none" strike="noStrike" cap="none">
                <a:solidFill>
                  <a:srgbClr val="1E293B"/>
                </a:solidFill>
                <a:latin typeface="Arial" panose="020B0604020202020204"/>
                <a:ea typeface="Arial" panose="020B0604020202020204"/>
                <a:cs typeface="Arial" panose="020B0604020202020204"/>
                <a:sym typeface="Arial" panose="020B0604020202020204"/>
              </a:rPr>
              <a:t>System Architecture</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600"/>
              <a:buFont typeface="Arial" panose="020B0604020202020204"/>
              <a:buChar char="•"/>
            </a:pPr>
            <a:r>
              <a:rPr lang="en-US" sz="1600" b="0" i="0" u="none" strike="noStrike" cap="none">
                <a:solidFill>
                  <a:srgbClr val="1E293B"/>
                </a:solidFill>
                <a:latin typeface="Arial" panose="020B0604020202020204"/>
                <a:ea typeface="Arial" panose="020B0604020202020204"/>
                <a:cs typeface="Arial" panose="020B0604020202020204"/>
                <a:sym typeface="Arial" panose="020B0604020202020204"/>
              </a:rPr>
              <a:t>UML Diagrams</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600"/>
              <a:buFont typeface="Arial" panose="020B0604020202020204"/>
              <a:buChar char="•"/>
            </a:pPr>
            <a:r>
              <a:rPr lang="en-US" sz="1600" b="0" i="0" u="none" strike="noStrike" cap="none">
                <a:solidFill>
                  <a:srgbClr val="1E293B"/>
                </a:solidFill>
                <a:latin typeface="Arial" panose="020B0604020202020204"/>
                <a:ea typeface="Arial" panose="020B0604020202020204"/>
                <a:cs typeface="Arial" panose="020B0604020202020204"/>
                <a:sym typeface="Arial" panose="020B0604020202020204"/>
              </a:rPr>
              <a:t>Status of Work</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4" name="Shape 34"/>
        <p:cNvGrpSpPr/>
        <p:nvPr/>
      </p:nvGrpSpPr>
      <p:grpSpPr>
        <a:xfrm>
          <a:off x="0" y="0"/>
          <a:ext cx="0" cy="0"/>
          <a:chOff x="0" y="0"/>
          <a:chExt cx="0" cy="0"/>
        </a:xfrm>
      </p:grpSpPr>
      <p:sp>
        <p:nvSpPr>
          <p:cNvPr id="35" name="Google Shape;35;p3"/>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 name="Google Shape;36;p3"/>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3"/>
          <p:cNvSpPr/>
          <p:nvPr/>
        </p:nvSpPr>
        <p:spPr>
          <a:xfrm>
            <a:off x="457200" y="914400"/>
            <a:ext cx="8229600"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INTRODUCTION</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8" name="Google Shape;38;p3"/>
          <p:cNvSpPr/>
          <p:nvPr/>
        </p:nvSpPr>
        <p:spPr>
          <a:xfrm>
            <a:off x="457200" y="1645920"/>
            <a:ext cx="8229600" cy="32004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93B"/>
              </a:buClr>
              <a:buSzPts val="1300"/>
              <a:buFont typeface="Arial" panose="020B0604020202020204"/>
              <a:buNone/>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Cardiovascular diseases are among the leading causes of mortality worldwide, necessitating early detection and preventive care.</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chemeClr val="dk1"/>
              </a:buClr>
              <a:buSzPts val="1300"/>
              <a:buFont typeface="Calibri" panose="020F0502020204030204"/>
              <a:buNone/>
            </a:pP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rgbClr val="1E293B"/>
              </a:buClr>
              <a:buSzPts val="1300"/>
              <a:buFont typeface="Arial" panose="020B0604020202020204"/>
              <a:buNone/>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CardioAI is an intelligent healthcare platform designed to predict heart disease risk using machine learning techniques. The system employs a Random Forest classification model trained on real-world clinical datasets to accurately assess patient risk levels.</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chemeClr val="dk1"/>
              </a:buClr>
              <a:buSzPts val="1300"/>
              <a:buFont typeface="Calibri" panose="020F0502020204030204"/>
              <a:buNone/>
            </a:pP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rgbClr val="1E293B"/>
              </a:buClr>
              <a:buSzPts val="1300"/>
              <a:buFont typeface="Arial" panose="020B0604020202020204"/>
              <a:buNone/>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A secure, web-based dashboard allows users to input physiological parameters, upload medical reports, and receive real-time diagnostic insights along with personalized clinical, dietary, and lifestyle recommendations. By combining predictive analytics, data security mechanisms, and population health monitoring, CardioAI aims to support both healthcare professionals and individuals in proactive heart health management.</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43" name="Shape 43"/>
        <p:cNvGrpSpPr/>
        <p:nvPr/>
      </p:nvGrpSpPr>
      <p:grpSpPr>
        <a:xfrm>
          <a:off x="0" y="0"/>
          <a:ext cx="0" cy="0"/>
          <a:chOff x="0" y="0"/>
          <a:chExt cx="0" cy="0"/>
        </a:xfrm>
      </p:grpSpPr>
      <p:sp>
        <p:nvSpPr>
          <p:cNvPr id="44" name="Google Shape;44;p4"/>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 name="Google Shape;45;p4"/>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 name="Google Shape;46;p4"/>
          <p:cNvSpPr/>
          <p:nvPr/>
        </p:nvSpPr>
        <p:spPr>
          <a:xfrm>
            <a:off x="457200" y="914400"/>
            <a:ext cx="8229600"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ABSTRACT</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7" name="Google Shape;47;p4"/>
          <p:cNvSpPr/>
          <p:nvPr/>
        </p:nvSpPr>
        <p:spPr>
          <a:xfrm>
            <a:off x="731520" y="1645920"/>
            <a:ext cx="7680960" cy="320040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E293B"/>
              </a:buClr>
              <a:buSzPts val="1300"/>
              <a:buFont typeface="Arial" panose="020B0604020202020204"/>
              <a:buChar char="•"/>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Heart disease is one of the leading causes of mortality worldwide, making early and accurate diagnosis essential.</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300"/>
              <a:buFont typeface="Arial" panose="020B0604020202020204"/>
              <a:buChar char="•"/>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This project presents an AI-based heart disease assessment system that predicts the risk using machine learning techniques with clinical parameters.</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300"/>
              <a:buFont typeface="Arial" panose="020B0604020202020204"/>
              <a:buChar char="•"/>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A Random Forest classifier is trained on heart disease datasets to identify patterns associated with healthy and diseased conditions.</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300"/>
              <a:buFont typeface="Arial" panose="020B0604020202020204"/>
              <a:buChar char="•"/>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The system provides real-time predictions through a user-friendly interface, assisting healthcare professionals in informed decision-making.</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300"/>
              <a:buFont typeface="Arial" panose="020B0604020202020204"/>
              <a:buChar char="•"/>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Supports early diagnosis, enhances efficiency, and serves as a reliable decision-support tool for healthcare applications.</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52" name="Shape 52"/>
        <p:cNvGrpSpPr/>
        <p:nvPr/>
      </p:nvGrpSpPr>
      <p:grpSpPr>
        <a:xfrm>
          <a:off x="0" y="0"/>
          <a:ext cx="0" cy="0"/>
          <a:chOff x="0" y="0"/>
          <a:chExt cx="0" cy="0"/>
        </a:xfrm>
      </p:grpSpPr>
      <p:sp>
        <p:nvSpPr>
          <p:cNvPr id="53" name="Google Shape;53;p5"/>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 name="Google Shape;54;p5"/>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 name="Google Shape;55;p5"/>
          <p:cNvSpPr/>
          <p:nvPr/>
        </p:nvSpPr>
        <p:spPr>
          <a:xfrm>
            <a:off x="457200" y="914400"/>
            <a:ext cx="8229600"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PROBLEM STATEMENT</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56" name="Google Shape;56;p5"/>
          <p:cNvSpPr/>
          <p:nvPr/>
        </p:nvSpPr>
        <p:spPr>
          <a:xfrm>
            <a:off x="731520" y="1645920"/>
            <a:ext cx="7680960" cy="320040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E293B"/>
              </a:buClr>
              <a:buSzPts val="1300"/>
              <a:buFont typeface="Arial" panose="020B0604020202020204"/>
              <a:buChar char="•"/>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Heart disease remains one of the leading causes of death worldwide, and early detection is critical for effective treatment and prevention.</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300"/>
              <a:buFont typeface="Arial" panose="020B0604020202020204"/>
              <a:buChar char="•"/>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Traditional diagnosis methods often rely on manual analysis of medical data, which can be time-consuming and may not always provide accurate risk assessment.</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300"/>
              <a:buFont typeface="Arial" panose="020B0604020202020204"/>
              <a:buChar char="•"/>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Existing automated systems may lack reliability or require complex and expensive infrastructure.</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300"/>
              <a:buFont typeface="Arial" panose="020B0604020202020204"/>
              <a:buChar char="•"/>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There is a need for an accurate, efficient, and cost-effective AI-based system that can analyze patient health parameters and predict the risk of heart disease at an early stage.</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61" name="Shape 61"/>
        <p:cNvGrpSpPr/>
        <p:nvPr/>
      </p:nvGrpSpPr>
      <p:grpSpPr>
        <a:xfrm>
          <a:off x="0" y="0"/>
          <a:ext cx="0" cy="0"/>
          <a:chOff x="0" y="0"/>
          <a:chExt cx="0" cy="0"/>
        </a:xfrm>
      </p:grpSpPr>
      <p:sp>
        <p:nvSpPr>
          <p:cNvPr id="62" name="Google Shape;62;p6"/>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 name="Google Shape;63;p6"/>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 name="Google Shape;64;p6"/>
          <p:cNvSpPr/>
          <p:nvPr/>
        </p:nvSpPr>
        <p:spPr>
          <a:xfrm>
            <a:off x="457200" y="822960"/>
            <a:ext cx="82296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200"/>
              <a:buFont typeface="Arial" panose="020B0604020202020204"/>
              <a:buNone/>
            </a:pPr>
            <a:r>
              <a:rPr lang="en-US" sz="3200" b="1" i="0" u="none" strike="noStrike" cap="none">
                <a:solidFill>
                  <a:srgbClr val="1A5F7A"/>
                </a:solidFill>
                <a:latin typeface="Arial" panose="020B0604020202020204"/>
                <a:ea typeface="Arial" panose="020B0604020202020204"/>
                <a:cs typeface="Arial" panose="020B0604020202020204"/>
                <a:sym typeface="Arial" panose="020B0604020202020204"/>
              </a:rPr>
              <a:t>LITERATURE SURVEY</a:t>
            </a:r>
            <a:endParaRPr sz="3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aphicFrame>
        <p:nvGraphicFramePr>
          <p:cNvPr id="65" name="Google Shape;65;p6"/>
          <p:cNvGraphicFramePr/>
          <p:nvPr/>
        </p:nvGraphicFramePr>
        <p:xfrm>
          <a:off x="274320" y="1371600"/>
          <a:ext cx="8412475" cy="3376875"/>
        </p:xfrm>
        <a:graphic>
          <a:graphicData uri="http://schemas.openxmlformats.org/drawingml/2006/table">
            <a:tbl>
              <a:tblPr>
                <a:noFill/>
                <a:tableStyleId>{A58D2B4B-3948-4824-9F31-7F648A82ED31}</a:tableStyleId>
              </a:tblPr>
              <a:tblGrid>
                <a:gridCol w="1188725"/>
                <a:gridCol w="1828800"/>
                <a:gridCol w="1280150"/>
                <a:gridCol w="2011675"/>
                <a:gridCol w="1188725"/>
                <a:gridCol w="914400"/>
              </a:tblGrid>
              <a:tr h="491775">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AUTHOR</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TITLE</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ALGORITHM</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METHODOLOGY</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DATASET</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ACCURACY</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r>
              <a:tr h="721275">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Cleveland et al.</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Heart Disease Prediction Using Logistic Regression</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Logistic Regression</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Used UCI dataset with basic clinical attributes</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UCI Heart Dataset</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~77%</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r>
              <a:tr h="721275">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Patel et al.</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SVM-Based Heart Disease Risk Assessment</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SVM</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Normalized clinical records analyzed using SVM</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Clinical Records</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81%</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r>
              <a:tr h="721275">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Kumar et al.</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Decision Tree Model for Heart Disease Diagnosis</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Decision Trees</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Hospital data classified using Decision Trees</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Hospital Data</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83%</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r>
              <a:tr h="721275">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Sharma et al.</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Neural Network-Based Heart Disease Prediction</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Neural Networks</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ECG signals combined with clinical features</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ECG + Clinical</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85%</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61" name="Shape 61"/>
        <p:cNvGrpSpPr/>
        <p:nvPr/>
      </p:nvGrpSpPr>
      <p:grpSpPr>
        <a:xfrm>
          <a:off x="0" y="0"/>
          <a:ext cx="0" cy="0"/>
          <a:chOff x="0" y="0"/>
          <a:chExt cx="0" cy="0"/>
        </a:xfrm>
      </p:grpSpPr>
      <p:sp>
        <p:nvSpPr>
          <p:cNvPr id="62" name="Google Shape;62;p6"/>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 name="Google Shape;63;p6"/>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aphicFrame>
        <p:nvGraphicFramePr>
          <p:cNvPr id="65" name="Google Shape;65;p6"/>
          <p:cNvGraphicFramePr/>
          <p:nvPr>
            <p:custDataLst>
              <p:tags r:id="rId1"/>
            </p:custDataLst>
          </p:nvPr>
        </p:nvGraphicFramePr>
        <p:xfrm>
          <a:off x="274320" y="731520"/>
          <a:ext cx="8412480" cy="4017010"/>
        </p:xfrm>
        <a:graphic>
          <a:graphicData uri="http://schemas.openxmlformats.org/drawingml/2006/table">
            <a:tbl>
              <a:tblPr>
                <a:noFill/>
                <a:tableStyleId>{A58D2B4B-3948-4824-9F31-7F648A82ED31}</a:tableStyleId>
              </a:tblPr>
              <a:tblGrid>
                <a:gridCol w="1188720"/>
                <a:gridCol w="1828800"/>
                <a:gridCol w="1280160"/>
                <a:gridCol w="2011680"/>
                <a:gridCol w="1188720"/>
                <a:gridCol w="914400"/>
              </a:tblGrid>
              <a:tr h="584835">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AUTHOR</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TITLE</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ALGORITHM</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METHODOLOGY</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DATASET</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ACCURACY</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r>
              <a:tr h="857885">
                <a:tc>
                  <a:txBody>
                    <a:bodyPr/>
                    <a:lstStyle/>
                    <a:p>
                      <a:pPr marL="0" marR="0" lvl="0" indent="0" algn="l" rtl="0">
                        <a:lnSpc>
                          <a:spcPct val="100000"/>
                        </a:lnSpc>
                        <a:spcBef>
                          <a:spcPts val="0"/>
                        </a:spcBef>
                        <a:spcAft>
                          <a:spcPts val="0"/>
                        </a:spcAft>
                        <a:buClr>
                          <a:srgbClr val="000000"/>
                        </a:buClr>
                        <a:buFont typeface="Arial" panose="020B0604020202020204"/>
                        <a:buNone/>
                      </a:pPr>
                      <a:r>
                        <a:rPr lang="en-IN" sz="800" dirty="0">
                          <a:sym typeface="+mn-ea"/>
                        </a:rPr>
                        <a:t>Jaswanth Narayana et al.</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Heart Disease Prediction Using </a:t>
                      </a:r>
                      <a:r>
                        <a:rPr lang="en-IN" altLang="en-US" sz="800" u="none" strike="noStrike" cap="none">
                          <a:solidFill>
                            <a:srgbClr val="000000"/>
                          </a:solidFill>
                        </a:rPr>
                        <a:t>Machine Learning</a:t>
                      </a:r>
                      <a:endParaRPr lang="en-IN" altLang="en-US" sz="800" u="none" strike="noStrike" cap="none">
                        <a:solidFill>
                          <a:srgbClr val="000000"/>
                        </a:solidFill>
                      </a:endParaRP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IN" altLang="en-US" sz="800" u="none" strike="noStrike" cap="none">
                          <a:solidFill>
                            <a:srgbClr val="000000"/>
                          </a:solidFill>
                        </a:rPr>
                        <a:t>KNN</a:t>
                      </a:r>
                      <a:endParaRPr lang="en-IN" altLang="en-US" sz="800" u="none" strike="noStrike" cap="none">
                        <a:solidFill>
                          <a:srgbClr val="000000"/>
                        </a:solidFill>
                      </a:endParaRP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altLang="en-US" sz="800" u="none" strike="noStrike" cap="none"/>
                        <a:t>Used a public health dataset and applied KNN after basic data analysis and feature distribution checking.</a:t>
                      </a:r>
                      <a:endParaRPr lang="en-US" altLang="en-US"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IN" sz="800" dirty="0">
                          <a:sym typeface="+mn-ea"/>
                        </a:rPr>
                        <a:t>Public Health Dataset</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IN" altLang="en-US" sz="800" u="none" strike="noStrike" cap="none">
                          <a:solidFill>
                            <a:srgbClr val="000000"/>
                          </a:solidFill>
                        </a:rPr>
                        <a:t>84.86</a:t>
                      </a:r>
                      <a:r>
                        <a:rPr lang="en-US" sz="800" u="none" strike="noStrike" cap="none">
                          <a:solidFill>
                            <a:srgbClr val="000000"/>
                          </a:solidFill>
                        </a:rPr>
                        <a:t>%</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r>
              <a:tr h="85788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en-US" sz="800" dirty="0">
                          <a:sym typeface="+mn-ea"/>
                        </a:rPr>
                        <a:t>Ahmad Shak</a:t>
                      </a:r>
                      <a:r>
                        <a:rPr lang="en-IN" altLang="en-US" sz="800" dirty="0">
                          <a:sym typeface="+mn-ea"/>
                        </a:rPr>
                        <a:t>et al</a:t>
                      </a:r>
                      <a:r>
                        <a:rPr lang="en-IN" sz="800" dirty="0">
                          <a:sym typeface="+mn-ea"/>
                        </a:rPr>
                        <a:t>.</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US" altLang="en-US" sz="800" dirty="0">
                          <a:sym typeface="+mn-ea"/>
                        </a:rPr>
                        <a:t>Machine learning models for prediction of co-occurrence of diabetes </a:t>
                      </a:r>
                      <a:endParaRPr lang="en-US" altLang="en-US" sz="800" u="none" strike="noStrike" cap="none" dirty="0"/>
                    </a:p>
                    <a:p>
                      <a:pPr marL="0" marR="0" lvl="0" indent="0" algn="l" rtl="0">
                        <a:lnSpc>
                          <a:spcPct val="100000"/>
                        </a:lnSpc>
                        <a:spcBef>
                          <a:spcPts val="0"/>
                        </a:spcBef>
                        <a:spcAft>
                          <a:spcPts val="0"/>
                        </a:spcAft>
                        <a:buClr>
                          <a:srgbClr val="000000"/>
                        </a:buClr>
                        <a:buFont typeface="Arial" panose="020B0604020202020204"/>
                        <a:buNone/>
                      </a:pPr>
                      <a:r>
                        <a:rPr lang="en-US" altLang="en-US" sz="800" dirty="0">
                          <a:sym typeface="+mn-ea"/>
                        </a:rPr>
                        <a:t>and cardiovascular diseases: a retrospective cohort study</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IN" sz="800" dirty="0">
                          <a:sym typeface="+mn-ea"/>
                        </a:rPr>
                        <a:t>Logistic Regression</a:t>
                      </a:r>
                      <a:endParaRPr lang="en-IN" sz="800" u="none" strike="noStrike" cap="none" dirty="0"/>
                    </a:p>
                    <a:p>
                      <a:pPr marL="0" marR="0" lvl="0" indent="0" algn="l" rtl="0">
                        <a:spcBef>
                          <a:spcPts val="0"/>
                        </a:spcBef>
                        <a:spcAft>
                          <a:spcPts val="0"/>
                        </a:spcAft>
                        <a:buClr>
                          <a:srgbClr val="000000"/>
                        </a:buClr>
                        <a:buSzPts val="800"/>
                        <a:buFont typeface="Calibri" panose="020F0502020204030204"/>
                        <a:buNone/>
                      </a:pP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altLang="en-US" sz="800" u="none" strike="noStrike" cap="none"/>
                        <a:t>Used UCI heart disease data and applied logistic regression on retrospectively collected clinical records.</a:t>
                      </a:r>
                      <a:endParaRPr lang="en-US" altLang="en-US"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IN" sz="800" dirty="0">
                          <a:sym typeface="+mn-ea"/>
                        </a:rPr>
                        <a:t>UCI Heart Disease</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IN" altLang="en-US" sz="800" u="none" strike="noStrike" cap="none">
                          <a:solidFill>
                            <a:srgbClr val="000000"/>
                          </a:solidFill>
                        </a:rPr>
                        <a:t>94</a:t>
                      </a:r>
                      <a:r>
                        <a:rPr lang="en-US" sz="800" u="none" strike="noStrike" cap="none">
                          <a:solidFill>
                            <a:srgbClr val="000000"/>
                          </a:solidFill>
                        </a:rPr>
                        <a:t>%</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r>
              <a:tr h="858520">
                <a:tc>
                  <a:txBody>
                    <a:bodyPr/>
                    <a:lstStyle/>
                    <a:p>
                      <a:pPr marL="0" marR="0" lvl="0" indent="0" algn="l" rtl="0">
                        <a:lnSpc>
                          <a:spcPct val="100000"/>
                        </a:lnSpc>
                        <a:spcBef>
                          <a:spcPts val="0"/>
                        </a:spcBef>
                        <a:spcAft>
                          <a:spcPts val="0"/>
                        </a:spcAft>
                        <a:buClr>
                          <a:srgbClr val="000000"/>
                        </a:buClr>
                        <a:buFont typeface="Arial" panose="020B0604020202020204"/>
                        <a:buNone/>
                      </a:pPr>
                      <a:r>
                        <a:rPr lang="en-IN" sz="800" dirty="0">
                          <a:sym typeface="+mn-ea"/>
                        </a:rPr>
                        <a:t>Adarsh Sharma et al.</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US" altLang="en-US" sz="800" dirty="0">
                          <a:sym typeface="+mn-ea"/>
                        </a:rPr>
                        <a:t>Heart Disease Prediction: A Comparative Analysis of </a:t>
                      </a:r>
                      <a:endParaRPr lang="en-US" altLang="en-US" sz="800" u="none" strike="noStrike" cap="none" dirty="0"/>
                    </a:p>
                    <a:p>
                      <a:pPr marL="0" marR="0" lvl="0" indent="0" algn="l" rtl="0">
                        <a:lnSpc>
                          <a:spcPct val="100000"/>
                        </a:lnSpc>
                        <a:spcBef>
                          <a:spcPts val="0"/>
                        </a:spcBef>
                        <a:spcAft>
                          <a:spcPts val="0"/>
                        </a:spcAft>
                        <a:buClr>
                          <a:srgbClr val="000000"/>
                        </a:buClr>
                        <a:buFont typeface="Arial" panose="020B0604020202020204"/>
                        <a:buNone/>
                      </a:pPr>
                      <a:r>
                        <a:rPr lang="en-US" altLang="en-US" sz="800" dirty="0">
                          <a:sym typeface="+mn-ea"/>
                        </a:rPr>
                        <a:t>Machine Learning Algorithms</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IN" sz="800" dirty="0">
                          <a:sym typeface="+mn-ea"/>
                        </a:rPr>
                        <a:t>Random Forest</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altLang="en-US" sz="800" u="none" strike="noStrike" cap="none"/>
                        <a:t>Collected and cleaned heart disease data, handled missing values, normalized features, and applied Random Forest.</a:t>
                      </a:r>
                      <a:endParaRPr lang="en-US" altLang="en-US"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IN" sz="800" dirty="0">
                          <a:sym typeface="+mn-ea"/>
                        </a:rPr>
                        <a:t>Heart Dataset</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8</a:t>
                      </a:r>
                      <a:r>
                        <a:rPr lang="en-IN" altLang="en-US" sz="800" u="none" strike="noStrike" cap="none">
                          <a:solidFill>
                            <a:srgbClr val="000000"/>
                          </a:solidFill>
                        </a:rPr>
                        <a:t>4.96</a:t>
                      </a:r>
                      <a:r>
                        <a:rPr lang="en-US" sz="800" u="none" strike="noStrike" cap="none">
                          <a:solidFill>
                            <a:srgbClr val="000000"/>
                          </a:solidFill>
                        </a:rPr>
                        <a:t>%</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r>
              <a:tr h="85788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IN" sz="800" dirty="0">
                          <a:sym typeface="+mn-ea"/>
                        </a:rPr>
                        <a:t>Ch. Anwar et al.</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US" altLang="en-US" sz="800" dirty="0">
                          <a:sym typeface="+mn-ea"/>
                        </a:rPr>
                        <a:t>Effectively Predicting the Presence of Coronary Heart Disease</a:t>
                      </a:r>
                      <a:endParaRPr lang="en-US" altLang="en-US" sz="800" u="none" strike="noStrike" cap="none" dirty="0"/>
                    </a:p>
                    <a:p>
                      <a:pPr marL="0" marR="0" lvl="0" indent="0" algn="l" rtl="0">
                        <a:lnSpc>
                          <a:spcPct val="100000"/>
                        </a:lnSpc>
                        <a:spcBef>
                          <a:spcPts val="0"/>
                        </a:spcBef>
                        <a:spcAft>
                          <a:spcPts val="0"/>
                        </a:spcAft>
                        <a:buClr>
                          <a:srgbClr val="000000"/>
                        </a:buClr>
                        <a:buFont typeface="Arial" panose="020B0604020202020204"/>
                        <a:buNone/>
                      </a:pPr>
                      <a:r>
                        <a:rPr lang="en-US" altLang="en-US" sz="800" dirty="0">
                          <a:sym typeface="+mn-ea"/>
                        </a:rPr>
                        <a:t>Using Machine Learning Classiﬁer</a:t>
                      </a:r>
                      <a:r>
                        <a:rPr lang="en-IN" altLang="en-US" sz="800" dirty="0">
                          <a:sym typeface="+mn-ea"/>
                        </a:rPr>
                        <a:t>s</a:t>
                      </a:r>
                      <a:endParaRPr lang="en-IN" altLang="en-US" sz="800" u="none" strike="noStrike" cap="none" dirty="0">
                        <a:sym typeface="+mn-ea"/>
                      </a:endParaRP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IN" sz="800" dirty="0">
                          <a:sym typeface="+mn-ea"/>
                        </a:rPr>
                        <a:t>GBA, MLP</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altLang="en-US" sz="800" u="none" strike="noStrike" cap="none"/>
                        <a:t>Applied multiple machine learning classifiers on the UCI Heart Disease dataset to predict coronary heart disease.</a:t>
                      </a:r>
                      <a:endParaRPr lang="en-US" altLang="en-US"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IN" sz="800" dirty="0">
                          <a:sym typeface="+mn-ea"/>
                        </a:rPr>
                        <a:t>UCI Heart Disease</a:t>
                      </a:r>
                      <a:endParaRPr sz="800" u="none" strike="noStrike" cap="none" dirty="0"/>
                    </a:p>
                    <a:p>
                      <a:pPr marL="0" marR="0" lvl="0" indent="0" algn="l" rtl="0">
                        <a:spcBef>
                          <a:spcPts val="0"/>
                        </a:spcBef>
                        <a:spcAft>
                          <a:spcPts val="0"/>
                        </a:spcAft>
                        <a:buClr>
                          <a:srgbClr val="000000"/>
                        </a:buClr>
                        <a:buSzPts val="800"/>
                        <a:buFont typeface="Calibri" panose="020F0502020204030204"/>
                        <a:buNone/>
                      </a:pP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IN" altLang="en-US" sz="800" u="none" strike="noStrike" cap="none">
                          <a:solidFill>
                            <a:srgbClr val="000000"/>
                          </a:solidFill>
                        </a:rPr>
                        <a:t>9</a:t>
                      </a:r>
                      <a:r>
                        <a:rPr lang="en-US" sz="800" u="none" strike="noStrike" cap="none">
                          <a:solidFill>
                            <a:srgbClr val="000000"/>
                          </a:solidFill>
                        </a:rPr>
                        <a:t>5%</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70" name="Shape 70"/>
        <p:cNvGrpSpPr/>
        <p:nvPr/>
      </p:nvGrpSpPr>
      <p:grpSpPr>
        <a:xfrm>
          <a:off x="0" y="0"/>
          <a:ext cx="0" cy="0"/>
          <a:chOff x="0" y="0"/>
          <a:chExt cx="0" cy="0"/>
        </a:xfrm>
      </p:grpSpPr>
      <p:sp>
        <p:nvSpPr>
          <p:cNvPr id="71" name="Google Shape;71;p7"/>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 name="Google Shape;72;p7"/>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 name="Google Shape;73;p7"/>
          <p:cNvSpPr/>
          <p:nvPr/>
        </p:nvSpPr>
        <p:spPr>
          <a:xfrm>
            <a:off x="457200" y="914400"/>
            <a:ext cx="8229600"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EXISTING SYSTEM</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74" name="Google Shape;74;p7"/>
          <p:cNvSpPr/>
          <p:nvPr/>
        </p:nvSpPr>
        <p:spPr>
          <a:xfrm>
            <a:off x="457200" y="1645920"/>
            <a:ext cx="8229600" cy="7315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93B"/>
              </a:buClr>
              <a:buSzPts val="1300"/>
              <a:buFont typeface="Arial" panose="020B0604020202020204"/>
              <a:buNone/>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Before the development of AI-based heart disease prediction platforms, diagnosis and risk assessment relied on traditional methods including rule-based expert systems and basic machine learning models.</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75" name="Google Shape;75;p7"/>
          <p:cNvSpPr/>
          <p:nvPr/>
        </p:nvSpPr>
        <p:spPr>
          <a:xfrm>
            <a:off x="457200" y="2560320"/>
            <a:ext cx="82296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5F7A"/>
              </a:buClr>
              <a:buSzPts val="1800"/>
              <a:buFont typeface="Arial" panose="020B0604020202020204"/>
              <a:buNone/>
            </a:pPr>
            <a:r>
              <a:rPr lang="en-US" sz="1800" b="1" i="0" u="none" strike="noStrike" cap="none">
                <a:solidFill>
                  <a:srgbClr val="1A5F7A"/>
                </a:solidFill>
                <a:latin typeface="Arial" panose="020B0604020202020204"/>
                <a:ea typeface="Arial" panose="020B0604020202020204"/>
                <a:cs typeface="Arial" panose="020B0604020202020204"/>
                <a:sym typeface="Arial" panose="020B0604020202020204"/>
              </a:rPr>
              <a:t>DISADVANTAGES</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76" name="Google Shape;76;p7"/>
          <p:cNvSpPr/>
          <p:nvPr/>
        </p:nvSpPr>
        <p:spPr>
          <a:xfrm>
            <a:off x="731520" y="3017520"/>
            <a:ext cx="7680960" cy="164592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E293B"/>
              </a:buClr>
              <a:buSzPts val="1300"/>
              <a:buFont typeface="Arial" panose="020B0604020202020204"/>
              <a:buChar char="•"/>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Time-consuming diagnosis - Manual analysis of medical reports takes significant time.</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300"/>
              <a:buFont typeface="Arial" panose="020B0604020202020204"/>
              <a:buChar char="•"/>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Human error and subjectivity - Diagnosis depends on doctor's experience, leading to inconsistent results.</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300"/>
              <a:buFont typeface="Arial" panose="020B0604020202020204"/>
              <a:buChar char="•"/>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Limited accuracy - Rule-based systems cannot adapt to new patterns in data.</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300"/>
              <a:buFont typeface="Arial" panose="020B0604020202020204"/>
              <a:buChar char="•"/>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Single machine learning models often suffer from overfitting or underfitting.</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81" name="Shape 81"/>
        <p:cNvGrpSpPr/>
        <p:nvPr/>
      </p:nvGrpSpPr>
      <p:grpSpPr>
        <a:xfrm>
          <a:off x="0" y="0"/>
          <a:ext cx="0" cy="0"/>
          <a:chOff x="0" y="0"/>
          <a:chExt cx="0" cy="0"/>
        </a:xfrm>
      </p:grpSpPr>
      <p:sp>
        <p:nvSpPr>
          <p:cNvPr id="82" name="Google Shape;82;p8"/>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 name="Google Shape;83;p8"/>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 name="Google Shape;84;p8"/>
          <p:cNvSpPr/>
          <p:nvPr/>
        </p:nvSpPr>
        <p:spPr>
          <a:xfrm>
            <a:off x="457200" y="914400"/>
            <a:ext cx="8229600"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PROPOSED SYSTEM</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5" name="Google Shape;85;p8"/>
          <p:cNvSpPr/>
          <p:nvPr/>
        </p:nvSpPr>
        <p:spPr>
          <a:xfrm>
            <a:off x="457200" y="1645920"/>
            <a:ext cx="8229600" cy="8229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93B"/>
              </a:buClr>
              <a:buSzPts val="1300"/>
              <a:buFont typeface="Arial" panose="020B0604020202020204"/>
              <a:buNone/>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The proposed system is an AI-based heart disease assessment platform that uses Random Forest classifier to predict risk. The system takes patient medical parameters such as age, gender, blood pressure, cholesterol levels, and heart rate as input. Data is preprocessed to handle missing values and normalize features before model training.</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6" name="Google Shape;86;p8"/>
          <p:cNvSpPr/>
          <p:nvPr/>
        </p:nvSpPr>
        <p:spPr>
          <a:xfrm>
            <a:off x="457200" y="2651760"/>
            <a:ext cx="82296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5F7A"/>
              </a:buClr>
              <a:buSzPts val="1800"/>
              <a:buFont typeface="Arial" panose="020B0604020202020204"/>
              <a:buNone/>
            </a:pPr>
            <a:r>
              <a:rPr lang="en-US" sz="1800" b="1" i="0" u="none" strike="noStrike" cap="none">
                <a:solidFill>
                  <a:srgbClr val="1A5F7A"/>
                </a:solidFill>
                <a:latin typeface="Arial" panose="020B0604020202020204"/>
                <a:ea typeface="Arial" panose="020B0604020202020204"/>
                <a:cs typeface="Arial" panose="020B0604020202020204"/>
                <a:sym typeface="Arial" panose="020B0604020202020204"/>
              </a:rPr>
              <a:t>ADVANTAGES</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7" name="Google Shape;87;p8"/>
          <p:cNvSpPr/>
          <p:nvPr/>
        </p:nvSpPr>
        <p:spPr>
          <a:xfrm>
            <a:off x="731520" y="3108960"/>
            <a:ext cx="7680960" cy="164592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High prediction accuracy through Random Forest ensemble approach.</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Early detection of heart disease before severe symptoms appear.</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Automated and fast assessment - Results within seconds.</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Reduced human error with consistent and reliable predictions.</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Handles complex medical data and captures hidden relationships.</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92" name="Shape 92"/>
        <p:cNvGrpSpPr/>
        <p:nvPr/>
      </p:nvGrpSpPr>
      <p:grpSpPr>
        <a:xfrm>
          <a:off x="0" y="0"/>
          <a:ext cx="0" cy="0"/>
          <a:chOff x="0" y="0"/>
          <a:chExt cx="0" cy="0"/>
        </a:xfrm>
      </p:grpSpPr>
      <p:sp>
        <p:nvSpPr>
          <p:cNvPr id="93" name="Google Shape;93;p9"/>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 name="Google Shape;94;p9"/>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 name="Google Shape;95;p9"/>
          <p:cNvSpPr/>
          <p:nvPr/>
        </p:nvSpPr>
        <p:spPr>
          <a:xfrm>
            <a:off x="457200" y="731520"/>
            <a:ext cx="8229600"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200"/>
              <a:buFont typeface="Arial" panose="020B0604020202020204"/>
              <a:buNone/>
            </a:pPr>
            <a:r>
              <a:rPr lang="en-US" sz="3200" b="1" i="0" u="none" strike="noStrike" cap="none">
                <a:solidFill>
                  <a:srgbClr val="1A5F7A"/>
                </a:solidFill>
                <a:latin typeface="Arial" panose="020B0604020202020204"/>
                <a:ea typeface="Arial" panose="020B0604020202020204"/>
                <a:cs typeface="Arial" panose="020B0604020202020204"/>
                <a:sym typeface="Arial" panose="020B0604020202020204"/>
              </a:rPr>
              <a:t>WHY RANDOM FOREST IS CHOSEN</a:t>
            </a:r>
            <a:endParaRPr sz="3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6" name="Google Shape;96;p9"/>
          <p:cNvSpPr/>
          <p:nvPr/>
        </p:nvSpPr>
        <p:spPr>
          <a:xfrm>
            <a:off x="731520" y="1463040"/>
            <a:ext cx="7680960" cy="320040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High Accuracy - Combines multiple decision trees, improving prediction accuracy.</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Handles Non-Linear Data - Medical data is complex; Random Forest captures these patterns effectively.</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Reduces Overfitting - Averaging results from many trees avoids overfitting.</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Works Well with Medical Datasets - Efficient even with missing values and mixed data types.</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Feature Importance - Identifies important health parameters like cholesterol, blood pressure, and age.</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Robust and Reliable - Suitable for real-world healthcare applications.</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01" name="Shape 101"/>
        <p:cNvGrpSpPr/>
        <p:nvPr/>
      </p:nvGrpSpPr>
      <p:grpSpPr>
        <a:xfrm>
          <a:off x="0" y="0"/>
          <a:ext cx="0" cy="0"/>
          <a:chOff x="0" y="0"/>
          <a:chExt cx="0" cy="0"/>
        </a:xfrm>
      </p:grpSpPr>
      <p:sp>
        <p:nvSpPr>
          <p:cNvPr id="102" name="Google Shape;102;p10"/>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 name="Google Shape;103;p10"/>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 name="Google Shape;104;p10"/>
          <p:cNvSpPr/>
          <p:nvPr/>
        </p:nvSpPr>
        <p:spPr>
          <a:xfrm>
            <a:off x="457200" y="731520"/>
            <a:ext cx="8229600"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2800"/>
              <a:buFont typeface="Arial" panose="020B0604020202020204"/>
              <a:buNone/>
            </a:pPr>
            <a:r>
              <a:rPr lang="en-US" sz="2800" b="1" i="0" u="none" strike="noStrike" cap="none">
                <a:solidFill>
                  <a:srgbClr val="1A5F7A"/>
                </a:solidFill>
                <a:latin typeface="Arial" panose="020B0604020202020204"/>
                <a:ea typeface="Arial" panose="020B0604020202020204"/>
                <a:cs typeface="Arial" panose="020B0604020202020204"/>
                <a:sym typeface="Arial" panose="020B0604020202020204"/>
              </a:rPr>
              <a:t>FUNCTIONAL AND NON-FUNCTIONAL REQUIREMENTS</a:t>
            </a:r>
            <a:endParaRPr sz="2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5" name="Google Shape;105;p10"/>
          <p:cNvSpPr/>
          <p:nvPr/>
        </p:nvSpPr>
        <p:spPr>
          <a:xfrm>
            <a:off x="457200" y="1463040"/>
            <a:ext cx="4114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5F7A"/>
              </a:buClr>
              <a:buSzPts val="1600"/>
              <a:buFont typeface="Arial" panose="020B0604020202020204"/>
              <a:buNone/>
            </a:pPr>
            <a:r>
              <a:rPr lang="en-US" sz="1600" b="1" i="0" u="none" strike="noStrike" cap="none">
                <a:solidFill>
                  <a:srgbClr val="1A5F7A"/>
                </a:solidFill>
                <a:latin typeface="Arial" panose="020B0604020202020204"/>
                <a:ea typeface="Arial" panose="020B0604020202020204"/>
                <a:cs typeface="Arial" panose="020B0604020202020204"/>
                <a:sym typeface="Arial" panose="020B0604020202020204"/>
              </a:rPr>
              <a:t>FUNCTIONAL REQUIREMENTS</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6" name="Google Shape;106;p10"/>
          <p:cNvSpPr/>
          <p:nvPr/>
        </p:nvSpPr>
        <p:spPr>
          <a:xfrm>
            <a:off x="731520" y="1920240"/>
            <a:ext cx="3657600" cy="256032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Input patient medical details</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Validate input data</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Preprocess medical data</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Apply Random Forest algorithm</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Predict heart disease risk</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Display prediction results</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7" name="Google Shape;107;p10"/>
          <p:cNvSpPr/>
          <p:nvPr/>
        </p:nvSpPr>
        <p:spPr>
          <a:xfrm>
            <a:off x="4754880" y="1463040"/>
            <a:ext cx="4114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5F7A"/>
              </a:buClr>
              <a:buSzPts val="1600"/>
              <a:buFont typeface="Arial" panose="020B0604020202020204"/>
              <a:buNone/>
            </a:pPr>
            <a:r>
              <a:rPr lang="en-US" sz="1600" b="1" i="0" u="none" strike="noStrike" cap="none">
                <a:solidFill>
                  <a:srgbClr val="1A5F7A"/>
                </a:solidFill>
                <a:latin typeface="Arial" panose="020B0604020202020204"/>
                <a:ea typeface="Arial" panose="020B0604020202020204"/>
                <a:cs typeface="Arial" panose="020B0604020202020204"/>
                <a:sym typeface="Arial" panose="020B0604020202020204"/>
              </a:rPr>
              <a:t>NON-FUNCTIONAL REQUIREMENTS</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8" name="Google Shape;108;p10"/>
          <p:cNvSpPr/>
          <p:nvPr/>
        </p:nvSpPr>
        <p:spPr>
          <a:xfrm>
            <a:off x="4937760" y="1920240"/>
            <a:ext cx="3657600" cy="256032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High prediction accuracy</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Fast response time</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Scalability</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Data security and privacy</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Reliability and robustness</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User-friendly interface</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13" name="Shape 113"/>
        <p:cNvGrpSpPr/>
        <p:nvPr/>
      </p:nvGrpSpPr>
      <p:grpSpPr>
        <a:xfrm>
          <a:off x="0" y="0"/>
          <a:ext cx="0" cy="0"/>
          <a:chOff x="0" y="0"/>
          <a:chExt cx="0" cy="0"/>
        </a:xfrm>
      </p:grpSpPr>
      <p:sp>
        <p:nvSpPr>
          <p:cNvPr id="114" name="Google Shape;114;p11"/>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 name="Google Shape;115;p11"/>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 name="Google Shape;116;p11"/>
          <p:cNvSpPr/>
          <p:nvPr/>
        </p:nvSpPr>
        <p:spPr>
          <a:xfrm>
            <a:off x="457200" y="731520"/>
            <a:ext cx="8229600"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2800"/>
              <a:buFont typeface="Arial" panose="020B0604020202020204"/>
              <a:buNone/>
            </a:pPr>
            <a:r>
              <a:rPr lang="en-US" sz="2800" b="1" i="0" u="none" strike="noStrike" cap="none">
                <a:solidFill>
                  <a:srgbClr val="1A5F7A"/>
                </a:solidFill>
                <a:latin typeface="Arial" panose="020B0604020202020204"/>
                <a:ea typeface="Arial" panose="020B0604020202020204"/>
                <a:cs typeface="Arial" panose="020B0604020202020204"/>
                <a:sym typeface="Arial" panose="020B0604020202020204"/>
              </a:rPr>
              <a:t>SOFTWARE AND HARDWARE REQUIREMENTS</a:t>
            </a:r>
            <a:endParaRPr sz="2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7" name="Google Shape;117;p11"/>
          <p:cNvSpPr/>
          <p:nvPr/>
        </p:nvSpPr>
        <p:spPr>
          <a:xfrm>
            <a:off x="457200" y="1463040"/>
            <a:ext cx="4114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5F7A"/>
              </a:buClr>
              <a:buSzPts val="1600"/>
              <a:buFont typeface="Arial" panose="020B0604020202020204"/>
              <a:buNone/>
            </a:pPr>
            <a:r>
              <a:rPr lang="en-US" sz="1600" b="1" i="0" u="none" strike="noStrike" cap="none">
                <a:solidFill>
                  <a:srgbClr val="1A5F7A"/>
                </a:solidFill>
                <a:latin typeface="Arial" panose="020B0604020202020204"/>
                <a:ea typeface="Arial" panose="020B0604020202020204"/>
                <a:cs typeface="Arial" panose="020B0604020202020204"/>
                <a:sym typeface="Arial" panose="020B0604020202020204"/>
              </a:rPr>
              <a:t>SOFTWARE REQUIREMENT</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8" name="Google Shape;118;p11"/>
          <p:cNvSpPr/>
          <p:nvPr/>
        </p:nvSpPr>
        <p:spPr>
          <a:xfrm>
            <a:off x="731520" y="1920240"/>
            <a:ext cx="3840480" cy="2560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93B"/>
              </a:buClr>
              <a:buSzPts val="1100"/>
              <a:buFont typeface="Arial" panose="020B0604020202020204"/>
              <a:buNone/>
            </a:pPr>
            <a:r>
              <a:rPr lang="en-US" sz="1100" b="0" i="0" u="none" strike="noStrike" cap="none">
                <a:solidFill>
                  <a:srgbClr val="1E293B"/>
                </a:solidFill>
                <a:latin typeface="Arial" panose="020B0604020202020204"/>
                <a:ea typeface="Arial" panose="020B0604020202020204"/>
                <a:cs typeface="Arial" panose="020B0604020202020204"/>
                <a:sym typeface="Arial" panose="020B0604020202020204"/>
              </a:rPr>
              <a:t>Operating System: Windows</a:t>
            </a:r>
            <a:endParaRPr sz="1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rgbClr val="1E293B"/>
              </a:buClr>
              <a:buSzPts val="1100"/>
              <a:buFont typeface="Arial" panose="020B0604020202020204"/>
              <a:buNone/>
            </a:pPr>
            <a:r>
              <a:rPr lang="en-US" sz="1100" b="0" i="0" u="none" strike="noStrike" cap="none">
                <a:solidFill>
                  <a:srgbClr val="1E293B"/>
                </a:solidFill>
                <a:latin typeface="Arial" panose="020B0604020202020204"/>
                <a:ea typeface="Arial" panose="020B0604020202020204"/>
                <a:cs typeface="Arial" panose="020B0604020202020204"/>
                <a:sym typeface="Arial" panose="020B0604020202020204"/>
              </a:rPr>
              <a:t>Programming Language: Python 3.9, Kotlin</a:t>
            </a:r>
            <a:endParaRPr sz="1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rgbClr val="1E293B"/>
              </a:buClr>
              <a:buSzPts val="1100"/>
              <a:buFont typeface="Arial" panose="020B0604020202020204"/>
              <a:buNone/>
            </a:pPr>
            <a:r>
              <a:rPr lang="en-US" sz="1100" b="0" i="0" u="none" strike="noStrike" cap="none">
                <a:solidFill>
                  <a:srgbClr val="1E293B"/>
                </a:solidFill>
                <a:latin typeface="Arial" panose="020B0604020202020204"/>
                <a:ea typeface="Arial" panose="020B0604020202020204"/>
                <a:cs typeface="Arial" panose="020B0604020202020204"/>
                <a:sym typeface="Arial" panose="020B0604020202020204"/>
              </a:rPr>
              <a:t>Backend Framework: Flask / FastAPI</a:t>
            </a:r>
            <a:endParaRPr sz="1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rgbClr val="1E293B"/>
              </a:buClr>
              <a:buSzPts val="1100"/>
              <a:buFont typeface="Arial" panose="020B0604020202020204"/>
              <a:buNone/>
            </a:pPr>
            <a:r>
              <a:rPr lang="en-US" sz="1100" b="0" i="0" u="none" strike="noStrike" cap="none">
                <a:solidFill>
                  <a:srgbClr val="1E293B"/>
                </a:solidFill>
                <a:latin typeface="Arial" panose="020B0604020202020204"/>
                <a:ea typeface="Arial" panose="020B0604020202020204"/>
                <a:cs typeface="Arial" panose="020B0604020202020204"/>
                <a:sym typeface="Arial" panose="020B0604020202020204"/>
              </a:rPr>
              <a:t>Frontend: HTML, CSS, JavaScript</a:t>
            </a:r>
            <a:endParaRPr sz="1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rgbClr val="1E293B"/>
              </a:buClr>
              <a:buSzPts val="1100"/>
              <a:buFont typeface="Arial" panose="020B0604020202020204"/>
              <a:buNone/>
            </a:pPr>
            <a:r>
              <a:rPr lang="en-US" sz="1100" b="0" i="0" u="none" strike="noStrike" cap="none">
                <a:solidFill>
                  <a:srgbClr val="1E293B"/>
                </a:solidFill>
                <a:latin typeface="Arial" panose="020B0604020202020204"/>
                <a:ea typeface="Arial" panose="020B0604020202020204"/>
                <a:cs typeface="Arial" panose="020B0604020202020204"/>
                <a:sym typeface="Arial" panose="020B0604020202020204"/>
              </a:rPr>
              <a:t>Android Studio (Latest stable version)</a:t>
            </a:r>
            <a:endParaRPr sz="1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rgbClr val="1E293B"/>
              </a:buClr>
              <a:buSzPts val="1100"/>
              <a:buFont typeface="Arial" panose="020B0604020202020204"/>
              <a:buNone/>
            </a:pPr>
            <a:r>
              <a:rPr lang="en-US" sz="1100" b="0" i="0" u="none" strike="noStrike" cap="none">
                <a:solidFill>
                  <a:srgbClr val="1E293B"/>
                </a:solidFill>
                <a:latin typeface="Arial" panose="020B0604020202020204"/>
                <a:ea typeface="Arial" panose="020B0604020202020204"/>
                <a:cs typeface="Arial" panose="020B0604020202020204"/>
                <a:sym typeface="Arial" panose="020B0604020202020204"/>
              </a:rPr>
              <a:t>Android SDK</a:t>
            </a:r>
            <a:endParaRPr sz="1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rgbClr val="1E293B"/>
              </a:buClr>
              <a:buSzPts val="1100"/>
              <a:buFont typeface="Arial" panose="020B0604020202020204"/>
              <a:buNone/>
            </a:pPr>
            <a:r>
              <a:rPr lang="en-US" sz="1100" b="0" i="0" u="none" strike="noStrike" cap="none">
                <a:solidFill>
                  <a:srgbClr val="1E293B"/>
                </a:solidFill>
                <a:latin typeface="Arial" panose="020B0604020202020204"/>
                <a:ea typeface="Arial" panose="020B0604020202020204"/>
                <a:cs typeface="Arial" panose="020B0604020202020204"/>
                <a:sym typeface="Arial" panose="020B0604020202020204"/>
              </a:rPr>
              <a:t>Libraries: NumPy, Pandas, Scikit-learn, Matplotlib, Seaborn, Flask/Streamlit</a:t>
            </a:r>
            <a:endParaRPr sz="1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9" name="Google Shape;119;p11"/>
          <p:cNvSpPr/>
          <p:nvPr/>
        </p:nvSpPr>
        <p:spPr>
          <a:xfrm>
            <a:off x="4754880" y="1463040"/>
            <a:ext cx="4114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5F7A"/>
              </a:buClr>
              <a:buSzPts val="1600"/>
              <a:buFont typeface="Arial" panose="020B0604020202020204"/>
              <a:buNone/>
            </a:pPr>
            <a:r>
              <a:rPr lang="en-US" sz="1600" b="1" i="0" u="none" strike="noStrike" cap="none">
                <a:solidFill>
                  <a:srgbClr val="1A5F7A"/>
                </a:solidFill>
                <a:latin typeface="Arial" panose="020B0604020202020204"/>
                <a:ea typeface="Arial" panose="020B0604020202020204"/>
                <a:cs typeface="Arial" panose="020B0604020202020204"/>
                <a:sym typeface="Arial" panose="020B0604020202020204"/>
              </a:rPr>
              <a:t>HARDWARE REQUIREMENTS</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0" name="Google Shape;120;p11"/>
          <p:cNvSpPr/>
          <p:nvPr/>
        </p:nvSpPr>
        <p:spPr>
          <a:xfrm>
            <a:off x="4937760" y="1920240"/>
            <a:ext cx="3657600" cy="2560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93B"/>
              </a:buClr>
              <a:buSzPts val="1200"/>
              <a:buFont typeface="Arial" panose="020B0604020202020204"/>
              <a:buNone/>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Operating System: Windows</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rgbClr val="1E293B"/>
              </a:buClr>
              <a:buSzPts val="1200"/>
              <a:buFont typeface="Arial" panose="020B0604020202020204"/>
              <a:buNone/>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Processor: Intel i5 or higher</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rgbClr val="1E293B"/>
              </a:buClr>
              <a:buSzPts val="1200"/>
              <a:buFont typeface="Arial" panose="020B0604020202020204"/>
              <a:buNone/>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RAM: Minimum 8 GB</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rgbClr val="1E293B"/>
              </a:buClr>
              <a:buSzPts val="1200"/>
              <a:buFont typeface="Arial" panose="020B0604020202020204"/>
              <a:buNone/>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Storage: Minimum 50 GB</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25" name="Shape 125"/>
        <p:cNvGrpSpPr/>
        <p:nvPr/>
      </p:nvGrpSpPr>
      <p:grpSpPr>
        <a:xfrm>
          <a:off x="0" y="0"/>
          <a:ext cx="0" cy="0"/>
          <a:chOff x="0" y="0"/>
          <a:chExt cx="0" cy="0"/>
        </a:xfrm>
      </p:grpSpPr>
      <p:sp>
        <p:nvSpPr>
          <p:cNvPr id="126" name="Google Shape;126;p13"/>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7" name="Google Shape;127;p13"/>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8" name="Google Shape;128;p13"/>
          <p:cNvSpPr/>
          <p:nvPr/>
        </p:nvSpPr>
        <p:spPr>
          <a:xfrm>
            <a:off x="457200" y="731520"/>
            <a:ext cx="82296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SYSTEM ARCHITECTURE</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29" name="Google Shape;129;p13" descr="image5.png"/>
          <p:cNvPicPr preferRelativeResize="0"/>
          <p:nvPr/>
        </p:nvPicPr>
        <p:blipFill rotWithShape="1">
          <a:blip r:embed="rId1"/>
          <a:srcRect/>
          <a:stretch>
            <a:fillRect/>
          </a:stretch>
        </p:blipFill>
        <p:spPr>
          <a:xfrm>
            <a:off x="1371600" y="1463040"/>
            <a:ext cx="6400800" cy="347472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34" name="Shape 134"/>
        <p:cNvGrpSpPr/>
        <p:nvPr/>
      </p:nvGrpSpPr>
      <p:grpSpPr>
        <a:xfrm>
          <a:off x="0" y="0"/>
          <a:ext cx="0" cy="0"/>
          <a:chOff x="0" y="0"/>
          <a:chExt cx="0" cy="0"/>
        </a:xfrm>
      </p:grpSpPr>
      <p:sp>
        <p:nvSpPr>
          <p:cNvPr id="135" name="Google Shape;135;p14"/>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 name="Google Shape;136;p14"/>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 name="Google Shape;137;p14"/>
          <p:cNvSpPr/>
          <p:nvPr/>
        </p:nvSpPr>
        <p:spPr>
          <a:xfrm>
            <a:off x="457200" y="731520"/>
            <a:ext cx="82296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ER DIAGRAM</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38" name="Google Shape;138;p14" descr="image6.png"/>
          <p:cNvPicPr preferRelativeResize="0"/>
          <p:nvPr/>
        </p:nvPicPr>
        <p:blipFill rotWithShape="1">
          <a:blip r:embed="rId1"/>
          <a:srcRect/>
          <a:stretch>
            <a:fillRect/>
          </a:stretch>
        </p:blipFill>
        <p:spPr>
          <a:xfrm>
            <a:off x="1371600" y="1463040"/>
            <a:ext cx="6400800" cy="347472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43" name="Shape 143"/>
        <p:cNvGrpSpPr/>
        <p:nvPr/>
      </p:nvGrpSpPr>
      <p:grpSpPr>
        <a:xfrm>
          <a:off x="0" y="0"/>
          <a:ext cx="0" cy="0"/>
          <a:chOff x="0" y="0"/>
          <a:chExt cx="0" cy="0"/>
        </a:xfrm>
      </p:grpSpPr>
      <p:sp>
        <p:nvSpPr>
          <p:cNvPr id="144" name="Google Shape;144;p15"/>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 name="Google Shape;145;p15"/>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 name="Google Shape;146;p15"/>
          <p:cNvSpPr/>
          <p:nvPr/>
        </p:nvSpPr>
        <p:spPr>
          <a:xfrm>
            <a:off x="457200" y="731520"/>
            <a:ext cx="82296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SEQUENCE DIAGRAM</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47" name="Google Shape;147;p15" descr="image7.png"/>
          <p:cNvPicPr preferRelativeResize="0"/>
          <p:nvPr/>
        </p:nvPicPr>
        <p:blipFill rotWithShape="1">
          <a:blip r:embed="rId1"/>
          <a:srcRect/>
          <a:stretch>
            <a:fillRect/>
          </a:stretch>
        </p:blipFill>
        <p:spPr>
          <a:xfrm>
            <a:off x="1371600" y="1463040"/>
            <a:ext cx="6400800" cy="347472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52" name="Shape 152"/>
        <p:cNvGrpSpPr/>
        <p:nvPr/>
      </p:nvGrpSpPr>
      <p:grpSpPr>
        <a:xfrm>
          <a:off x="0" y="0"/>
          <a:ext cx="0" cy="0"/>
          <a:chOff x="0" y="0"/>
          <a:chExt cx="0" cy="0"/>
        </a:xfrm>
      </p:grpSpPr>
      <p:sp>
        <p:nvSpPr>
          <p:cNvPr id="153" name="Google Shape;153;p16"/>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 name="Google Shape;154;p16"/>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 name="Google Shape;155;p16"/>
          <p:cNvSpPr/>
          <p:nvPr/>
        </p:nvSpPr>
        <p:spPr>
          <a:xfrm>
            <a:off x="457200" y="731520"/>
            <a:ext cx="82296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DATA FLOW DIAGRAM</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56" name="Google Shape;156;p16" descr="image4.png"/>
          <p:cNvPicPr preferRelativeResize="0"/>
          <p:nvPr/>
        </p:nvPicPr>
        <p:blipFill rotWithShape="1">
          <a:blip r:embed="rId1"/>
          <a:srcRect/>
          <a:stretch>
            <a:fillRect/>
          </a:stretch>
        </p:blipFill>
        <p:spPr>
          <a:xfrm>
            <a:off x="914400" y="1463040"/>
            <a:ext cx="7315200" cy="347472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61" name="Shape 161"/>
        <p:cNvGrpSpPr/>
        <p:nvPr/>
      </p:nvGrpSpPr>
      <p:grpSpPr>
        <a:xfrm>
          <a:off x="0" y="0"/>
          <a:ext cx="0" cy="0"/>
          <a:chOff x="0" y="0"/>
          <a:chExt cx="0" cy="0"/>
        </a:xfrm>
      </p:grpSpPr>
      <p:sp>
        <p:nvSpPr>
          <p:cNvPr id="162" name="Google Shape;162;p17"/>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 name="Google Shape;163;p17"/>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 name="Google Shape;164;p17"/>
          <p:cNvSpPr/>
          <p:nvPr/>
        </p:nvSpPr>
        <p:spPr>
          <a:xfrm>
            <a:off x="457200" y="731520"/>
            <a:ext cx="82296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COMPONENT DIAGRAM</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65" name="Google Shape;165;p17" descr="image8.png"/>
          <p:cNvPicPr preferRelativeResize="0"/>
          <p:nvPr/>
        </p:nvPicPr>
        <p:blipFill rotWithShape="1">
          <a:blip r:embed="rId1"/>
          <a:srcRect/>
          <a:stretch>
            <a:fillRect/>
          </a:stretch>
        </p:blipFill>
        <p:spPr>
          <a:xfrm>
            <a:off x="1371600" y="1463040"/>
            <a:ext cx="6400800" cy="347472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70" name="Shape 170"/>
        <p:cNvGrpSpPr/>
        <p:nvPr/>
      </p:nvGrpSpPr>
      <p:grpSpPr>
        <a:xfrm>
          <a:off x="0" y="0"/>
          <a:ext cx="0" cy="0"/>
          <a:chOff x="0" y="0"/>
          <a:chExt cx="0" cy="0"/>
        </a:xfrm>
      </p:grpSpPr>
      <p:sp>
        <p:nvSpPr>
          <p:cNvPr id="171" name="Google Shape;171;p18"/>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 name="Google Shape;172;p18"/>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 name="Google Shape;173;p18"/>
          <p:cNvSpPr/>
          <p:nvPr/>
        </p:nvSpPr>
        <p:spPr>
          <a:xfrm>
            <a:off x="457200" y="731520"/>
            <a:ext cx="82296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COLLABORATION DIAGRAM</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74" name="Google Shape;174;p18" descr="image9.png"/>
          <p:cNvPicPr preferRelativeResize="0"/>
          <p:nvPr/>
        </p:nvPicPr>
        <p:blipFill rotWithShape="1">
          <a:blip r:embed="rId1"/>
          <a:srcRect/>
          <a:stretch>
            <a:fillRect/>
          </a:stretch>
        </p:blipFill>
        <p:spPr>
          <a:xfrm>
            <a:off x="1371600" y="1463040"/>
            <a:ext cx="6400800" cy="347472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79" name="Shape 179"/>
        <p:cNvGrpSpPr/>
        <p:nvPr/>
      </p:nvGrpSpPr>
      <p:grpSpPr>
        <a:xfrm>
          <a:off x="0" y="0"/>
          <a:ext cx="0" cy="0"/>
          <a:chOff x="0" y="0"/>
          <a:chExt cx="0" cy="0"/>
        </a:xfrm>
      </p:grpSpPr>
      <p:sp>
        <p:nvSpPr>
          <p:cNvPr id="180" name="Google Shape;180;p19"/>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 name="Google Shape;181;p19"/>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 name="Google Shape;182;p19"/>
          <p:cNvSpPr/>
          <p:nvPr/>
        </p:nvSpPr>
        <p:spPr>
          <a:xfrm>
            <a:off x="457200" y="731520"/>
            <a:ext cx="82296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DEPLOYMENT DIAGRAM</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83" name="Google Shape;183;p19" descr="image10.png"/>
          <p:cNvPicPr preferRelativeResize="0"/>
          <p:nvPr/>
        </p:nvPicPr>
        <p:blipFill rotWithShape="1">
          <a:blip r:embed="rId1"/>
          <a:srcRect/>
          <a:stretch>
            <a:fillRect/>
          </a:stretch>
        </p:blipFill>
        <p:spPr>
          <a:xfrm>
            <a:off x="1371600" y="1463040"/>
            <a:ext cx="6400800" cy="347472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88" name="Shape 188"/>
        <p:cNvGrpSpPr/>
        <p:nvPr/>
      </p:nvGrpSpPr>
      <p:grpSpPr>
        <a:xfrm>
          <a:off x="0" y="0"/>
          <a:ext cx="0" cy="0"/>
          <a:chOff x="0" y="0"/>
          <a:chExt cx="0" cy="0"/>
        </a:xfrm>
      </p:grpSpPr>
      <p:sp>
        <p:nvSpPr>
          <p:cNvPr id="189" name="Google Shape;189;p20"/>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0" name="Google Shape;190;p20"/>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1" name="Google Shape;191;p20"/>
          <p:cNvSpPr/>
          <p:nvPr/>
        </p:nvSpPr>
        <p:spPr>
          <a:xfrm>
            <a:off x="457200" y="914400"/>
            <a:ext cx="8229600"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STATUS OF WORK</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92" name="Google Shape;192;p20"/>
          <p:cNvSpPr/>
          <p:nvPr/>
        </p:nvSpPr>
        <p:spPr>
          <a:xfrm>
            <a:off x="731520" y="1645920"/>
            <a:ext cx="7680960" cy="301752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E293B"/>
              </a:buClr>
              <a:buSzPts val="1300"/>
              <a:buFont typeface="Arial" panose="020B0604020202020204"/>
              <a:buChar char="•"/>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Literature survey and problem analysis – Completed</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300"/>
              <a:buFont typeface="Arial" panose="020B0604020202020204"/>
              <a:buChar char="•"/>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Dataset collection (UCI Heart Disease Dataset) – Completed</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300"/>
              <a:buFont typeface="Arial" panose="020B0604020202020204"/>
              <a:buChar char="•"/>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Data preprocessing – Completed</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300"/>
              <a:buFont typeface="Arial" panose="020B0604020202020204"/>
              <a:buChar char="•"/>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Random Forest model implementation – Completed</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300"/>
              <a:buFont typeface="Arial" panose="020B0604020202020204"/>
              <a:buChar char="•"/>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Model training and testing – In progress</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300"/>
              <a:buFont typeface="Arial" panose="020B0604020202020204"/>
              <a:buChar char="•"/>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User interface development – In progress</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300"/>
              <a:buFont typeface="Arial" panose="020B0604020202020204"/>
              <a:buChar char="•"/>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System testing and performance evaluation – Pending</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97" name="Shape 197"/>
        <p:cNvGrpSpPr/>
        <p:nvPr/>
      </p:nvGrpSpPr>
      <p:grpSpPr>
        <a:xfrm>
          <a:off x="0" y="0"/>
          <a:ext cx="0" cy="0"/>
          <a:chOff x="0" y="0"/>
          <a:chExt cx="0" cy="0"/>
        </a:xfrm>
      </p:grpSpPr>
      <p:sp>
        <p:nvSpPr>
          <p:cNvPr id="198" name="Google Shape;198;p21"/>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9" name="Google Shape;199;p21"/>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0" name="Google Shape;200;p21"/>
          <p:cNvSpPr/>
          <p:nvPr/>
        </p:nvSpPr>
        <p:spPr>
          <a:xfrm>
            <a:off x="457200" y="914400"/>
            <a:ext cx="8229600"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REFERENCES</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1" name="Google Shape;201;p21"/>
          <p:cNvSpPr/>
          <p:nvPr/>
        </p:nvSpPr>
        <p:spPr>
          <a:xfrm>
            <a:off x="731520" y="1645920"/>
            <a:ext cx="7680960" cy="30175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93B"/>
              </a:buClr>
              <a:buSzPts val="1200"/>
              <a:buFont typeface="Arial" panose="020B0604020202020204"/>
              <a:buNone/>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L. Breiman, Random Forests, Machine Learning, 45(1):5–32, 2001.</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chemeClr val="dk1"/>
              </a:buClr>
              <a:buSzPts val="1200"/>
              <a:buFont typeface="Calibri" panose="020F0502020204030204"/>
              <a:buNone/>
            </a:pP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rgbClr val="1E293B"/>
              </a:buClr>
              <a:buSzPts val="1200"/>
              <a:buFont typeface="Arial" panose="020B0604020202020204"/>
              <a:buNone/>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UCI Machine Learning Repository, Heart Disease Dataset, https://archive.ics.uci.edu/ml/datasets/heart+disease</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chemeClr val="dk1"/>
              </a:buClr>
              <a:buSzPts val="1200"/>
              <a:buFont typeface="Calibri" panose="020F0502020204030204"/>
              <a:buNone/>
            </a:pP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rgbClr val="1E293B"/>
              </a:buClr>
              <a:buSzPts val="1200"/>
              <a:buFont typeface="Arial" panose="020B0604020202020204"/>
              <a:buNone/>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Pedregosa et al., Scikit-learn: Machine Learning in Python, Journal of Machine Learning Research, 2011.</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chemeClr val="dk1"/>
              </a:buClr>
              <a:buSzPts val="1200"/>
              <a:buFont typeface="Calibri" panose="020F0502020204030204"/>
              <a:buNone/>
            </a:pP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rgbClr val="1E293B"/>
              </a:buClr>
              <a:buSzPts val="1200"/>
              <a:buFont typeface="Arial" panose="020B0604020202020204"/>
              <a:buNone/>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Heart Disease Prediction: A Comparative Analysis – This paper compares machine learning models for predicting heart disease using clinical data.</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65C3D0"/>
        </a:solidFill>
        <a:effectLst/>
      </p:bgPr>
    </p:bg>
    <p:spTree>
      <p:nvGrpSpPr>
        <p:cNvPr id="206" name="Shape 206"/>
        <p:cNvGrpSpPr/>
        <p:nvPr/>
      </p:nvGrpSpPr>
      <p:grpSpPr>
        <a:xfrm>
          <a:off x="0" y="0"/>
          <a:ext cx="0" cy="0"/>
          <a:chOff x="0" y="0"/>
          <a:chExt cx="0" cy="0"/>
        </a:xfrm>
      </p:grpSpPr>
      <p:sp>
        <p:nvSpPr>
          <p:cNvPr id="207" name="Google Shape;207;p22"/>
          <p:cNvSpPr/>
          <p:nvPr/>
        </p:nvSpPr>
        <p:spPr>
          <a:xfrm>
            <a:off x="914400" y="2011680"/>
            <a:ext cx="7315200" cy="914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4800"/>
              <a:buFont typeface="Arial" panose="020B0604020202020204"/>
              <a:buNone/>
            </a:pPr>
            <a:r>
              <a:rPr lang="en-US" sz="4800" b="1" i="0" u="none" strike="noStrike" cap="none">
                <a:solidFill>
                  <a:srgbClr val="1A5F7A"/>
                </a:solidFill>
                <a:latin typeface="Arial" panose="020B0604020202020204"/>
                <a:ea typeface="Arial" panose="020B0604020202020204"/>
                <a:cs typeface="Arial" panose="020B0604020202020204"/>
                <a:sym typeface="Arial" panose="020B0604020202020204"/>
              </a:rPr>
              <a:t>Thank you !</a:t>
            </a:r>
            <a:endParaRPr sz="4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tags/tag1.xml><?xml version="1.0" encoding="utf-8"?>
<p:tagLst xmlns:p="http://schemas.openxmlformats.org/presentationml/2006/main">
  <p:tag name="TABLE_ENDDRAG_ORIGIN_RECT" val="662*316"/>
  <p:tag name="TABLE_ENDDRAG_RECT" val="21*57*662*316"/>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7613</Words>
  <Application>WPS Presentation</Application>
  <PresentationFormat/>
  <Paragraphs>285</Paragraphs>
  <Slides>22</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22</vt:i4>
      </vt:variant>
    </vt:vector>
  </HeadingPairs>
  <TitlesOfParts>
    <vt:vector size="32" baseType="lpstr">
      <vt:lpstr>Arial</vt:lpstr>
      <vt:lpstr>SimSun</vt:lpstr>
      <vt:lpstr>Wingdings</vt:lpstr>
      <vt:lpstr>Arial</vt:lpstr>
      <vt:lpstr>Calibri</vt:lpstr>
      <vt:lpstr>Times New Roman</vt:lpstr>
      <vt:lpstr>Microsoft YaHei</vt:lpstr>
      <vt:lpstr>Arial Unicode MS</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Student Project</dc:creator>
  <cp:lastModifiedBy>M.Jaswanth kumar Madepalli</cp:lastModifiedBy>
  <cp:revision>4</cp:revision>
  <dcterms:created xsi:type="dcterms:W3CDTF">2026-02-05T07:30:00Z</dcterms:created>
  <dcterms:modified xsi:type="dcterms:W3CDTF">2026-02-07T08:15:02Z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C8613C2A48474E1190DDAA841537647B_12</vt:lpwstr>
  </property>
  <property fmtid="{D5CDD505-2E9C-101B-9397-08002B2CF9AE}" pid="3" name="KSOProductBuildVer">
    <vt:lpwstr>1033-12.2.0.23196</vt:lpwstr>
  </property>
</Properties>
</file>