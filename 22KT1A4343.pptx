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9" r:id="rId1"/>
  </p:sldMasterIdLst>
  <p:sldIdLst>
    <p:sldId id="256" r:id="rId2"/>
    <p:sldId id="257" r:id="rId3"/>
    <p:sldId id="258" r:id="rId4"/>
    <p:sldId id="259" r:id="rId5"/>
    <p:sldId id="260" r:id="rId6"/>
    <p:sldId id="266" r:id="rId7"/>
    <p:sldId id="267" r:id="rId8"/>
    <p:sldId id="268" r:id="rId9"/>
    <p:sldId id="269" r:id="rId10"/>
    <p:sldId id="270" r:id="rId11"/>
    <p:sldId id="271" r:id="rId12"/>
    <p:sldId id="272" r:id="rId13"/>
    <p:sldId id="273" r:id="rId14"/>
    <p:sldId id="274" r:id="rId15"/>
    <p:sldId id="278" r:id="rId16"/>
    <p:sldId id="287" r:id="rId17"/>
    <p:sldId id="288" r:id="rId18"/>
    <p:sldId id="289" r:id="rId19"/>
    <p:sldId id="290"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58" d="100"/>
          <a:sy n="58" d="100"/>
        </p:scale>
        <p:origin x="1520" y="5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396319" y="802299"/>
            <a:ext cx="5618515" cy="2541431"/>
          </a:xfrm>
        </p:spPr>
        <p:txBody>
          <a:bodyPr bIns="0" anchor="b">
            <a:normAutofit/>
          </a:bodyPr>
          <a:lstStyle>
            <a:lvl1pPr algn="l">
              <a:defRPr sz="5400"/>
            </a:lvl1pPr>
          </a:lstStyle>
          <a:p>
            <a:r>
              <a:rPr lang="en-US"/>
              <a:t>Click to edit Master title style</a:t>
            </a:r>
            <a:endParaRPr lang="en-US" dirty="0"/>
          </a:p>
        </p:txBody>
      </p:sp>
      <p:sp>
        <p:nvSpPr>
          <p:cNvPr id="3" name="Subtitle 2"/>
          <p:cNvSpPr>
            <a:spLocks noGrp="1"/>
          </p:cNvSpPr>
          <p:nvPr>
            <p:ph type="subTitle" idx="1"/>
          </p:nvPr>
        </p:nvSpPr>
        <p:spPr>
          <a:xfrm>
            <a:off x="2396319" y="3531205"/>
            <a:ext cx="5618515" cy="977621"/>
          </a:xfrm>
        </p:spPr>
        <p:txBody>
          <a:bodyPr tIns="91440" bIns="91440">
            <a:normAutofit/>
          </a:bodyPr>
          <a:lstStyle>
            <a:lvl1pPr marL="0" indent="0" algn="l">
              <a:buNone/>
              <a:defRPr sz="1600" b="0" cap="all" baseline="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7/14/2025</a:t>
            </a:fld>
            <a:endParaRPr lang="en-US"/>
          </a:p>
        </p:txBody>
      </p:sp>
      <p:sp>
        <p:nvSpPr>
          <p:cNvPr id="5" name="Footer Placeholder 4"/>
          <p:cNvSpPr>
            <a:spLocks noGrp="1"/>
          </p:cNvSpPr>
          <p:nvPr>
            <p:ph type="ftr" sz="quarter" idx="11"/>
          </p:nvPr>
        </p:nvSpPr>
        <p:spPr>
          <a:xfrm>
            <a:off x="2396319" y="329308"/>
            <a:ext cx="3086292" cy="309201"/>
          </a:xfrm>
        </p:spPr>
        <p:txBody>
          <a:bodyPr/>
          <a:lstStyle/>
          <a:p>
            <a:endParaRPr lang="en-US"/>
          </a:p>
        </p:txBody>
      </p:sp>
      <p:sp>
        <p:nvSpPr>
          <p:cNvPr id="6" name="Slide Number Placeholder 5"/>
          <p:cNvSpPr>
            <a:spLocks noGrp="1"/>
          </p:cNvSpPr>
          <p:nvPr>
            <p:ph type="sldNum" sz="quarter" idx="12"/>
          </p:nvPr>
        </p:nvSpPr>
        <p:spPr>
          <a:xfrm>
            <a:off x="1434703" y="798973"/>
            <a:ext cx="802005" cy="503578"/>
          </a:xfrm>
        </p:spPr>
        <p:txBody>
          <a:bodyPr/>
          <a:lstStyle/>
          <a:p>
            <a:fld id="{C1FF6DA9-008F-8B48-92A6-B652298478BF}" type="slidenum">
              <a:rPr lang="en-US" smtClean="0"/>
              <a:t>‹#›</a:t>
            </a:fld>
            <a:endParaRPr lang="en-US"/>
          </a:p>
        </p:txBody>
      </p:sp>
      <p:cxnSp>
        <p:nvCxnSpPr>
          <p:cNvPr id="15" name="Straight Connector 14"/>
          <p:cNvCxnSpPr/>
          <p:nvPr/>
        </p:nvCxnSpPr>
        <p:spPr>
          <a:xfrm>
            <a:off x="2396319" y="3528542"/>
            <a:ext cx="5618515"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6419199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7/14/2025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6592534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43491" y="1756130"/>
            <a:ext cx="5617002" cy="1887950"/>
          </a:xfrm>
        </p:spPr>
        <p:txBody>
          <a:bodyPr anchor="b">
            <a:normAutofit/>
          </a:bodyPr>
          <a:lstStyle>
            <a:lvl1pPr algn="l">
              <a:defRPr sz="3200"/>
            </a:lvl1pPr>
          </a:lstStyle>
          <a:p>
            <a:r>
              <a:rPr lang="en-US"/>
              <a:t>Click to edit Master title style</a:t>
            </a:r>
            <a:endParaRPr lang="en-US" dirty="0"/>
          </a:p>
        </p:txBody>
      </p:sp>
      <p:sp>
        <p:nvSpPr>
          <p:cNvPr id="3" name="Text Placeholder 2"/>
          <p:cNvSpPr>
            <a:spLocks noGrp="1"/>
          </p:cNvSpPr>
          <p:nvPr>
            <p:ph type="body" idx="1"/>
          </p:nvPr>
        </p:nvSpPr>
        <p:spPr>
          <a:xfrm>
            <a:off x="1443492" y="3806196"/>
            <a:ext cx="5617002" cy="1012929"/>
          </a:xfrm>
        </p:spPr>
        <p:txBody>
          <a:bodyPr tIns="91440">
            <a:normAutofit/>
          </a:bodyPr>
          <a:lstStyle>
            <a:lvl1pPr marL="0" indent="0" algn="l">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5" name="Straight Connector 14"/>
          <p:cNvCxnSpPr/>
          <p:nvPr/>
        </p:nvCxnSpPr>
        <p:spPr>
          <a:xfrm>
            <a:off x="1443491" y="3804985"/>
            <a:ext cx="561700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952450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3491" y="804890"/>
            <a:ext cx="6571343"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3490" y="2013936"/>
            <a:ext cx="3125871" cy="34375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889182" y="2013936"/>
            <a:ext cx="3125652" cy="34375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7/14/2025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5235068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cxnSp>
        <p:nvCxnSpPr>
          <p:cNvPr id="36" name="Straight Connector 35"/>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a:xfrm>
            <a:off x="1443491" y="804164"/>
            <a:ext cx="6571344"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3491" y="2019550"/>
            <a:ext cx="3125766" cy="801943"/>
          </a:xfrm>
        </p:spPr>
        <p:txBody>
          <a:bodyPr anchor="b">
            <a:normAutofit/>
          </a:bodyPr>
          <a:lstStyle>
            <a:lvl1pPr marL="0" indent="0">
              <a:lnSpc>
                <a:spcPct val="100000"/>
              </a:lnSpc>
              <a:buNone/>
              <a:defRPr sz="220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1443491" y="2824270"/>
            <a:ext cx="3125766"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89182" y="2023004"/>
            <a:ext cx="3125652" cy="802237"/>
          </a:xfrm>
        </p:spPr>
        <p:txBody>
          <a:bodyPr anchor="b">
            <a:normAutofit/>
          </a:bodyPr>
          <a:lstStyle>
            <a:lvl1pPr marL="0" indent="0">
              <a:lnSpc>
                <a:spcPct val="100000"/>
              </a:lnSpc>
              <a:buNone/>
              <a:defRPr sz="220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889182" y="2821491"/>
            <a:ext cx="31256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7/14/2025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475339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cxnSp>
        <p:nvCxnSpPr>
          <p:cNvPr id="32" name="Straight Connector 31"/>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7/14/2025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871678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441848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39042" y="798973"/>
            <a:ext cx="2425950"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4186656" y="798974"/>
            <a:ext cx="3828178"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39042" y="3205492"/>
            <a:ext cx="2427369" cy="2248181"/>
          </a:xfrm>
        </p:spPr>
        <p:txBody>
          <a:bodyPr>
            <a:normAutofit/>
          </a:bodyPr>
          <a:lstStyle>
            <a:lvl1pPr marL="0" indent="0" algn="l">
              <a:buNone/>
              <a:defRPr sz="16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17" name="Straight Connector 16"/>
          <p:cNvCxnSpPr/>
          <p:nvPr/>
        </p:nvCxnSpPr>
        <p:spPr>
          <a:xfrm>
            <a:off x="1441748" y="3205491"/>
            <a:ext cx="242327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748190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13" name="Group 12"/>
          <p:cNvGrpSpPr/>
          <p:nvPr/>
        </p:nvGrpSpPr>
        <p:grpSpPr>
          <a:xfrm>
            <a:off x="4996501" y="482171"/>
            <a:ext cx="3511387" cy="5149101"/>
            <a:chOff x="6852919" y="583365"/>
            <a:chExt cx="4681849" cy="5181928"/>
          </a:xfrm>
        </p:grpSpPr>
        <p:sp>
          <p:nvSpPr>
            <p:cNvPr id="14" name="Rectangle 13"/>
            <p:cNvSpPr/>
            <p:nvPr/>
          </p:nvSpPr>
          <p:spPr>
            <a:xfrm>
              <a:off x="6852919" y="583365"/>
              <a:ext cx="4681849" cy="5181928"/>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5" name="Rectangle 14"/>
            <p:cNvSpPr/>
            <p:nvPr/>
          </p:nvSpPr>
          <p:spPr>
            <a:xfrm>
              <a:off x="7273787" y="915806"/>
              <a:ext cx="3844017" cy="4507918"/>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44148" y="1129513"/>
            <a:ext cx="3244935"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640128" y="1122543"/>
            <a:ext cx="2234998" cy="3866327"/>
          </a:xfrm>
          <a:solidFill>
            <a:schemeClr val="bg1">
              <a:lumMod val="85000"/>
            </a:schemeClr>
          </a:solidFill>
          <a:ln w="9525" cap="sq">
            <a:noFill/>
            <a:miter lim="800000"/>
          </a:ln>
          <a:effectLst/>
        </p:spPr>
        <p:txBody>
          <a:bodyPr anchor="t"/>
          <a:lstStyle>
            <a:lvl1pPr marL="0" indent="0" algn="ctr">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1443492" y="3145992"/>
            <a:ext cx="3240286" cy="2003742"/>
          </a:xfrm>
        </p:spPr>
        <p:txBody>
          <a:bodyPr>
            <a:normAutofit/>
          </a:bodyPr>
          <a:lstStyle>
            <a:lvl1pPr marL="0" indent="0" algn="l">
              <a:buNone/>
              <a:defRPr sz="18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a:xfrm>
            <a:off x="1436664" y="5469857"/>
            <a:ext cx="3252420" cy="320123"/>
          </a:xfrm>
        </p:spPr>
        <p:txBody>
          <a:bodyPr/>
          <a:lstStyle>
            <a:lvl1pPr algn="l">
              <a:defRPr/>
            </a:lvl1pPr>
          </a:lstStyle>
          <a:p>
            <a:fld id="{5BCAD085-E8A6-8845-BD4E-CB4CCA059FC4}" type="datetimeFigureOut">
              <a:rPr lang="en-US" smtClean="0"/>
              <a:t>7/14/2025</a:t>
            </a:fld>
            <a:endParaRPr lang="en-US"/>
          </a:p>
        </p:txBody>
      </p:sp>
      <p:sp>
        <p:nvSpPr>
          <p:cNvPr id="6" name="Footer Placeholder 5"/>
          <p:cNvSpPr>
            <a:spLocks noGrp="1"/>
          </p:cNvSpPr>
          <p:nvPr>
            <p:ph type="ftr" sz="quarter" idx="11"/>
          </p:nvPr>
        </p:nvSpPr>
        <p:spPr>
          <a:xfrm>
            <a:off x="1437530" y="318641"/>
            <a:ext cx="3251553" cy="320931"/>
          </a:xfrm>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31" name="Straight Connector 30"/>
          <p:cNvCxnSpPr/>
          <p:nvPr/>
        </p:nvCxnSpPr>
        <p:spPr>
          <a:xfrm>
            <a:off x="1441281" y="3143605"/>
            <a:ext cx="3242014"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889266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7/14/2025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845088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18028" y="798974"/>
            <a:ext cx="1103027"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3491" y="798974"/>
            <a:ext cx="5301095"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7/14/2025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5" name="Straight Connector 14"/>
          <p:cNvCxnSpPr/>
          <p:nvPr/>
        </p:nvCxnSpPr>
        <p:spPr>
          <a:xfrm>
            <a:off x="6918028" y="798974"/>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389274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10" name="Rectangle 9"/>
          <p:cNvSpPr/>
          <p:nvPr/>
        </p:nvSpPr>
        <p:spPr>
          <a:xfrm>
            <a:off x="0" y="2015734"/>
            <a:ext cx="9144000" cy="4079520"/>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12" name="Picture 11"/>
          <p:cNvPicPr>
            <a:picLocks noChangeAspect="1"/>
          </p:cNvPicPr>
          <p:nvPr/>
        </p:nvPicPr>
        <p:blipFill rotWithShape="1">
          <a:blip r:embed="rId13">
            <a:extLst>
              <a:ext uri="{28A0092B-C50C-407E-A947-70E740481C1C}">
                <a14:useLocalDpi xmlns:a14="http://schemas.microsoft.com/office/drawing/2010/main" val="0"/>
              </a:ext>
            </a:extLst>
          </a:blip>
          <a:srcRect l="12500" t="1538" r="12500" b="-1538"/>
          <a:stretch/>
        </p:blipFill>
        <p:spPr>
          <a:xfrm>
            <a:off x="-1" y="6095253"/>
            <a:ext cx="9144001" cy="774727"/>
          </a:xfrm>
          <a:prstGeom prst="rect">
            <a:avLst/>
          </a:prstGeom>
        </p:spPr>
      </p:pic>
      <p:cxnSp>
        <p:nvCxnSpPr>
          <p:cNvPr id="13" name="Straight Connector 12"/>
          <p:cNvCxnSpPr/>
          <p:nvPr/>
        </p:nvCxnSpPr>
        <p:spPr>
          <a:xfrm>
            <a:off x="0" y="6101127"/>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1443491" y="804520"/>
            <a:ext cx="6571343"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43491" y="2015733"/>
            <a:ext cx="6571343"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646542" y="330370"/>
            <a:ext cx="2368292"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5BCAD085-E8A6-8845-BD4E-CB4CCA059FC4}" type="datetimeFigureOut">
              <a:rPr lang="en-US" smtClean="0"/>
              <a:t>7/14/2025</a:t>
            </a:fld>
            <a:endParaRPr lang="en-US"/>
          </a:p>
        </p:txBody>
      </p:sp>
      <p:sp>
        <p:nvSpPr>
          <p:cNvPr id="5" name="Footer Placeholder 4"/>
          <p:cNvSpPr>
            <a:spLocks noGrp="1"/>
          </p:cNvSpPr>
          <p:nvPr>
            <p:ph type="ftr" sz="quarter" idx="3"/>
          </p:nvPr>
        </p:nvSpPr>
        <p:spPr>
          <a:xfrm>
            <a:off x="1443491" y="329308"/>
            <a:ext cx="4034004"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7725" y="798973"/>
            <a:ext cx="795746" cy="503578"/>
          </a:xfrm>
          <a:prstGeom prst="rect">
            <a:avLst/>
          </a:prstGeom>
        </p:spPr>
        <p:txBody>
          <a:bodyPr vert="horz" lIns="91440" tIns="45720" rIns="91440" bIns="45720" rtlCol="0" anchor="t"/>
          <a:lstStyle>
            <a:lvl1pPr algn="r">
              <a:defRPr sz="2800">
                <a:solidFill>
                  <a:schemeClr val="accent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621874822"/>
      </p:ext>
    </p:extLst>
  </p:cSld>
  <p:clrMap bg1="lt1" tx1="dk1" bg2="lt2" tx2="dk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 id="2147483754" r:id="rId5"/>
    <p:sldLayoutId id="2147483755" r:id="rId6"/>
    <p:sldLayoutId id="2147483756" r:id="rId7"/>
    <p:sldLayoutId id="2147483757" r:id="rId8"/>
    <p:sldLayoutId id="2147483758" r:id="rId9"/>
    <p:sldLayoutId id="2147483759" r:id="rId10"/>
    <p:sldLayoutId id="2147483760" r:id="rId11"/>
  </p:sldLayoutIdLst>
  <p:txStyles>
    <p:titleStyle>
      <a:lvl1pPr algn="l" defTabSz="6858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685800" rtl="0" eaLnBrk="1" latinLnBrk="0" hangingPunct="1">
        <a:lnSpc>
          <a:spcPct val="120000"/>
        </a:lnSpc>
        <a:spcBef>
          <a:spcPts val="1000"/>
        </a:spcBef>
        <a:buClr>
          <a:schemeClr val="accent1"/>
        </a:buClr>
        <a:buSzPct val="100000"/>
        <a:buFont typeface="Arial" panose="020B0604020202020204" pitchFamily="34" charset="0"/>
        <a:buChar char="•"/>
        <a:defRPr sz="2000" kern="1200" cap="none">
          <a:solidFill>
            <a:schemeClr val="tx1"/>
          </a:solidFill>
          <a:effectLst/>
          <a:latin typeface="+mn-lt"/>
          <a:ea typeface="+mn-ea"/>
          <a:cs typeface="+mn-cs"/>
        </a:defRPr>
      </a:lvl1pPr>
      <a:lvl2pPr marL="6858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baseline="0">
          <a:solidFill>
            <a:schemeClr val="tx1"/>
          </a:solidFill>
          <a:effectLst/>
          <a:latin typeface="+mn-lt"/>
          <a:ea typeface="+mn-ea"/>
          <a:cs typeface="+mn-cs"/>
        </a:defRPr>
      </a:lvl2pPr>
      <a:lvl3pPr marL="11430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a:solidFill>
            <a:schemeClr val="tx1"/>
          </a:solidFill>
          <a:effectLst/>
          <a:latin typeface="+mn-lt"/>
          <a:ea typeface="+mn-ea"/>
          <a:cs typeface="+mn-cs"/>
        </a:defRPr>
      </a:lvl3pPr>
      <a:lvl4pPr marL="16002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200" kern="1200" cap="none">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871" y="-1469100"/>
            <a:ext cx="9332129" cy="2636181"/>
          </a:xfrm>
        </p:spPr>
        <p:txBody>
          <a:bodyPr>
            <a:normAutofit/>
          </a:bodyPr>
          <a:lstStyle/>
          <a:p>
            <a:pPr algn="l"/>
            <a:r>
              <a:rPr lang="en-IN" sz="2000" b="1" spc="0" dirty="0">
                <a:ln w="0"/>
                <a:effectLst>
                  <a:outerShdw blurRad="38100" dist="19050" dir="2700000" algn="tl" rotWithShape="0">
                    <a:schemeClr val="dk1">
                      <a:alpha val="40000"/>
                    </a:schemeClr>
                  </a:outerShdw>
                </a:effectLst>
              </a:rPr>
              <a:t>    ARTIFICIAL INTELLIGENCE &amp; MACHINE LEARNING</a:t>
            </a:r>
            <a:endParaRPr sz="2000" b="1" spc="0" dirty="0">
              <a:ln w="0"/>
              <a:effectLst>
                <a:outerShdw blurRad="38100" dist="19050" dir="2700000" algn="tl" rotWithShape="0">
                  <a:schemeClr val="dk1">
                    <a:alpha val="40000"/>
                  </a:schemeClr>
                </a:outerShdw>
              </a:effectLst>
            </a:endParaRPr>
          </a:p>
        </p:txBody>
      </p:sp>
      <p:sp>
        <p:nvSpPr>
          <p:cNvPr id="3" name="Subtitle 2"/>
          <p:cNvSpPr>
            <a:spLocks noGrp="1"/>
          </p:cNvSpPr>
          <p:nvPr>
            <p:ph type="subTitle" idx="1"/>
          </p:nvPr>
        </p:nvSpPr>
        <p:spPr>
          <a:xfrm>
            <a:off x="5924804" y="5046134"/>
            <a:ext cx="7063740" cy="1691640"/>
          </a:xfrm>
        </p:spPr>
        <p:txBody>
          <a:bodyPr>
            <a:normAutofit/>
          </a:bodyPr>
          <a:lstStyle/>
          <a:p>
            <a:r>
              <a:rPr lang="en-IN" sz="1600" dirty="0">
                <a:latin typeface="Arial Rounded MT Bold" panose="020F0704030504030204" pitchFamily="34" charset="0"/>
              </a:rPr>
              <a:t>Name: G Mahesh Babu</a:t>
            </a:r>
          </a:p>
          <a:p>
            <a:r>
              <a:rPr lang="en-IN" sz="1600" dirty="0">
                <a:latin typeface="Arial Rounded MT Bold" panose="020F0704030504030204" pitchFamily="34" charset="0"/>
              </a:rPr>
              <a:t>Roll no: 22KT1A4343</a:t>
            </a:r>
            <a:endParaRPr sz="1600" dirty="0">
              <a:latin typeface="Arial Rounded MT Bold" panose="020F0704030504030204" pitchFamily="34" charset="0"/>
            </a:endParaRPr>
          </a:p>
        </p:txBody>
      </p:sp>
      <p:sp>
        <p:nvSpPr>
          <p:cNvPr id="4" name="TextBox 3">
            <a:extLst>
              <a:ext uri="{FF2B5EF4-FFF2-40B4-BE49-F238E27FC236}">
                <a16:creationId xmlns:a16="http://schemas.microsoft.com/office/drawing/2014/main" id="{C1A696F0-5526-A6B6-CFCA-8B78B63AC263}"/>
              </a:ext>
            </a:extLst>
          </p:cNvPr>
          <p:cNvSpPr txBox="1"/>
          <p:nvPr/>
        </p:nvSpPr>
        <p:spPr>
          <a:xfrm>
            <a:off x="2987802" y="3256500"/>
            <a:ext cx="3198538" cy="861774"/>
          </a:xfrm>
          <a:prstGeom prst="rect">
            <a:avLst/>
          </a:prstGeom>
          <a:noFill/>
        </p:spPr>
        <p:txBody>
          <a:bodyPr wrap="square" rtlCol="0">
            <a:spAutoFit/>
          </a:bodyPr>
          <a:lstStyle/>
          <a:p>
            <a:r>
              <a:rPr lang="en-IN" sz="3200" dirty="0">
                <a:latin typeface="Stencil" panose="040409050D0802020404" pitchFamily="82" charset="0"/>
              </a:rPr>
              <a:t>BLACKBUCKS</a:t>
            </a:r>
          </a:p>
          <a:p>
            <a:endParaRPr lang="en-IN" dirty="0"/>
          </a:p>
        </p:txBody>
      </p:sp>
      <p:sp>
        <p:nvSpPr>
          <p:cNvPr id="6" name="TextBox 5">
            <a:extLst>
              <a:ext uri="{FF2B5EF4-FFF2-40B4-BE49-F238E27FC236}">
                <a16:creationId xmlns:a16="http://schemas.microsoft.com/office/drawing/2014/main" id="{BB10FC55-F231-BD71-26E9-2286304DE13A}"/>
              </a:ext>
            </a:extLst>
          </p:cNvPr>
          <p:cNvSpPr txBox="1"/>
          <p:nvPr/>
        </p:nvSpPr>
        <p:spPr>
          <a:xfrm>
            <a:off x="2218266" y="2005475"/>
            <a:ext cx="8542867" cy="646331"/>
          </a:xfrm>
          <a:prstGeom prst="rect">
            <a:avLst/>
          </a:prstGeom>
          <a:noFill/>
        </p:spPr>
        <p:txBody>
          <a:bodyPr wrap="square" rtlCol="0">
            <a:spAutoFit/>
          </a:bodyPr>
          <a:lstStyle/>
          <a:p>
            <a:r>
              <a:rPr lang="en-IN" altLang="en-US" b="1" dirty="0">
                <a:latin typeface="Baskerville Old Face" panose="02020602080505020303" pitchFamily="18" charset="0"/>
                <a:ea typeface="STXihei" panose="02010600040101010101" pitchFamily="2" charset="-122"/>
                <a:cs typeface="Times New Roman" panose="02020603050405020304" charset="0"/>
              </a:rPr>
              <a:t>SHORT TERM  INTERNSHIP PROGRAM </a:t>
            </a:r>
          </a:p>
          <a:p>
            <a:endParaRPr lang="en-IN" dirty="0"/>
          </a:p>
        </p:txBody>
      </p:sp>
      <p:sp>
        <p:nvSpPr>
          <p:cNvPr id="8" name="TextBox 7">
            <a:extLst>
              <a:ext uri="{FF2B5EF4-FFF2-40B4-BE49-F238E27FC236}">
                <a16:creationId xmlns:a16="http://schemas.microsoft.com/office/drawing/2014/main" id="{83002675-173D-0C6B-EC91-95193FEFF2DA}"/>
              </a:ext>
            </a:extLst>
          </p:cNvPr>
          <p:cNvSpPr txBox="1"/>
          <p:nvPr/>
        </p:nvSpPr>
        <p:spPr>
          <a:xfrm>
            <a:off x="3087540" y="2364245"/>
            <a:ext cx="3801534" cy="646331"/>
          </a:xfrm>
          <a:prstGeom prst="rect">
            <a:avLst/>
          </a:prstGeom>
          <a:noFill/>
        </p:spPr>
        <p:txBody>
          <a:bodyPr wrap="square" rtlCol="0">
            <a:spAutoFit/>
          </a:bodyPr>
          <a:lstStyle/>
          <a:p>
            <a:r>
              <a:rPr lang="en-IN" altLang="en-US" dirty="0">
                <a:latin typeface="Baskerville Old Face" panose="02020602080505020303" pitchFamily="18" charset="0"/>
                <a:cs typeface="Times New Roman" panose="02020603050405020304" charset="0"/>
              </a:rPr>
              <a:t>17/05/2025 - 17/07/2025</a:t>
            </a:r>
          </a:p>
          <a:p>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Definition of AI &amp; ML</a:t>
            </a:r>
          </a:p>
        </p:txBody>
      </p:sp>
      <p:sp>
        <p:nvSpPr>
          <p:cNvPr id="3" name="Content Placeholder 2"/>
          <p:cNvSpPr>
            <a:spLocks noGrp="1"/>
          </p:cNvSpPr>
          <p:nvPr>
            <p:ph idx="1"/>
          </p:nvPr>
        </p:nvSpPr>
        <p:spPr/>
        <p:txBody>
          <a:bodyPr/>
          <a:lstStyle/>
          <a:p>
            <a:r>
              <a:rPr dirty="0"/>
              <a:t>AI: Simulation of human intelligence in machines.</a:t>
            </a:r>
          </a:p>
          <a:p>
            <a:r>
              <a:rPr dirty="0"/>
              <a:t>ML: Subset of AI enabling machines to learn from data.</a:t>
            </a:r>
            <a:endParaRPr lang="en-IN" dirty="0"/>
          </a:p>
          <a:p>
            <a:r>
              <a:rPr lang="en-US" dirty="0"/>
              <a:t>Deep Learning (DL): Subset of ML using neural networks.</a:t>
            </a:r>
          </a:p>
          <a:p>
            <a:endParaRPr dirty="0"/>
          </a:p>
        </p:txBody>
      </p:sp>
      <p:pic>
        <p:nvPicPr>
          <p:cNvPr id="7" name="Picture 6">
            <a:extLst>
              <a:ext uri="{FF2B5EF4-FFF2-40B4-BE49-F238E27FC236}">
                <a16:creationId xmlns:a16="http://schemas.microsoft.com/office/drawing/2014/main" id="{EF9D5D40-92B0-3435-8807-DE0F5261834D}"/>
              </a:ext>
            </a:extLst>
          </p:cNvPr>
          <p:cNvPicPr>
            <a:picLocks noChangeAspect="1"/>
          </p:cNvPicPr>
          <p:nvPr/>
        </p:nvPicPr>
        <p:blipFill>
          <a:blip r:embed="rId2"/>
          <a:stretch>
            <a:fillRect/>
          </a:stretch>
        </p:blipFill>
        <p:spPr>
          <a:xfrm>
            <a:off x="2740163" y="3395134"/>
            <a:ext cx="2859001" cy="2953443"/>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History of AI/ML</a:t>
            </a:r>
          </a:p>
        </p:txBody>
      </p:sp>
      <p:sp>
        <p:nvSpPr>
          <p:cNvPr id="3" name="Content Placeholder 2"/>
          <p:cNvSpPr>
            <a:spLocks noGrp="1"/>
          </p:cNvSpPr>
          <p:nvPr>
            <p:ph idx="1"/>
          </p:nvPr>
        </p:nvSpPr>
        <p:spPr/>
        <p:txBody>
          <a:bodyPr/>
          <a:lstStyle/>
          <a:p>
            <a:r>
              <a:t>1950s: Turing Test</a:t>
            </a:r>
          </a:p>
          <a:p>
            <a:r>
              <a:t>1980s: Expert Systems</a:t>
            </a:r>
          </a:p>
          <a:p>
            <a:r>
              <a:t>2000s: Big Data &amp; ML</a:t>
            </a:r>
          </a:p>
          <a:p>
            <a:r>
              <a:t>2010s+: Deep Learning</a:t>
            </a:r>
          </a:p>
        </p:txBody>
      </p:sp>
      <p:pic>
        <p:nvPicPr>
          <p:cNvPr id="5" name="Picture 4">
            <a:extLst>
              <a:ext uri="{FF2B5EF4-FFF2-40B4-BE49-F238E27FC236}">
                <a16:creationId xmlns:a16="http://schemas.microsoft.com/office/drawing/2014/main" id="{44E1797C-0539-A066-7E91-D70DB5CD5A19}"/>
              </a:ext>
            </a:extLst>
          </p:cNvPr>
          <p:cNvPicPr>
            <a:picLocks noChangeAspect="1"/>
          </p:cNvPicPr>
          <p:nvPr/>
        </p:nvPicPr>
        <p:blipFill>
          <a:blip r:embed="rId2"/>
          <a:stretch>
            <a:fillRect/>
          </a:stretch>
        </p:blipFill>
        <p:spPr>
          <a:xfrm>
            <a:off x="4064870" y="3556099"/>
            <a:ext cx="3328054" cy="226896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Types of Learning in ML</a:t>
            </a:r>
          </a:p>
        </p:txBody>
      </p:sp>
      <p:sp>
        <p:nvSpPr>
          <p:cNvPr id="3" name="Content Placeholder 2"/>
          <p:cNvSpPr>
            <a:spLocks noGrp="1"/>
          </p:cNvSpPr>
          <p:nvPr>
            <p:ph idx="1"/>
          </p:nvPr>
        </p:nvSpPr>
        <p:spPr/>
        <p:txBody>
          <a:bodyPr/>
          <a:lstStyle/>
          <a:p>
            <a:r>
              <a:t>1. Supervised Learning</a:t>
            </a:r>
          </a:p>
          <a:p>
            <a:r>
              <a:t>2. Unsupervised Learning</a:t>
            </a:r>
          </a:p>
          <a:p>
            <a:r>
              <a:t>3. Reinforcement Learning</a:t>
            </a:r>
          </a:p>
        </p:txBody>
      </p:sp>
      <p:pic>
        <p:nvPicPr>
          <p:cNvPr id="5" name="Picture 4">
            <a:extLst>
              <a:ext uri="{FF2B5EF4-FFF2-40B4-BE49-F238E27FC236}">
                <a16:creationId xmlns:a16="http://schemas.microsoft.com/office/drawing/2014/main" id="{3E433271-C870-B738-AF55-7A60992570A8}"/>
              </a:ext>
            </a:extLst>
          </p:cNvPr>
          <p:cNvPicPr>
            <a:picLocks noChangeAspect="1"/>
          </p:cNvPicPr>
          <p:nvPr/>
        </p:nvPicPr>
        <p:blipFill>
          <a:blip r:embed="rId2"/>
          <a:stretch>
            <a:fillRect/>
          </a:stretch>
        </p:blipFill>
        <p:spPr>
          <a:xfrm>
            <a:off x="4393407" y="2233788"/>
            <a:ext cx="2999517" cy="3117145"/>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ML Workflow</a:t>
            </a:r>
          </a:p>
        </p:txBody>
      </p:sp>
      <p:sp>
        <p:nvSpPr>
          <p:cNvPr id="3" name="Content Placeholder 2"/>
          <p:cNvSpPr>
            <a:spLocks noGrp="1"/>
          </p:cNvSpPr>
          <p:nvPr>
            <p:ph idx="1"/>
          </p:nvPr>
        </p:nvSpPr>
        <p:spPr/>
        <p:txBody>
          <a:bodyPr/>
          <a:lstStyle/>
          <a:p>
            <a:r>
              <a:t>1. Problem Definition</a:t>
            </a:r>
          </a:p>
          <a:p>
            <a:r>
              <a:t>2. Data Collection</a:t>
            </a:r>
          </a:p>
          <a:p>
            <a:r>
              <a:t>3. Data Preprocessing</a:t>
            </a:r>
          </a:p>
          <a:p>
            <a:r>
              <a:t>4. Model Training</a:t>
            </a:r>
          </a:p>
          <a:p>
            <a:r>
              <a:t>5. Evaluation</a:t>
            </a:r>
          </a:p>
          <a:p>
            <a:r>
              <a:t>6. Deployment</a:t>
            </a:r>
          </a:p>
        </p:txBody>
      </p:sp>
      <p:pic>
        <p:nvPicPr>
          <p:cNvPr id="5" name="Picture 4">
            <a:extLst>
              <a:ext uri="{FF2B5EF4-FFF2-40B4-BE49-F238E27FC236}">
                <a16:creationId xmlns:a16="http://schemas.microsoft.com/office/drawing/2014/main" id="{75E1E181-16D8-EA49-5DB2-45C112183E86}"/>
              </a:ext>
            </a:extLst>
          </p:cNvPr>
          <p:cNvPicPr>
            <a:picLocks noChangeAspect="1"/>
          </p:cNvPicPr>
          <p:nvPr/>
        </p:nvPicPr>
        <p:blipFill>
          <a:blip r:embed="rId2"/>
          <a:stretch>
            <a:fillRect/>
          </a:stretch>
        </p:blipFill>
        <p:spPr>
          <a:xfrm>
            <a:off x="3772915" y="1991874"/>
            <a:ext cx="4211705" cy="3223593"/>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Core ML Algorithms</a:t>
            </a:r>
          </a:p>
        </p:txBody>
      </p:sp>
      <p:sp>
        <p:nvSpPr>
          <p:cNvPr id="3" name="Content Placeholder 2"/>
          <p:cNvSpPr>
            <a:spLocks noGrp="1"/>
          </p:cNvSpPr>
          <p:nvPr>
            <p:ph idx="1"/>
          </p:nvPr>
        </p:nvSpPr>
        <p:spPr/>
        <p:txBody>
          <a:bodyPr/>
          <a:lstStyle/>
          <a:p>
            <a:r>
              <a:t>1. Linear Regression</a:t>
            </a:r>
          </a:p>
          <a:p>
            <a:r>
              <a:t>2. Logistic Regression</a:t>
            </a:r>
          </a:p>
          <a:p>
            <a:r>
              <a:t>3. Decision Trees</a:t>
            </a:r>
          </a:p>
          <a:p>
            <a:r>
              <a:t>4. KNN</a:t>
            </a:r>
          </a:p>
          <a:p>
            <a:r>
              <a:t>5. SVM</a:t>
            </a:r>
          </a:p>
          <a:p>
            <a:r>
              <a:t>6. Naive Bayes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Linear Regression (Detailed)</a:t>
            </a:r>
          </a:p>
        </p:txBody>
      </p:sp>
      <p:sp>
        <p:nvSpPr>
          <p:cNvPr id="3" name="Content Placeholder 2"/>
          <p:cNvSpPr>
            <a:spLocks noGrp="1"/>
          </p:cNvSpPr>
          <p:nvPr>
            <p:ph idx="1"/>
          </p:nvPr>
        </p:nvSpPr>
        <p:spPr/>
        <p:txBody>
          <a:bodyPr/>
          <a:lstStyle/>
          <a:p>
            <a:r>
              <a:t>Used for predicting continuous values using linear relation.</a:t>
            </a:r>
          </a:p>
        </p:txBody>
      </p:sp>
      <p:pic>
        <p:nvPicPr>
          <p:cNvPr id="5" name="Picture 4">
            <a:extLst>
              <a:ext uri="{FF2B5EF4-FFF2-40B4-BE49-F238E27FC236}">
                <a16:creationId xmlns:a16="http://schemas.microsoft.com/office/drawing/2014/main" id="{2249BD77-6B04-4D1E-B4F9-EDF7C60D9435}"/>
              </a:ext>
            </a:extLst>
          </p:cNvPr>
          <p:cNvPicPr>
            <a:picLocks noChangeAspect="1"/>
          </p:cNvPicPr>
          <p:nvPr/>
        </p:nvPicPr>
        <p:blipFill>
          <a:blip r:embed="rId2"/>
          <a:stretch>
            <a:fillRect/>
          </a:stretch>
        </p:blipFill>
        <p:spPr>
          <a:xfrm>
            <a:off x="2442519" y="2568149"/>
            <a:ext cx="3454290" cy="287263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Logistic Regression (Detailed)</a:t>
            </a:r>
          </a:p>
        </p:txBody>
      </p:sp>
      <p:sp>
        <p:nvSpPr>
          <p:cNvPr id="3" name="Content Placeholder 2"/>
          <p:cNvSpPr>
            <a:spLocks noGrp="1"/>
          </p:cNvSpPr>
          <p:nvPr>
            <p:ph idx="1"/>
          </p:nvPr>
        </p:nvSpPr>
        <p:spPr/>
        <p:txBody>
          <a:bodyPr/>
          <a:lstStyle/>
          <a:p>
            <a:r>
              <a:t>Used for binary classification tasks using sigmoid function.</a:t>
            </a:r>
          </a:p>
        </p:txBody>
      </p:sp>
      <p:pic>
        <p:nvPicPr>
          <p:cNvPr id="5" name="Picture 4">
            <a:extLst>
              <a:ext uri="{FF2B5EF4-FFF2-40B4-BE49-F238E27FC236}">
                <a16:creationId xmlns:a16="http://schemas.microsoft.com/office/drawing/2014/main" id="{606CA674-0DA5-CC12-D3E0-BDDC1E179774}"/>
              </a:ext>
            </a:extLst>
          </p:cNvPr>
          <p:cNvPicPr>
            <a:picLocks noChangeAspect="1"/>
          </p:cNvPicPr>
          <p:nvPr/>
        </p:nvPicPr>
        <p:blipFill>
          <a:blip r:embed="rId2"/>
          <a:stretch>
            <a:fillRect/>
          </a:stretch>
        </p:blipFill>
        <p:spPr>
          <a:xfrm>
            <a:off x="2526204" y="2997401"/>
            <a:ext cx="3671396" cy="301274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Decision Trees (Detailed)</a:t>
            </a:r>
          </a:p>
        </p:txBody>
      </p:sp>
      <p:sp>
        <p:nvSpPr>
          <p:cNvPr id="3" name="Content Placeholder 2"/>
          <p:cNvSpPr>
            <a:spLocks noGrp="1"/>
          </p:cNvSpPr>
          <p:nvPr>
            <p:ph idx="1"/>
          </p:nvPr>
        </p:nvSpPr>
        <p:spPr/>
        <p:txBody>
          <a:bodyPr/>
          <a:lstStyle/>
          <a:p>
            <a:r>
              <a:t>Tree-based model using feature splits to make decisions.</a:t>
            </a:r>
          </a:p>
        </p:txBody>
      </p:sp>
      <p:pic>
        <p:nvPicPr>
          <p:cNvPr id="5" name="Picture 4">
            <a:extLst>
              <a:ext uri="{FF2B5EF4-FFF2-40B4-BE49-F238E27FC236}">
                <a16:creationId xmlns:a16="http://schemas.microsoft.com/office/drawing/2014/main" id="{7634E87E-F174-A03B-A174-565B35C5E69A}"/>
              </a:ext>
            </a:extLst>
          </p:cNvPr>
          <p:cNvPicPr>
            <a:picLocks noChangeAspect="1"/>
          </p:cNvPicPr>
          <p:nvPr/>
        </p:nvPicPr>
        <p:blipFill>
          <a:blip r:embed="rId2"/>
          <a:stretch>
            <a:fillRect/>
          </a:stretch>
        </p:blipFill>
        <p:spPr>
          <a:xfrm>
            <a:off x="2133529" y="2904199"/>
            <a:ext cx="4301139" cy="285313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K-Nearest Neighbors (Detailed)</a:t>
            </a:r>
          </a:p>
        </p:txBody>
      </p:sp>
      <p:sp>
        <p:nvSpPr>
          <p:cNvPr id="3" name="Content Placeholder 2"/>
          <p:cNvSpPr>
            <a:spLocks noGrp="1"/>
          </p:cNvSpPr>
          <p:nvPr>
            <p:ph idx="1"/>
          </p:nvPr>
        </p:nvSpPr>
        <p:spPr/>
        <p:txBody>
          <a:bodyPr/>
          <a:lstStyle/>
          <a:p>
            <a:r>
              <a:t>Instance-based learning using proximity for classification.</a:t>
            </a:r>
          </a:p>
        </p:txBody>
      </p:sp>
      <p:pic>
        <p:nvPicPr>
          <p:cNvPr id="5" name="Picture 4">
            <a:extLst>
              <a:ext uri="{FF2B5EF4-FFF2-40B4-BE49-F238E27FC236}">
                <a16:creationId xmlns:a16="http://schemas.microsoft.com/office/drawing/2014/main" id="{1AC3A5BC-36CC-6B5F-C653-B746CA314F87}"/>
              </a:ext>
            </a:extLst>
          </p:cNvPr>
          <p:cNvPicPr>
            <a:picLocks noChangeAspect="1"/>
          </p:cNvPicPr>
          <p:nvPr/>
        </p:nvPicPr>
        <p:blipFill>
          <a:blip r:embed="rId2"/>
          <a:stretch>
            <a:fillRect/>
          </a:stretch>
        </p:blipFill>
        <p:spPr>
          <a:xfrm>
            <a:off x="2636401" y="2995758"/>
            <a:ext cx="2900799" cy="255199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Support Vector Machine (Detailed)</a:t>
            </a:r>
          </a:p>
        </p:txBody>
      </p:sp>
      <p:sp>
        <p:nvSpPr>
          <p:cNvPr id="3" name="Content Placeholder 2"/>
          <p:cNvSpPr>
            <a:spLocks noGrp="1"/>
          </p:cNvSpPr>
          <p:nvPr>
            <p:ph idx="1"/>
          </p:nvPr>
        </p:nvSpPr>
        <p:spPr/>
        <p:txBody>
          <a:bodyPr/>
          <a:lstStyle/>
          <a:p>
            <a:r>
              <a:t>Finds optimal hyperplane for classification tasks.</a:t>
            </a:r>
          </a:p>
        </p:txBody>
      </p:sp>
      <p:pic>
        <p:nvPicPr>
          <p:cNvPr id="5" name="Picture 4">
            <a:extLst>
              <a:ext uri="{FF2B5EF4-FFF2-40B4-BE49-F238E27FC236}">
                <a16:creationId xmlns:a16="http://schemas.microsoft.com/office/drawing/2014/main" id="{3B867D80-0E31-BC9E-C705-F27156FD4273}"/>
              </a:ext>
            </a:extLst>
          </p:cNvPr>
          <p:cNvPicPr>
            <a:picLocks noChangeAspect="1"/>
          </p:cNvPicPr>
          <p:nvPr/>
        </p:nvPicPr>
        <p:blipFill>
          <a:blip r:embed="rId2"/>
          <a:stretch>
            <a:fillRect/>
          </a:stretch>
        </p:blipFill>
        <p:spPr>
          <a:xfrm>
            <a:off x="2214385" y="2722149"/>
            <a:ext cx="3910558" cy="296745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Naive Bayes (Detailed)</a:t>
            </a:r>
          </a:p>
        </p:txBody>
      </p:sp>
      <p:sp>
        <p:nvSpPr>
          <p:cNvPr id="3" name="Content Placeholder 2"/>
          <p:cNvSpPr>
            <a:spLocks noGrp="1"/>
          </p:cNvSpPr>
          <p:nvPr>
            <p:ph idx="1"/>
          </p:nvPr>
        </p:nvSpPr>
        <p:spPr/>
        <p:txBody>
          <a:bodyPr/>
          <a:lstStyle/>
          <a:p>
            <a:r>
              <a:t>Probabilistic classifier based on Bayes’ Theorem.</a:t>
            </a:r>
          </a:p>
        </p:txBody>
      </p:sp>
      <p:pic>
        <p:nvPicPr>
          <p:cNvPr id="5" name="Picture 4">
            <a:extLst>
              <a:ext uri="{FF2B5EF4-FFF2-40B4-BE49-F238E27FC236}">
                <a16:creationId xmlns:a16="http://schemas.microsoft.com/office/drawing/2014/main" id="{3FF5341E-BB68-8A10-D3B7-50C97B11EF3D}"/>
              </a:ext>
            </a:extLst>
          </p:cNvPr>
          <p:cNvPicPr>
            <a:picLocks noChangeAspect="1"/>
          </p:cNvPicPr>
          <p:nvPr/>
        </p:nvPicPr>
        <p:blipFill>
          <a:blip r:embed="rId2"/>
          <a:stretch>
            <a:fillRect/>
          </a:stretch>
        </p:blipFill>
        <p:spPr>
          <a:xfrm>
            <a:off x="2135931" y="2715780"/>
            <a:ext cx="4177874" cy="286294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Unsupervised Learning</a:t>
            </a:r>
          </a:p>
        </p:txBody>
      </p:sp>
      <p:sp>
        <p:nvSpPr>
          <p:cNvPr id="3" name="Content Placeholder 2"/>
          <p:cNvSpPr>
            <a:spLocks noGrp="1"/>
          </p:cNvSpPr>
          <p:nvPr>
            <p:ph idx="1"/>
          </p:nvPr>
        </p:nvSpPr>
        <p:spPr/>
        <p:txBody>
          <a:bodyPr/>
          <a:lstStyle/>
          <a:p>
            <a:r>
              <a:t>Includes clustering and association (e.g., K-Means, Apriori).</a:t>
            </a:r>
          </a:p>
        </p:txBody>
      </p:sp>
      <p:pic>
        <p:nvPicPr>
          <p:cNvPr id="5" name="Picture 4">
            <a:extLst>
              <a:ext uri="{FF2B5EF4-FFF2-40B4-BE49-F238E27FC236}">
                <a16:creationId xmlns:a16="http://schemas.microsoft.com/office/drawing/2014/main" id="{B1F6E9EB-F04E-DFB6-0363-CFADE3BAF3D0}"/>
              </a:ext>
            </a:extLst>
          </p:cNvPr>
          <p:cNvPicPr>
            <a:picLocks noChangeAspect="1"/>
          </p:cNvPicPr>
          <p:nvPr/>
        </p:nvPicPr>
        <p:blipFill>
          <a:blip r:embed="rId2"/>
          <a:stretch>
            <a:fillRect/>
          </a:stretch>
        </p:blipFill>
        <p:spPr>
          <a:xfrm>
            <a:off x="2563876" y="2653229"/>
            <a:ext cx="2905591" cy="1429264"/>
          </a:xfrm>
          <a:prstGeom prst="rect">
            <a:avLst/>
          </a:prstGeom>
        </p:spPr>
      </p:pic>
      <p:pic>
        <p:nvPicPr>
          <p:cNvPr id="7" name="Picture 6">
            <a:extLst>
              <a:ext uri="{FF2B5EF4-FFF2-40B4-BE49-F238E27FC236}">
                <a16:creationId xmlns:a16="http://schemas.microsoft.com/office/drawing/2014/main" id="{22690179-E1CB-5DAC-8A43-6010CEF6CC59}"/>
              </a:ext>
            </a:extLst>
          </p:cNvPr>
          <p:cNvPicPr>
            <a:picLocks noChangeAspect="1"/>
          </p:cNvPicPr>
          <p:nvPr/>
        </p:nvPicPr>
        <p:blipFill>
          <a:blip r:embed="rId3"/>
          <a:stretch>
            <a:fillRect/>
          </a:stretch>
        </p:blipFill>
        <p:spPr>
          <a:xfrm>
            <a:off x="4791555" y="4101809"/>
            <a:ext cx="3424329" cy="2390431"/>
          </a:xfrm>
          <a:prstGeom prst="rect">
            <a:avLst/>
          </a:prstGeom>
        </p:spPr>
      </p:pic>
      <p:pic>
        <p:nvPicPr>
          <p:cNvPr id="9" name="Picture 8">
            <a:extLst>
              <a:ext uri="{FF2B5EF4-FFF2-40B4-BE49-F238E27FC236}">
                <a16:creationId xmlns:a16="http://schemas.microsoft.com/office/drawing/2014/main" id="{14D442A6-950E-10D3-82A9-20D32107D918}"/>
              </a:ext>
            </a:extLst>
          </p:cNvPr>
          <p:cNvPicPr>
            <a:picLocks noChangeAspect="1"/>
          </p:cNvPicPr>
          <p:nvPr/>
        </p:nvPicPr>
        <p:blipFill>
          <a:blip r:embed="rId4"/>
          <a:stretch>
            <a:fillRect/>
          </a:stretch>
        </p:blipFill>
        <p:spPr>
          <a:xfrm>
            <a:off x="702155" y="4412972"/>
            <a:ext cx="4089400" cy="178648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Dimensionality Reduction</a:t>
            </a:r>
          </a:p>
        </p:txBody>
      </p:sp>
      <p:sp>
        <p:nvSpPr>
          <p:cNvPr id="3" name="Content Placeholder 2"/>
          <p:cNvSpPr>
            <a:spLocks noGrp="1"/>
          </p:cNvSpPr>
          <p:nvPr>
            <p:ph idx="1"/>
          </p:nvPr>
        </p:nvSpPr>
        <p:spPr/>
        <p:txBody>
          <a:bodyPr/>
          <a:lstStyle/>
          <a:p>
            <a:r>
              <a:t>PCA, t-SNE used to reduce feature space while retaining information.</a:t>
            </a:r>
          </a:p>
        </p:txBody>
      </p:sp>
      <p:pic>
        <p:nvPicPr>
          <p:cNvPr id="7" name="Picture 6">
            <a:extLst>
              <a:ext uri="{FF2B5EF4-FFF2-40B4-BE49-F238E27FC236}">
                <a16:creationId xmlns:a16="http://schemas.microsoft.com/office/drawing/2014/main" id="{9A0F2531-3194-9D7B-CAB7-E7133C3E9A2C}"/>
              </a:ext>
            </a:extLst>
          </p:cNvPr>
          <p:cNvPicPr>
            <a:picLocks noChangeAspect="1"/>
          </p:cNvPicPr>
          <p:nvPr/>
        </p:nvPicPr>
        <p:blipFill>
          <a:blip r:embed="rId2"/>
          <a:stretch>
            <a:fillRect/>
          </a:stretch>
        </p:blipFill>
        <p:spPr>
          <a:xfrm>
            <a:off x="1738643" y="2747859"/>
            <a:ext cx="4862042" cy="2128941"/>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Deep Learning with </a:t>
            </a:r>
            <a:r>
              <a:rPr lang="en-US" dirty="0" err="1"/>
              <a:t>Keras</a:t>
            </a:r>
            <a:r>
              <a:rPr lang="en-US" dirty="0"/>
              <a:t>/TensorFlow</a:t>
            </a:r>
            <a:endParaRPr dirty="0"/>
          </a:p>
        </p:txBody>
      </p:sp>
      <p:sp>
        <p:nvSpPr>
          <p:cNvPr id="3" name="Content Placeholder 2"/>
          <p:cNvSpPr>
            <a:spLocks noGrp="1"/>
          </p:cNvSpPr>
          <p:nvPr>
            <p:ph idx="1"/>
          </p:nvPr>
        </p:nvSpPr>
        <p:spPr/>
        <p:txBody>
          <a:bodyPr>
            <a:normAutofit fontScale="62500" lnSpcReduction="20000"/>
          </a:bodyPr>
          <a:lstStyle/>
          <a:p>
            <a:pPr marL="0" indent="0">
              <a:buNone/>
            </a:pPr>
            <a:r>
              <a:rPr lang="en-US" dirty="0"/>
              <a:t>Deep Learning is a subset of machine learning that uses </a:t>
            </a:r>
            <a:r>
              <a:rPr lang="en-US" b="1" dirty="0"/>
              <a:t>artificial neural networks</a:t>
            </a:r>
            <a:r>
              <a:rPr lang="en-US" dirty="0"/>
              <a:t> with multiple layers (also called </a:t>
            </a:r>
            <a:r>
              <a:rPr lang="en-US" i="1" dirty="0"/>
              <a:t>deep neural networks</a:t>
            </a:r>
            <a:r>
              <a:rPr lang="en-US" dirty="0"/>
              <a:t>) to learn patterns from large amounts of data.</a:t>
            </a:r>
          </a:p>
          <a:p>
            <a:pPr marL="0" indent="0">
              <a:buNone/>
            </a:pPr>
            <a:r>
              <a:rPr lang="en-US" dirty="0"/>
              <a:t>• Building Neural Networks</a:t>
            </a:r>
          </a:p>
          <a:p>
            <a:pPr marL="0" indent="0">
              <a:buNone/>
            </a:pPr>
            <a:r>
              <a:rPr lang="en-US" dirty="0"/>
              <a:t>• Model Compilation</a:t>
            </a:r>
          </a:p>
          <a:p>
            <a:pPr marL="0" indent="0">
              <a:buNone/>
            </a:pPr>
            <a:r>
              <a:rPr lang="en-US" dirty="0"/>
              <a:t>• Training and Evaluation</a:t>
            </a:r>
          </a:p>
          <a:p>
            <a:pPr marL="0" indent="0">
              <a:buNone/>
            </a:pPr>
            <a:endParaRPr lang="en-US" dirty="0"/>
          </a:p>
          <a:p>
            <a:pPr>
              <a:buFont typeface="Wingdings" panose="05000000000000000000" pitchFamily="2" charset="2"/>
              <a:buChar char="§"/>
            </a:pPr>
            <a:r>
              <a:rPr lang="en-US" dirty="0"/>
              <a:t>It excels at:</a:t>
            </a:r>
          </a:p>
          <a:p>
            <a:pPr>
              <a:buFont typeface="Wingdings" panose="05000000000000000000" pitchFamily="2" charset="2"/>
              <a:buChar char="§"/>
            </a:pPr>
            <a:r>
              <a:rPr lang="en-US" dirty="0"/>
              <a:t>Image recognition</a:t>
            </a:r>
          </a:p>
          <a:p>
            <a:pPr>
              <a:buFont typeface="Wingdings" panose="05000000000000000000" pitchFamily="2" charset="2"/>
              <a:buChar char="§"/>
            </a:pPr>
            <a:r>
              <a:rPr lang="en-US" dirty="0"/>
              <a:t>Natural language understanding</a:t>
            </a:r>
          </a:p>
          <a:p>
            <a:pPr>
              <a:buFont typeface="Wingdings" panose="05000000000000000000" pitchFamily="2" charset="2"/>
              <a:buChar char="§"/>
            </a:pPr>
            <a:r>
              <a:rPr lang="en-US" dirty="0"/>
              <a:t>Speech processing</a:t>
            </a:r>
          </a:p>
          <a:p>
            <a:pPr>
              <a:buFont typeface="Wingdings" panose="05000000000000000000" pitchFamily="2" charset="2"/>
              <a:buChar char="§"/>
            </a:pPr>
            <a:r>
              <a:rPr lang="en-US" dirty="0"/>
              <a:t>Autonomous systems</a:t>
            </a:r>
          </a:p>
          <a:p>
            <a:pPr marL="0" indent="0">
              <a:buNone/>
            </a:pPr>
            <a:endParaRPr lang="en-US" dirty="0"/>
          </a:p>
        </p:txBody>
      </p:sp>
      <p:pic>
        <p:nvPicPr>
          <p:cNvPr id="5" name="Picture 4">
            <a:extLst>
              <a:ext uri="{FF2B5EF4-FFF2-40B4-BE49-F238E27FC236}">
                <a16:creationId xmlns:a16="http://schemas.microsoft.com/office/drawing/2014/main" id="{CE2417E0-FF5C-9681-90F0-C8643D31D4AE}"/>
              </a:ext>
            </a:extLst>
          </p:cNvPr>
          <p:cNvPicPr>
            <a:picLocks noChangeAspect="1"/>
          </p:cNvPicPr>
          <p:nvPr/>
        </p:nvPicPr>
        <p:blipFill>
          <a:blip r:embed="rId2"/>
          <a:stretch>
            <a:fillRect/>
          </a:stretch>
        </p:blipFill>
        <p:spPr>
          <a:xfrm>
            <a:off x="4335094" y="2827869"/>
            <a:ext cx="3318773" cy="175390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0DF3A2-1134-EA41-83D8-DD37041A204A}"/>
              </a:ext>
            </a:extLst>
          </p:cNvPr>
          <p:cNvSpPr>
            <a:spLocks noGrp="1"/>
          </p:cNvSpPr>
          <p:nvPr>
            <p:ph type="title"/>
          </p:nvPr>
        </p:nvSpPr>
        <p:spPr>
          <a:xfrm>
            <a:off x="491067" y="86360"/>
            <a:ext cx="7269480" cy="1325562"/>
          </a:xfrm>
        </p:spPr>
        <p:txBody>
          <a:bodyPr/>
          <a:lstStyle/>
          <a:p>
            <a:r>
              <a:rPr lang="en-IN" dirty="0"/>
              <a:t>PROJECT</a:t>
            </a:r>
          </a:p>
        </p:txBody>
      </p:sp>
      <p:sp>
        <p:nvSpPr>
          <p:cNvPr id="3" name="Content Placeholder 2">
            <a:extLst>
              <a:ext uri="{FF2B5EF4-FFF2-40B4-BE49-F238E27FC236}">
                <a16:creationId xmlns:a16="http://schemas.microsoft.com/office/drawing/2014/main" id="{E86A5FCE-0C5B-E29B-2E3A-CCBF732A7C21}"/>
              </a:ext>
            </a:extLst>
          </p:cNvPr>
          <p:cNvSpPr>
            <a:spLocks noGrp="1"/>
          </p:cNvSpPr>
          <p:nvPr>
            <p:ph idx="1"/>
          </p:nvPr>
        </p:nvSpPr>
        <p:spPr>
          <a:xfrm>
            <a:off x="491067" y="1828801"/>
            <a:ext cx="7724817" cy="4351337"/>
          </a:xfrm>
        </p:spPr>
        <p:txBody>
          <a:bodyPr>
            <a:normAutofit/>
          </a:bodyPr>
          <a:lstStyle/>
          <a:p>
            <a:pPr marL="0" indent="0">
              <a:buNone/>
            </a:pPr>
            <a:r>
              <a:rPr lang="en-US" sz="1600" b="1" dirty="0"/>
              <a:t>TITLE:</a:t>
            </a:r>
          </a:p>
          <a:p>
            <a:pPr marL="0" indent="0">
              <a:buNone/>
            </a:pPr>
            <a:r>
              <a:rPr lang="en-US" sz="1600" b="1" dirty="0"/>
              <a:t>Handwriting Recognition: </a:t>
            </a:r>
            <a:r>
              <a:rPr lang="en-US" sz="1600" dirty="0"/>
              <a:t>A Computer Vision Approach for Efficient Text Classification.</a:t>
            </a:r>
          </a:p>
          <a:p>
            <a:pPr marL="0" indent="0">
              <a:buNone/>
            </a:pPr>
            <a:r>
              <a:rPr lang="en-US" sz="1600" b="1" dirty="0"/>
              <a:t>Introduction: </a:t>
            </a:r>
            <a:r>
              <a:rPr lang="en-US" sz="1600" dirty="0"/>
              <a:t>Handwriting recognition refers to the ability of a computer to receive and interpret handwritten input from sources like paper documents, photographs, touch-screens, and other devices. It is a subfield of pattern recognition and computer vision and has applications in postal services, banking (e.g., check processing), document digitization, and education.</a:t>
            </a:r>
          </a:p>
          <a:p>
            <a:pPr marL="0" indent="0">
              <a:buNone/>
            </a:pPr>
            <a:r>
              <a:rPr lang="en-US" sz="1600" dirty="0"/>
              <a:t>This project aims to develop a deep learning-based model capable of recognizing and classifying handwritten text with high accuracy. It combines image processing techniques with neural network architectures to interpret human writing styles and translate them into digital, machine-readable text.</a:t>
            </a:r>
          </a:p>
          <a:p>
            <a:endParaRPr lang="en-IN" dirty="0"/>
          </a:p>
        </p:txBody>
      </p:sp>
    </p:spTree>
    <p:extLst>
      <p:ext uri="{BB962C8B-B14F-4D97-AF65-F5344CB8AC3E}">
        <p14:creationId xmlns:p14="http://schemas.microsoft.com/office/powerpoint/2010/main" val="3658278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EE00E67-BC0A-4D2B-3A7F-2A2B33D20899}"/>
              </a:ext>
            </a:extLst>
          </p:cNvPr>
          <p:cNvSpPr>
            <a:spLocks noGrp="1"/>
          </p:cNvSpPr>
          <p:nvPr>
            <p:ph idx="1"/>
          </p:nvPr>
        </p:nvSpPr>
        <p:spPr>
          <a:xfrm>
            <a:off x="353736" y="846668"/>
            <a:ext cx="8121397" cy="5088465"/>
          </a:xfrm>
        </p:spPr>
        <p:txBody>
          <a:bodyPr>
            <a:normAutofit lnSpcReduction="10000"/>
          </a:bodyPr>
          <a:lstStyle/>
          <a:p>
            <a:pPr marL="0" indent="0">
              <a:buNone/>
            </a:pPr>
            <a:r>
              <a:rPr lang="en-US" sz="1600" b="1" dirty="0"/>
              <a:t>Abstract:</a:t>
            </a:r>
            <a:r>
              <a:rPr lang="en-US" sz="1600" dirty="0"/>
              <a:t>  Handwriting recognition has emerged as a significant and challenging field within computer vision and pattern recognition, driven by the increasing demand for automated systems capable of understanding human-written content. This study presents a computer vision-based approach for efficient text classification from handwritten inputs, addressing the complexities of diverse handwriting styles, noise, distortions, and inconsistencies in penmanship. The proposed methodology leverages advanced deep learning techniques, primarily Convolutional Neural Networks (CNNs) and Recurrent Neural Networks (RNNs), including Long Short-Term Memory (LSTM) units, to perform end-to-end recognition and classification of handwritten text.</a:t>
            </a:r>
          </a:p>
          <a:p>
            <a:pPr marL="0" indent="0">
              <a:buNone/>
            </a:pPr>
            <a:r>
              <a:rPr lang="en-US" sz="1600" dirty="0"/>
              <a:t>The system pipeline begins with robust preprocessing, which includes grayscale conversion, image binarization, skew correction, noise removal, and normalization to ensure high-quality input for the learning models. CNNs are employed for spatial feature extraction, capturing intricate local patterns from handwritten images, while LSTM networks are utilized for sequential modeling to preserve the temporal relationships between characters or strokes. For word-level and line-level recognition, Connectionist Temporal Classification (CTC) loss is applied to align the predicted output with the input sequence without requiring character-level segmentation.</a:t>
            </a:r>
          </a:p>
          <a:p>
            <a:endParaRPr lang="en-IN" dirty="0"/>
          </a:p>
        </p:txBody>
      </p:sp>
    </p:spTree>
    <p:extLst>
      <p:ext uri="{BB962C8B-B14F-4D97-AF65-F5344CB8AC3E}">
        <p14:creationId xmlns:p14="http://schemas.microsoft.com/office/powerpoint/2010/main" val="36164721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C1FA84B-D5F0-CAF1-9379-1CCF68F629ED}"/>
              </a:ext>
            </a:extLst>
          </p:cNvPr>
          <p:cNvSpPr>
            <a:spLocks noGrp="1"/>
          </p:cNvSpPr>
          <p:nvPr>
            <p:ph idx="1"/>
          </p:nvPr>
        </p:nvSpPr>
        <p:spPr>
          <a:xfrm>
            <a:off x="319870" y="1185335"/>
            <a:ext cx="7926663" cy="3352799"/>
          </a:xfrm>
        </p:spPr>
        <p:txBody>
          <a:bodyPr>
            <a:normAutofit fontScale="25000" lnSpcReduction="20000"/>
          </a:bodyPr>
          <a:lstStyle/>
          <a:p>
            <a:pPr marL="0" indent="0">
              <a:buNone/>
            </a:pPr>
            <a:r>
              <a:rPr lang="en-IN" sz="5600" b="1" dirty="0"/>
              <a:t>Future Enhancements</a:t>
            </a:r>
          </a:p>
          <a:p>
            <a:r>
              <a:rPr lang="en-IN" sz="5600" dirty="0"/>
              <a:t>Integration of </a:t>
            </a:r>
            <a:r>
              <a:rPr lang="en-IN" sz="5600" b="1" dirty="0"/>
              <a:t>Transformer</a:t>
            </a:r>
            <a:r>
              <a:rPr lang="en-IN" sz="5600" dirty="0"/>
              <a:t> models like CRNN + Attention or Vision Transformers (</a:t>
            </a:r>
            <a:r>
              <a:rPr lang="en-IN" sz="5600" dirty="0" err="1"/>
              <a:t>ViT</a:t>
            </a:r>
            <a:r>
              <a:rPr lang="en-IN" sz="5600" dirty="0"/>
              <a:t>)</a:t>
            </a:r>
          </a:p>
          <a:p>
            <a:r>
              <a:rPr lang="en-IN" sz="5600" dirty="0"/>
              <a:t>Real-time handwriting recognition using mobile camera</a:t>
            </a:r>
          </a:p>
          <a:p>
            <a:r>
              <a:rPr lang="en-IN" sz="5600" dirty="0"/>
              <a:t>Support for multi-language handwriting recognition</a:t>
            </a:r>
          </a:p>
          <a:p>
            <a:r>
              <a:rPr lang="en-IN" sz="5600" dirty="0"/>
              <a:t>Use of </a:t>
            </a:r>
            <a:r>
              <a:rPr lang="en-IN" sz="5600" b="1" dirty="0"/>
              <a:t>few-shot or zero-shot learning</a:t>
            </a:r>
            <a:r>
              <a:rPr lang="en-IN" sz="5600" dirty="0"/>
              <a:t> for rare handwriting styles</a:t>
            </a:r>
          </a:p>
          <a:p>
            <a:r>
              <a:rPr lang="en-IN" sz="5600" dirty="0"/>
              <a:t>Deployment as a cloud-based or mobile app</a:t>
            </a:r>
          </a:p>
          <a:p>
            <a:endParaRPr lang="en-IN" sz="5600" dirty="0"/>
          </a:p>
          <a:p>
            <a:pPr marL="0" indent="0">
              <a:buNone/>
            </a:pPr>
            <a:r>
              <a:rPr lang="en-US" sz="5600" b="1" dirty="0"/>
              <a:t>Applications</a:t>
            </a:r>
          </a:p>
          <a:p>
            <a:r>
              <a:rPr lang="en-US" sz="5600" dirty="0"/>
              <a:t>Document digitization</a:t>
            </a:r>
          </a:p>
          <a:p>
            <a:r>
              <a:rPr lang="en-US" sz="5600" dirty="0"/>
              <a:t>Bank cheque processing</a:t>
            </a:r>
          </a:p>
          <a:p>
            <a:r>
              <a:rPr lang="en-US" sz="5600" dirty="0"/>
              <a:t>Classroom assessment tools</a:t>
            </a:r>
          </a:p>
          <a:p>
            <a:r>
              <a:rPr lang="en-US" sz="5600" dirty="0"/>
              <a:t>Assistive tech for the visually impaired</a:t>
            </a:r>
          </a:p>
          <a:p>
            <a:r>
              <a:rPr lang="en-US" sz="5600" dirty="0"/>
              <a:t>Postal address recognition</a:t>
            </a:r>
          </a:p>
          <a:p>
            <a:endParaRPr lang="en-IN" sz="1600" dirty="0"/>
          </a:p>
          <a:p>
            <a:endParaRPr lang="en-IN" dirty="0"/>
          </a:p>
        </p:txBody>
      </p:sp>
    </p:spTree>
    <p:extLst>
      <p:ext uri="{BB962C8B-B14F-4D97-AF65-F5344CB8AC3E}">
        <p14:creationId xmlns:p14="http://schemas.microsoft.com/office/powerpoint/2010/main" val="41671766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5CB34-C989-00CD-722F-5A09A32C816C}"/>
              </a:ext>
            </a:extLst>
          </p:cNvPr>
          <p:cNvSpPr>
            <a:spLocks noGrp="1"/>
          </p:cNvSpPr>
          <p:nvPr>
            <p:ph type="title"/>
          </p:nvPr>
        </p:nvSpPr>
        <p:spPr>
          <a:xfrm>
            <a:off x="2402670" y="2103438"/>
            <a:ext cx="7269480" cy="1325562"/>
          </a:xfrm>
        </p:spPr>
        <p:txBody>
          <a:bodyPr/>
          <a:lstStyle/>
          <a:p>
            <a:r>
              <a:rPr lang="en-IN" dirty="0"/>
              <a:t>THANK YOU</a:t>
            </a:r>
          </a:p>
        </p:txBody>
      </p:sp>
    </p:spTree>
    <p:extLst>
      <p:ext uri="{BB962C8B-B14F-4D97-AF65-F5344CB8AC3E}">
        <p14:creationId xmlns:p14="http://schemas.microsoft.com/office/powerpoint/2010/main" val="2734488588"/>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55</TotalTime>
  <Words>709</Words>
  <Application>Microsoft Office PowerPoint</Application>
  <PresentationFormat>On-screen Show (4:3)</PresentationFormat>
  <Paragraphs>81</Paragraphs>
  <Slides>19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Arial Rounded MT Bold</vt:lpstr>
      <vt:lpstr>Baskerville Old Face</vt:lpstr>
      <vt:lpstr>Gill Sans MT</vt:lpstr>
      <vt:lpstr>Stencil</vt:lpstr>
      <vt:lpstr>Wingdings</vt:lpstr>
      <vt:lpstr>Gallery</vt:lpstr>
      <vt:lpstr>    ARTIFICIAL INTELLIGENCE &amp; MACHINE LEARNING</vt:lpstr>
      <vt:lpstr>Definition of AI &amp; ML</vt:lpstr>
      <vt:lpstr>History of AI/ML</vt:lpstr>
      <vt:lpstr>Types of Learning in ML</vt:lpstr>
      <vt:lpstr>ML Workflow</vt:lpstr>
      <vt:lpstr>Core ML Algorithms</vt:lpstr>
      <vt:lpstr>Linear Regression (Detailed)</vt:lpstr>
      <vt:lpstr>Logistic Regression (Detailed)</vt:lpstr>
      <vt:lpstr>Decision Trees (Detailed)</vt:lpstr>
      <vt:lpstr>K-Nearest Neighbors (Detailed)</vt:lpstr>
      <vt:lpstr>Support Vector Machine (Detailed)</vt:lpstr>
      <vt:lpstr>Naive Bayes (Detailed)</vt:lpstr>
      <vt:lpstr>Unsupervised Learning</vt:lpstr>
      <vt:lpstr>Dimensionality Reduction</vt:lpstr>
      <vt:lpstr>Deep Learning with Keras/TensorFlow</vt:lpstr>
      <vt:lpstr>PROJECT</vt:lpstr>
      <vt:lpstr>PowerPoint Presentation</vt:lpstr>
      <vt:lpstr>PowerPoint Presentation</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SHAHINA</dc:creator>
  <cp:keywords/>
  <dc:description>generated using python-pptx</dc:description>
  <cp:lastModifiedBy>lenovo</cp:lastModifiedBy>
  <cp:revision>4</cp:revision>
  <dcterms:created xsi:type="dcterms:W3CDTF">2013-01-27T09:14:16Z</dcterms:created>
  <dcterms:modified xsi:type="dcterms:W3CDTF">2025-07-14T06:25:15Z</dcterms:modified>
  <cp:category/>
</cp:coreProperties>
</file>