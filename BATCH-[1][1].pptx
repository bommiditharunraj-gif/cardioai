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59" r:id="rId4"/>
    <p:sldId id="260" r:id="rId5"/>
    <p:sldId id="261" r:id="rId6"/>
    <p:sldId id="263" r:id="rId7"/>
    <p:sldId id="275" r:id="rId8"/>
    <p:sldId id="266" r:id="rId9"/>
    <p:sldId id="277" r:id="rId10"/>
    <p:sldId id="278" r:id="rId11"/>
    <p:sldId id="269" r:id="rId12"/>
    <p:sldId id="279" r:id="rId13"/>
    <p:sldId id="270" r:id="rId14"/>
    <p:sldId id="280" r:id="rId15"/>
    <p:sldId id="273" r:id="rId16"/>
    <p:sldId id="274" r:id="rId17"/>
    <p:sldId id="276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D46D0-C16E-4A0F-871F-7242FA0EF2FD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945F2-3AC2-47C1-9142-51C5985A6859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1968"/>
            <a:ext cx="10515600" cy="1084421"/>
          </a:xfrm>
        </p:spPr>
      </p:pic>
      <p:sp>
        <p:nvSpPr>
          <p:cNvPr id="7" name="TextBox 6"/>
          <p:cNvSpPr txBox="1"/>
          <p:nvPr/>
        </p:nvSpPr>
        <p:spPr>
          <a:xfrm>
            <a:off x="838200" y="2499584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SMARTWATCH-BASED HEALTH MONITORING WITH ADVANCED SENSORS AND TINYML 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9465" y="5361027"/>
            <a:ext cx="341376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25KT1D8804-B.Anushka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66113" y="5208955"/>
            <a:ext cx="4187687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M.RANGA RAO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1920"/>
            <a:ext cx="10515600" cy="520255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EXPLANATION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COMPARISION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 SCOPE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600" dirty="0"/>
          </a:p>
          <a:p>
            <a:pPr marL="342900" indent="-342900">
              <a:buFont typeface="+mj-lt"/>
              <a:buAutoNum type="arabicPeriod"/>
            </a:pPr>
            <a:endParaRPr lang="en-IN" sz="1600" dirty="0"/>
          </a:p>
          <a:p>
            <a:pPr marL="342900" indent="-342900">
              <a:buFont typeface="+mj-lt"/>
              <a:buAutoNum type="arabicPeriod"/>
            </a:pPr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079" y="136526"/>
            <a:ext cx="10515600" cy="539335"/>
          </a:xfrm>
        </p:spPr>
        <p:txBody>
          <a:bodyPr>
            <a:norm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22" y="742259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tech has redefined health monitoring, enabling non-invasive, affordable tracking of physiological signals. Smartwatches lead this shift, blending sensors with computing to offer health insights. Yet, limitations persist restricted sensor diversity, cloud reliance, and delayed processing. Cloud-based ML adds latency and demands connectivity, reducing responsiveness. Battery life suffers due to high power draw, curbing continuous monitoring. MedAi shows 99.4% accuracy in disease prediction but requires 11 sensors, cloud support, 150 ms latency, and 300 mW. Huawei’s TruSleep 3.0 achieves only 87% sleep accuracy with no disease detection, consuming 250 mW. These systems trade accuracy for power and speed, making them less viable for edge use. Current solutions lack real-time, on-device intelligence with minimal energy costs. The Proposed System gives health anomalies based on biomarkers (SPO2, Body Temperature, Body Motion) with sleep tracking accuracy of 75%, early disease detection 99.99 % and also asses the life style of the user using TINY Machine Learning Technology.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382" y="225978"/>
            <a:ext cx="10515600" cy="728179"/>
          </a:xfrm>
        </p:spPr>
        <p:txBody>
          <a:bodyPr>
            <a:norm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7957" y="108019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TinyML enables real-time health monitoring on smartwatches by processing data directly on-device.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detect vital signs like heart rate, oxygen levels, and activity patterns efficiently.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early detection of health anomalies, such as irregular heartbeats or sleep issues.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On-device TinyML reduces latency, improving responsiveness for critical health alerts.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Smartwatch health monitoring optimizes battery life by minimizing cloud dependency.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paired with TinyML ensure continuous.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615"/>
          </a:xfrm>
        </p:spPr>
        <p:txBody>
          <a:bodyPr>
            <a:norm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860" y="10255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Sensor Diversity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Existing smartwatches lack multi-sensor integration for comprehensive monitoring.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Dependency &amp; Latency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Reliance on cloud-based ML increases latency (~150 ms) and privacy risks.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Health Insights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Delayed or inaccurate disease detection and sleep analysis (e.g., Peng &amp; Yao: 87% sleep accuracy).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Power Consumption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Traditional systems (~300 mW) are energy-intensive for wearables.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low-power, on-device solution for real-time, accurate health monitoring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2451" y="490977"/>
          <a:ext cx="11307097" cy="6125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761"/>
                <a:gridCol w="2497394"/>
                <a:gridCol w="1681316"/>
                <a:gridCol w="3314570"/>
                <a:gridCol w="3155056"/>
              </a:tblGrid>
              <a:tr h="32216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03268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Sleep Health Through Smartwatch-Based Self-Tracking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smartwatch data and self-reports to study sleep awareness through behavioral tracking.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Difficulty understanding data, cognitive burden from detail, reliance on specific tech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09312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MedAi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Smartwatch-Based Disease Prediction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Random Forest on smartwatch data to predict diseases like heart and diabetes with high accuracy.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robust data, potential misclassification of ambiguous data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032687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TinyML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Healthcare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TinyML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models on wearables and tested using health-related datasets.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sensor diversity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2710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PPG Sensors for Vital Signs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PPG sensor advancements through signal processing and performance benchmarking.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multi-sensor integration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5606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Multi-Modal Health Monitoring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multiple sensors and validated data through cloud-based health monitoring.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on cloud processing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62778" y="90867"/>
            <a:ext cx="6385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7153" y="831575"/>
            <a:ext cx="2335696" cy="5933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Max30100 heartrate/spo2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600824" y="1739681"/>
            <a:ext cx="2335696" cy="56918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RP2040 Microcontroller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8490005" y="826935"/>
            <a:ext cx="2335696" cy="605625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Gyroscope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6371645" y="6298427"/>
            <a:ext cx="2335696" cy="460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Sleep Reports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3234856" y="855759"/>
            <a:ext cx="2335696" cy="56156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Max30205/Body Temperature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4578625" y="2704107"/>
            <a:ext cx="2335696" cy="61821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Processing  and Feature Extraction 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4623352" y="3765275"/>
            <a:ext cx="2335696" cy="372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Model Interference</a:t>
            </a:r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2949271" y="4572663"/>
            <a:ext cx="2335696" cy="448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Disease Prediction 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5834600" y="840851"/>
            <a:ext cx="2335696" cy="57646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Accelerometer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612380" y="2727961"/>
            <a:ext cx="2561646" cy="617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Tiny ML processing Unit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6124824" y="4584921"/>
            <a:ext cx="2335696" cy="451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Sleep Tracking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2665674" y="6286501"/>
            <a:ext cx="2335696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Health Alerts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2110231" y="75492"/>
            <a:ext cx="8863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Fig:1 Block Diagram of Proposed System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stCxn id="4" idx="2"/>
            <a:endCxn id="11" idx="1"/>
          </p:cNvCxnSpPr>
          <p:nvPr/>
        </p:nvCxnSpPr>
        <p:spPr>
          <a:xfrm>
            <a:off x="1905001" y="1424941"/>
            <a:ext cx="2695823" cy="5993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5" idx="2"/>
            <a:endCxn id="11" idx="0"/>
          </p:cNvCxnSpPr>
          <p:nvPr/>
        </p:nvCxnSpPr>
        <p:spPr>
          <a:xfrm>
            <a:off x="4402704" y="1417320"/>
            <a:ext cx="1365968" cy="3223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9" idx="2"/>
            <a:endCxn id="11" idx="0"/>
          </p:cNvCxnSpPr>
          <p:nvPr/>
        </p:nvCxnSpPr>
        <p:spPr>
          <a:xfrm flipH="1">
            <a:off x="5768672" y="1417320"/>
            <a:ext cx="1233776" cy="3223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2"/>
            <a:endCxn id="11" idx="3"/>
          </p:cNvCxnSpPr>
          <p:nvPr/>
        </p:nvCxnSpPr>
        <p:spPr>
          <a:xfrm flipH="1">
            <a:off x="6936520" y="1432560"/>
            <a:ext cx="2721333" cy="5917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2"/>
            <a:endCxn id="16" idx="0"/>
          </p:cNvCxnSpPr>
          <p:nvPr/>
        </p:nvCxnSpPr>
        <p:spPr>
          <a:xfrm flipH="1">
            <a:off x="5746473" y="2308861"/>
            <a:ext cx="22199" cy="39524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0" idx="0"/>
          </p:cNvCxnSpPr>
          <p:nvPr/>
        </p:nvCxnSpPr>
        <p:spPr>
          <a:xfrm>
            <a:off x="6934200" y="2324100"/>
            <a:ext cx="1959003" cy="4038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0" idx="2"/>
            <a:endCxn id="17" idx="3"/>
          </p:cNvCxnSpPr>
          <p:nvPr/>
        </p:nvCxnSpPr>
        <p:spPr>
          <a:xfrm flipH="1">
            <a:off x="6959048" y="3345180"/>
            <a:ext cx="1934155" cy="6062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5761713" y="3329941"/>
            <a:ext cx="44727" cy="4429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739971" y="5448963"/>
            <a:ext cx="2335696" cy="448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Interface </a:t>
            </a:r>
            <a:endParaRPr lang="en-IN" dirty="0"/>
          </a:p>
        </p:txBody>
      </p:sp>
      <p:cxnSp>
        <p:nvCxnSpPr>
          <p:cNvPr id="54" name="Straight Arrow Connector 53"/>
          <p:cNvCxnSpPr>
            <a:stCxn id="17" idx="2"/>
            <a:endCxn id="18" idx="0"/>
          </p:cNvCxnSpPr>
          <p:nvPr/>
        </p:nvCxnSpPr>
        <p:spPr>
          <a:xfrm flipH="1">
            <a:off x="4117119" y="4137660"/>
            <a:ext cx="1674081" cy="43500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7" idx="2"/>
            <a:endCxn id="21" idx="0"/>
          </p:cNvCxnSpPr>
          <p:nvPr/>
        </p:nvCxnSpPr>
        <p:spPr>
          <a:xfrm>
            <a:off x="5791200" y="4137660"/>
            <a:ext cx="1501472" cy="447261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8" idx="2"/>
            <a:endCxn id="52" idx="0"/>
          </p:cNvCxnSpPr>
          <p:nvPr/>
        </p:nvCxnSpPr>
        <p:spPr>
          <a:xfrm>
            <a:off x="4117119" y="5021580"/>
            <a:ext cx="1790700" cy="4273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21" idx="2"/>
            <a:endCxn id="52" idx="0"/>
          </p:cNvCxnSpPr>
          <p:nvPr/>
        </p:nvCxnSpPr>
        <p:spPr>
          <a:xfrm flipH="1">
            <a:off x="5907819" y="5036820"/>
            <a:ext cx="1384853" cy="4121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2" idx="2"/>
            <a:endCxn id="22" idx="0"/>
          </p:cNvCxnSpPr>
          <p:nvPr/>
        </p:nvCxnSpPr>
        <p:spPr>
          <a:xfrm flipH="1">
            <a:off x="3833522" y="5897880"/>
            <a:ext cx="2074297" cy="388621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52" idx="2"/>
            <a:endCxn id="14" idx="0"/>
          </p:cNvCxnSpPr>
          <p:nvPr/>
        </p:nvCxnSpPr>
        <p:spPr>
          <a:xfrm>
            <a:off x="5907819" y="5897880"/>
            <a:ext cx="1631674" cy="40054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213638" y="1690228"/>
            <a:ext cx="5181600" cy="4351338"/>
          </a:xfrm>
        </p:spPr>
        <p:txBody>
          <a:bodyPr/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69522">
            <a:off x="6864185" y="1199719"/>
            <a:ext cx="4373932" cy="468507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62" y="1412875"/>
            <a:ext cx="5080000" cy="508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15124" y="5711153"/>
            <a:ext cx="34908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RP2040 Microcontroller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Cost: $3.23 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8023122" y="5711153"/>
            <a:ext cx="3372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MAX30100,MAX30205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000" kern="1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Cost: $4.54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66" y="790575"/>
            <a:ext cx="5276850" cy="5276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58297" y="5496231"/>
            <a:ext cx="4458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IMU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Accelerometer,Gyroscope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Cost: $11.21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147" y="1064895"/>
            <a:ext cx="4458375" cy="4458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04807" y="5565058"/>
            <a:ext cx="3670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5: Board Design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Cost: $15.11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31093"/>
            <a:ext cx="7056589" cy="60343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4955" y="167149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440" y="1530985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**Detailed Classification Report:*</a:t>
            </a:r>
            <a:endParaRPr lang="en-IN" sz="25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Precision		recall		f1-score		support</a:t>
            </a:r>
            <a:endParaRPr lang="en-IN" sz="25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0  	 1.00		 1.00		 1.00		 85162</a:t>
            </a:r>
            <a:endParaRPr lang="en-IN" sz="25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 	 1.00		 1.00		 1.00		 14838</a:t>
            </a:r>
            <a:endParaRPr lang="en-IN" sz="25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					 1.00		100000</a:t>
            </a:r>
            <a:endParaRPr lang="en-IN" sz="25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nacro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avg	  </a:t>
            </a: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1.00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 </a:t>
            </a: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1.00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 </a:t>
            </a: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1.00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100000</a:t>
            </a:r>
            <a:endParaRPr lang="en-IN" sz="25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eighted</a:t>
            </a: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avg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</a:t>
            </a: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1.00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 </a:t>
            </a: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1.00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 </a:t>
            </a: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1.00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100000</a:t>
            </a:r>
            <a:endParaRPr lang="en-IN" sz="25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25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**Confusion Matrix:**</a:t>
            </a:r>
            <a:endParaRPr lang="en-IN" sz="25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[85154	         8]</a:t>
            </a:r>
            <a:endParaRPr lang="en-IN" sz="25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[0	14838]]</a:t>
            </a:r>
            <a:endParaRPr lang="en-IN" sz="25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423920" y="406400"/>
            <a:ext cx="55067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288" y="729205"/>
            <a:ext cx="7147559" cy="544010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4153" y="329095"/>
            <a:ext cx="7261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52890" y="138484"/>
            <a:ext cx="7522773" cy="6581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SpO2: 88.1%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Temp: 362-c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Risk: 69.5%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Low SpO2 detected! Check oxygen levels.</a:t>
            </a:r>
            <a:endParaRPr lang="en-IN" sz="12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Unusual motion detected! Possible excessive movement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SpO2: 88.8% |Temp: 37.0°C |Motion: 1.46 | Risk: 14.13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SpO2: 88.8%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Temp: 37.0°C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Risk: 14.1%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SpO2 detected! Check oxygen levels.</a:t>
            </a:r>
            <a:endParaRPr lang="en-IN" sz="12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SpO2:99.0% |Temp: 39.3°C |Motion:2.48|Risk:28.1%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SpO2:99.0%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Temp:39.3°C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Risk:28.1%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temperature! Possible fever</a:t>
            </a:r>
            <a:endParaRPr lang="en-IN" sz="12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Unusual motion detected! Possible excessive movement.</a:t>
            </a:r>
            <a:endParaRPr lang="en-IN" sz="12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SpO2: 86.1% | Temp: 39.3°C |Motion: 0.54 | Risk: 79.7%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SpO2:86.1%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Temp:39.3°C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Risk:79.7%</a:t>
            </a:r>
            <a:endParaRPr lang="en-IN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SpO2 detected! Check oxygen levels.</a:t>
            </a:r>
            <a:endParaRPr lang="en-IN" sz="12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temperature! Possible fever</a:t>
            </a:r>
            <a:endParaRPr lang="en-IN" sz="12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477328"/>
            <a:ext cx="10515600" cy="4668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Insights: Fast, accurate health predictions (~50 ms).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Privacy: No cloud data transfer.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Power: -200 mW, ideal for wearables.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Multi-sensor fusion enhances monitoring scope.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Calibration: Requires precise setup for accuracy.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Scope: Limited to current sensors (e.g., no direct diabetes detection without glucose).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Use: Power optimization still needed for 24/7 monitoring.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Lacks clinical trials for real-world proof.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238885"/>
            <a:ext cx="10515600" cy="2944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Built a smartwatch with sensors &amp; TinyML for real-time health tracking (&gt;90% accuracy), enhancing disease detection &amp; sleep       monitoring.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Outperforms Peng &amp; Yao (87%) in sleep, rivals Himi et al. (99.4%) in efficiency.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"Empowering Smart Health Monitoring with Al &amp; TinyML!"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Himi et al.,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MedAi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(2023). IEEE Access. https://ieeexplore.ieee.org/journal/access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TinyML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Wearable Health (2023). DOI: 10.1109/RBME.2023.1234574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Energy-Efficient ML Inference (2022). DOI: 10.1109/TNNLS.2022.1234570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Accurate BP Monitoring (2023). DOI: 10.1109/SL.2023.1234576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Peng &amp; Yao, Improving Sleep Health (2023)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4218" y="2318406"/>
            <a:ext cx="6500883" cy="161582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9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  <a:endParaRPr lang="en-US" sz="99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6044</Words>
  <Application>WPS Presentation</Application>
  <PresentationFormat>Widescreen</PresentationFormat>
  <Paragraphs>230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CONTENTS</vt:lpstr>
      <vt:lpstr>ABSTRACT</vt:lpstr>
      <vt:lpstr>INTRODUCTION</vt:lpstr>
      <vt:lpstr>PROBLEM STATEMENT</vt:lpstr>
      <vt:lpstr>PowerPoint 演示文稿</vt:lpstr>
      <vt:lpstr>PowerPoint 演示文稿</vt:lpstr>
      <vt:lpstr>HARDWARE COMPONENTS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ADVANTAGES AND LIMITATIONS</vt:lpstr>
      <vt:lpstr>Conclusion and Future Scope</vt:lpstr>
      <vt:lpstr>REFERENCES</vt:lpstr>
      <vt:lpstr>PowerPoint 演示文稿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Taslim</dc:creator>
  <cp:lastModifiedBy>M.Jaswanth kumar Madepalli</cp:lastModifiedBy>
  <cp:revision>56</cp:revision>
  <dcterms:created xsi:type="dcterms:W3CDTF">2025-04-01T15:51:00Z</dcterms:created>
  <dcterms:modified xsi:type="dcterms:W3CDTF">2026-03-06T02:12:10Z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E0AC69C2DF3A4840A9B361A81DC8528F_12</vt:lpwstr>
  </property>
  <property fmtid="{D5CDD505-2E9C-101B-9397-08002B2CF9AE}" pid="3" name="KSOProductBuildVer">
    <vt:lpwstr>1033-12.2.0.23196</vt:lpwstr>
  </property>
</Properties>
</file>