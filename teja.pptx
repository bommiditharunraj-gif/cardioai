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2" r:id="rId4"/>
    <p:sldId id="264" r:id="rId5"/>
    <p:sldId id="261" r:id="rId6"/>
    <p:sldId id="260" r:id="rId7"/>
    <p:sldId id="259" r:id="rId8"/>
    <p:sldId id="258" r:id="rId9"/>
    <p:sldId id="257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90" d="100"/>
          <a:sy n="90" d="100"/>
        </p:scale>
        <p:origin x="8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9A02C-1DC3-8FEA-499F-4E794A79E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EBB4B6-AB4E-7DF1-89EA-361C2B8F9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324E5-F240-53F2-DBFE-9AB409260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77997-70EF-4CB8-90C7-27B04DD097B2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EF9CC-4E6D-00B5-0282-DD90E724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85519-FCFF-EBA5-F88F-BB42BFF4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DBA-8CA6-4CF7-970A-CC4CD7968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088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595F9-70F1-3F87-32A7-332E01DFE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9C813-6B23-8BE6-87AE-D5AF14964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5CEBE-8468-8310-629C-0BCC13E2C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77997-70EF-4CB8-90C7-27B04DD097B2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C9774-19D3-DAD2-0A34-A208B62A5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AEC20-DF4B-3C18-A96B-6DADE0E06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DBA-8CA6-4CF7-970A-CC4CD7968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34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748F-943B-86B7-A40D-CA133C8F2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76134-E160-08F4-8F94-880F62397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32F18-AD94-502C-2F75-2C349DC0A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77997-70EF-4CB8-90C7-27B04DD097B2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2D576-C884-AEC5-4A00-D7AB8EE49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BEE07-36D1-E769-516A-8BEA987AD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DBA-8CA6-4CF7-970A-CC4CD7968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419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A7EE0-DBD7-C08C-C10E-A87A1C1E7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585AE-49CA-6022-A47E-1F722E91AD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5E60A2-22C6-56DC-9FDF-812219AA34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4544ED-807D-C475-4594-4ACADBE6E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77997-70EF-4CB8-90C7-27B04DD097B2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F7BA7-81FF-819E-5061-8207F1B3B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5D9627-63A9-2120-065E-FB89DD502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DBA-8CA6-4CF7-970A-CC4CD7968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138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AD4FB-0669-E528-6EF3-2AD5D6677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A70E4-F399-2BE4-6519-ADD95F5A0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88DFA1-B917-4141-8AE2-DD1C52EB10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756163-1199-D294-E412-97666CC1AD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163FF7-6812-E7E9-F072-DFEDB46C1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94A549-E3F5-1877-B463-96E42D355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77997-70EF-4CB8-90C7-27B04DD097B2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71F02C-2B58-CFA4-06FD-DA8B229B8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54C1B6-C670-AD7C-18DD-CFE3AE82D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DBA-8CA6-4CF7-970A-CC4CD7968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552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23A66-277D-3159-653E-54D9021A3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145D5B-B61D-CFB6-3F9C-3F6F1686C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77997-70EF-4CB8-90C7-27B04DD097B2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897274-CBF6-1469-A4B6-0D86DF60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03FFC9-3746-164E-51AC-C1A6A386B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DBA-8CA6-4CF7-970A-CC4CD7968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145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386207-9805-0D43-17E7-051237B0C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77997-70EF-4CB8-90C7-27B04DD097B2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E0AE49-CBE1-090C-7622-6BFB3D35E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178E7-3083-4448-2534-93E1794F7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DBA-8CA6-4CF7-970A-CC4CD7968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349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E507E-B069-674D-39DA-6DEE9E762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0DAA9-7014-2663-40A4-7D34BC934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3D3813-187E-1118-88DF-13C12DE685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7BF75A-5693-4554-4B8D-CC7102A58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77997-70EF-4CB8-90C7-27B04DD097B2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18C5B6-AD71-1567-C72B-E849DD929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61A5CF-FEB2-2BD4-CAD3-529474025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DBA-8CA6-4CF7-970A-CC4CD7968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694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ACA8B-2C8A-623C-125C-69F1127D4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B59C04-50F2-70D5-F144-C234F42FF2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4E06C0-8737-FED4-6CF8-FD1AF09DC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A37ACB-4092-A8F8-BC72-AC87F0D50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77997-70EF-4CB8-90C7-27B04DD097B2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8F0AE8-79A0-5A22-C28F-84D50E7DC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B88C69-46AE-76E5-9580-464A81A5F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DBA-8CA6-4CF7-970A-CC4CD7968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728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36820-AB5F-B844-41C6-150853D80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B72A6-80D8-91B7-8DEC-F5CC1C5C1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C25C7-B22D-4FEF-6039-78BB7F2C6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77997-70EF-4CB8-90C7-27B04DD097B2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B9AF6-1AE2-4229-C29C-C66E16600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78D14-E29D-4289-068C-02C48016F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DBA-8CA6-4CF7-970A-CC4CD7968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145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2CCC72-705F-2097-966B-3CC5F57B07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5449DB-262C-C8FC-108B-F5FE5C1070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EC807-1C2D-43D2-AA94-092E69D0B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77997-70EF-4CB8-90C7-27B04DD097B2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458B7-35C3-5266-05B1-B3DC8D6D7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115FB-689B-1E35-09C7-AB8093D10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DBA-8CA6-4CF7-970A-CC4CD7968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67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2C946E-4383-8A40-78F4-FBCC8DA1C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DBF8A-4D46-6A2D-D34A-DB229C5A0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CF9BB-3FD2-EA87-A585-9D1FC6527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77997-70EF-4CB8-90C7-27B04DD097B2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02A20-AE62-1731-4DAD-A9C83FE7DB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339E0-86A7-8373-D597-D5B1A1CBE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59DBA-8CA6-4CF7-970A-CC4CD7968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250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498A33-79DC-2098-F613-5B877B1BA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2894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CE9521-7AEC-37A7-30F6-327C35D88C1B}"/>
              </a:ext>
            </a:extLst>
          </p:cNvPr>
          <p:cNvSpPr txBox="1"/>
          <p:nvPr/>
        </p:nvSpPr>
        <p:spPr>
          <a:xfrm>
            <a:off x="2358887" y="1726960"/>
            <a:ext cx="72754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Arial Black" panose="020B0A04020102020204" pitchFamily="34" charset="0"/>
              </a:rPr>
              <a:t>Department Of CSE-Artificial Intelligence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6B26B5-4E66-D657-812A-3550747730DC}"/>
              </a:ext>
            </a:extLst>
          </p:cNvPr>
          <p:cNvSpPr txBox="1"/>
          <p:nvPr/>
        </p:nvSpPr>
        <p:spPr>
          <a:xfrm>
            <a:off x="1119809" y="2564553"/>
            <a:ext cx="1019754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rial Black" panose="020B0A04020102020204" pitchFamily="34" charset="0"/>
              </a:rPr>
              <a:t>Topic</a:t>
            </a:r>
            <a:r>
              <a:rPr lang="en-IN" sz="2400" b="1" dirty="0"/>
              <a:t> 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MNIST Digit Classification: Deep Learning Approach for Efficient Handwritten Digit Recognition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0B849A-6919-85C2-2A48-073D10588D56}"/>
              </a:ext>
            </a:extLst>
          </p:cNvPr>
          <p:cNvSpPr txBox="1"/>
          <p:nvPr/>
        </p:nvSpPr>
        <p:spPr>
          <a:xfrm>
            <a:off x="8236225" y="5114188"/>
            <a:ext cx="28110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Submitted by: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	T. Teja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	23KT5A4307</a:t>
            </a:r>
          </a:p>
        </p:txBody>
      </p:sp>
    </p:spTree>
    <p:extLst>
      <p:ext uri="{BB962C8B-B14F-4D97-AF65-F5344CB8AC3E}">
        <p14:creationId xmlns:p14="http://schemas.microsoft.com/office/powerpoint/2010/main" val="3189954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38AACF-F3D3-E5FC-3D24-C4084C620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AB9845-10A1-59A9-438F-6A6C2E177BB4}"/>
              </a:ext>
            </a:extLst>
          </p:cNvPr>
          <p:cNvSpPr txBox="1"/>
          <p:nvPr/>
        </p:nvSpPr>
        <p:spPr>
          <a:xfrm>
            <a:off x="967563" y="1451344"/>
            <a:ext cx="980321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This project focuses on developing an efficient deep learning model for handwritten digit recognition using the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MNIST dataset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Handwritten digit classification is an essential task in computer vision with applications in areas such as document automation, postal code reading, and bank check processing. The proposed system uses a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Convolutional Neural Network (CNN)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to automatically extract important visual features from digit images, eliminating the need for manual feature design. To improve performance and generalization, techniques such as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data augmentation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dropout regularization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batch normalization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are applied. The model is trained and tested on the MNIST dataset, achieving high accuracy with fast training and minimal computational cost. The results demonstrate that CNN-based deep learning approaches provide a powerful and reliable solution for handwritten digit recognition, making them suitable for real-world applications requiring accurate and efficient text processing.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767A91-8227-1975-31B9-D037813E0E94}"/>
              </a:ext>
            </a:extLst>
          </p:cNvPr>
          <p:cNvSpPr txBox="1"/>
          <p:nvPr/>
        </p:nvSpPr>
        <p:spPr>
          <a:xfrm>
            <a:off x="600739" y="542260"/>
            <a:ext cx="24242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latin typeface="Arial Black" panose="020B0A04020102020204" pitchFamily="34" charset="0"/>
              </a:rPr>
              <a:t>Abstract :</a:t>
            </a:r>
          </a:p>
        </p:txBody>
      </p:sp>
    </p:spTree>
    <p:extLst>
      <p:ext uri="{BB962C8B-B14F-4D97-AF65-F5344CB8AC3E}">
        <p14:creationId xmlns:p14="http://schemas.microsoft.com/office/powerpoint/2010/main" val="2227338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33D0BD-E7A7-C473-2008-58DE58F17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B040B9-8794-43E5-FAEC-AFF2401A6B14}"/>
              </a:ext>
            </a:extLst>
          </p:cNvPr>
          <p:cNvSpPr txBox="1"/>
          <p:nvPr/>
        </p:nvSpPr>
        <p:spPr>
          <a:xfrm>
            <a:off x="606057" y="584791"/>
            <a:ext cx="311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rial Black" panose="020B0A04020102020204" pitchFamily="34" charset="0"/>
              </a:rPr>
              <a:t>Code of Execution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0FDB27-5D70-957C-D888-F11E925E6221}"/>
              </a:ext>
            </a:extLst>
          </p:cNvPr>
          <p:cNvSpPr txBox="1"/>
          <p:nvPr/>
        </p:nvSpPr>
        <p:spPr>
          <a:xfrm>
            <a:off x="792126" y="1307805"/>
            <a:ext cx="1043053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"""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MNIST Digit Classification: Deep Learning Approach for Efficient Handwritten Digit Recognition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-----------------------------------------------------------------------------------------------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Classifies handwritten digits (0-9) using Deep Learning, with comparisons to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Logistic Regression, Random Forest, and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models.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-----------------------------------------------------------------------------------------------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""“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import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as np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import pandas as pd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import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matplotlib.pyplot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as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plt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import warnings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import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sklearn.model_selection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train_test_split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sklearn.preprocessing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StandardScaler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sklearn.metrics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accuracy_score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classification_report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confusion_matrix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sklearn.linear_model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LogisticRegression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sklearn.ensemble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RandomForestClassifier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sklearn.pipeline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import Pipeline</a:t>
            </a:r>
          </a:p>
        </p:txBody>
      </p:sp>
    </p:spTree>
    <p:extLst>
      <p:ext uri="{BB962C8B-B14F-4D97-AF65-F5344CB8AC3E}">
        <p14:creationId xmlns:p14="http://schemas.microsoft.com/office/powerpoint/2010/main" val="2662968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ABD4D0-32E4-4F55-D1F1-35F5759F3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6E210E-EB62-3690-6501-682F0EBF7488}"/>
              </a:ext>
            </a:extLst>
          </p:cNvPr>
          <p:cNvSpPr txBox="1"/>
          <p:nvPr/>
        </p:nvSpPr>
        <p:spPr>
          <a:xfrm>
            <a:off x="499730" y="574158"/>
            <a:ext cx="1100469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warnings.filterwarnings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('ignore')</a:t>
            </a:r>
          </a:p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plt.ion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os.makedirs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('outputs',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exist_ok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=True)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# Optional libraries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try: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from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XGBClassifier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has_xgb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= True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except: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has_xgb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= False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try: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import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tensorflow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as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tf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from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tensorflow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keras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has_tf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= True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except: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has_tf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= False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# Load and preprocess data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has_tf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X_train_full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y_train_full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), 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X_test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y_test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 =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keras.datasets.mnist.load_data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X_train_full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X_train_full.reshape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(-1, 28*28).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astype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('float32') / 255.0</a:t>
            </a:r>
          </a:p>
        </p:txBody>
      </p:sp>
    </p:spTree>
    <p:extLst>
      <p:ext uri="{BB962C8B-B14F-4D97-AF65-F5344CB8AC3E}">
        <p14:creationId xmlns:p14="http://schemas.microsoft.com/office/powerpoint/2010/main" val="436847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4C28A6-738E-56B2-A64D-3A9010EB1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4193C1-D678-793C-D883-058079EC9682}"/>
              </a:ext>
            </a:extLst>
          </p:cNvPr>
          <p:cNvSpPr txBox="1"/>
          <p:nvPr/>
        </p:nvSpPr>
        <p:spPr>
          <a:xfrm>
            <a:off x="568842" y="648586"/>
            <a:ext cx="1100469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X_test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X_test.reshape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(-1, 28*28).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astype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('float32') / 255.0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X_train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X_val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y_train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y_val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train_test_split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X_train_full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y_train_full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test_size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=0.1,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random_state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=42)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else: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raise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ImportError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("TensorFlow is required for this script.")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def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eval_model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(m, x, y, n):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p =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m.predict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acc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accuracy_score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(y, p)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print(f"{n}: Accuracy={acc:.4f}")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print(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classification_report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(y, p,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zero_division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=0))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cm =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confusion_matrix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(y, p)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plt.figure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figsize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=(8, 6))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plt.imshow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(cm, interpolation='nearest',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cmap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plt.cm.Blues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plt.title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(f'{n} Confusion Matrix')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plt.colorbar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tick_marks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np.arange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(10)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plt.xticks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tick_marks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tick_marks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plt.yticks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tick_marks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tick_marks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plt.ylabel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('True label')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plt.xlabel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('Predicted label')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plt.show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146428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8603E0-421F-E3EF-5048-E7F68943D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181CA0-F2A7-6752-6C2A-EDE85FCFF355}"/>
              </a:ext>
            </a:extLst>
          </p:cNvPr>
          <p:cNvSpPr txBox="1"/>
          <p:nvPr/>
        </p:nvSpPr>
        <p:spPr>
          <a:xfrm>
            <a:off x="580360" y="388089"/>
            <a:ext cx="11031279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return {'Model': n, 'Accuracy':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acc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models = [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('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LogisticRegression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',Pipeline([('s',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StandardScaler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()),('m',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LogisticRegression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max_iter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=1000,random_state=42))])),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('Random Forest', Pipeline([('s',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StandardScaler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()), ('m',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RandomForestClassifier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random_state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=42))]))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has_xgb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models.append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(('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',Pipeline([('s',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StandardScaler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()),('m',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XGBClassifier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(objective='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multi:softmax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',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num_class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=10,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random_state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=42))])))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results = [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eval_model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m.fit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X_train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y_train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X_val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y_val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n) for n, m in models]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# Deep Learning (Main)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has_tf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model =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keras.Sequential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([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keras.layers.Input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(shape=(784,)),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keras.layers.Dense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(128, activation='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'),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keras.layers.Dropout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(0.2),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keras.layers.Dense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(64, activation='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'),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keras.layers.Dropout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(0.2),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keras.layers.Dense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(10, activation='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')    ])</a:t>
            </a:r>
          </a:p>
        </p:txBody>
      </p:sp>
    </p:spTree>
    <p:extLst>
      <p:ext uri="{BB962C8B-B14F-4D97-AF65-F5344CB8AC3E}">
        <p14:creationId xmlns:p14="http://schemas.microsoft.com/office/powerpoint/2010/main" val="4279207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593A49-9E84-5E81-6E74-5134FF0B8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5CAEEF-25C7-762A-EE3D-C7C6F73AF47C}"/>
              </a:ext>
            </a:extLst>
          </p:cNvPr>
          <p:cNvSpPr txBox="1"/>
          <p:nvPr/>
        </p:nvSpPr>
        <p:spPr>
          <a:xfrm>
            <a:off x="547577" y="813391"/>
            <a:ext cx="1108444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model.compile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(optimizer='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adam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', loss='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sparse_categorical_crossentropy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', metrics=['accuracy'])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h =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model.fit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X_train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y_train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validation_data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=(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X_val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y_val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), epochs=20,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batch_size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=32, verbose=0)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plt.plot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h.history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['loss'], label='Training Loss')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plt.plot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h.history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['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val_loss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'], label='Validation Loss')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plt.title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('DNN Training')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plt.legend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plt.show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p =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np.argmax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model.predict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X_val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), axis=1)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acc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accuracy_score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y_val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p)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results.append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({'Model': 'Deep Learning (Main)', 'Accuracy':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acc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})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print(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f"Deep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Learning (Main): Accuracy={acc:.4f}")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print(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classification_report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y_val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p,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zero_division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=0))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cm =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confusion_matrix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y_val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p)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plt.figure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figsize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=(8, 6))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plt.imshow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(cm, interpolation='nearest',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cmap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plt.cm.Blues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plt.title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('Deep Learning Confusion Matrix')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plt.colorbar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tick_marks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np.arange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(10)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plt.xticks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tick_marks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tick_marks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plt.yticks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tick_marks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tick_marks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98455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824ACD-36B3-05C6-4190-14D545391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488890-719E-2FD8-24F7-11C79DCF5386}"/>
              </a:ext>
            </a:extLst>
          </p:cNvPr>
          <p:cNvSpPr txBox="1"/>
          <p:nvPr/>
        </p:nvSpPr>
        <p:spPr>
          <a:xfrm>
            <a:off x="829340" y="1063256"/>
            <a:ext cx="758633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plt.ylabel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('True label')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plt.xlabel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('Predicted label')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plt.show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# Comparison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res =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pd.DataFrame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(results)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print('\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nModel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Comparison:\n', res)</a:t>
            </a:r>
          </a:p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plt.bar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(res['Model'], res['Accuracy'],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color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=['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gray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', '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skyblue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', 'orange', 'purple'])</a:t>
            </a:r>
          </a:p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plt.title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('Accuracy Comparison')</a:t>
            </a:r>
          </a:p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plt.ylabel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('Accuracy')</a:t>
            </a:r>
          </a:p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plt.xticks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(rotation=45)</a:t>
            </a:r>
          </a:p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plt.show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7307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86D256-CB66-B6D8-6F40-991BF923B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AC03ED-490F-7B73-B29D-EC6CA435B10E}"/>
              </a:ext>
            </a:extLst>
          </p:cNvPr>
          <p:cNvSpPr txBox="1"/>
          <p:nvPr/>
        </p:nvSpPr>
        <p:spPr>
          <a:xfrm>
            <a:off x="685800" y="675167"/>
            <a:ext cx="2663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rial Black" panose="020B0A04020102020204" pitchFamily="34" charset="0"/>
              </a:rPr>
              <a:t>Outputs 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102259-D6C8-DA26-B614-B1D5CB5A11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732" y="2196140"/>
            <a:ext cx="5614268" cy="274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42546B-44E8-7F4A-DFAD-1FCA99DA55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852" y="2196140"/>
            <a:ext cx="5236537" cy="27001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D4B6EA-6077-237A-B195-4428835C4376}"/>
              </a:ext>
            </a:extLst>
          </p:cNvPr>
          <p:cNvSpPr txBox="1"/>
          <p:nvPr/>
        </p:nvSpPr>
        <p:spPr>
          <a:xfrm>
            <a:off x="1212111" y="5406656"/>
            <a:ext cx="4667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Logistic Regression Confusion Matrix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18E66D-D33A-4A88-C266-29CC4A8B80C2}"/>
              </a:ext>
            </a:extLst>
          </p:cNvPr>
          <p:cNvSpPr txBox="1"/>
          <p:nvPr/>
        </p:nvSpPr>
        <p:spPr>
          <a:xfrm>
            <a:off x="7671391" y="5406656"/>
            <a:ext cx="3705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Random Forest 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2830262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64C510-AB07-A89F-A53F-868D772B6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30D1BF-CC71-0839-2215-0AC9B6252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012" y="1153633"/>
            <a:ext cx="5632450" cy="35991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DC0FD76-CFA3-129A-9145-410C51119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6413" y="1087511"/>
            <a:ext cx="4473575" cy="38004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9C5B1F-8D3C-54FD-17FA-A52DAC95DB22}"/>
              </a:ext>
            </a:extLst>
          </p:cNvPr>
          <p:cNvSpPr txBox="1"/>
          <p:nvPr/>
        </p:nvSpPr>
        <p:spPr>
          <a:xfrm>
            <a:off x="2668772" y="5135525"/>
            <a:ext cx="2238153" cy="377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Model Training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DC4D1C-9B3A-59B6-7087-7EEF5F0F5D09}"/>
              </a:ext>
            </a:extLst>
          </p:cNvPr>
          <p:cNvSpPr txBox="1"/>
          <p:nvPr/>
        </p:nvSpPr>
        <p:spPr>
          <a:xfrm>
            <a:off x="7868093" y="5324252"/>
            <a:ext cx="2892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Accuracy Comparison</a:t>
            </a:r>
          </a:p>
        </p:txBody>
      </p:sp>
    </p:spTree>
    <p:extLst>
      <p:ext uri="{BB962C8B-B14F-4D97-AF65-F5344CB8AC3E}">
        <p14:creationId xmlns:p14="http://schemas.microsoft.com/office/powerpoint/2010/main" val="2884590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A853E0-9D96-DC1B-8179-8B139306C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5394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1319</Words>
  <Application>Microsoft Office PowerPoint</Application>
  <PresentationFormat>Widescreen</PresentationFormat>
  <Paragraphs>126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anushka bommidi</dc:creator>
  <cp:lastModifiedBy>anushka bommidi</cp:lastModifiedBy>
  <cp:revision>1</cp:revision>
  <dcterms:created xsi:type="dcterms:W3CDTF">2025-11-13T06:58:44Z</dcterms:created>
  <dcterms:modified xsi:type="dcterms:W3CDTF">2025-11-13T07:19:09Z</dcterms:modified>
</cp:coreProperties>
</file>