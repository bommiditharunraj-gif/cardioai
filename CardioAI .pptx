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76" r:id="rId11"/>
    <p:sldId id="262" r:id="rId12"/>
    <p:sldId id="263" r:id="rId13"/>
    <p:sldId id="264" r:id="rId14"/>
    <p:sldId id="265" r:id="rId15"/>
    <p:sldId id="266" r:id="rId16"/>
    <p:sldId id="267" r:id="rId17"/>
    <p:sldId id="269" r:id="rId18"/>
    <p:sldId id="281" r:id="rId19"/>
    <p:sldId id="282" r:id="rId20"/>
    <p:sldId id="280" r:id="rId21"/>
    <p:sldId id="283" r:id="rId22"/>
    <p:sldId id="284" r:id="rId23"/>
    <p:sldId id="270" r:id="rId24"/>
    <p:sldId id="271" r:id="rId25"/>
    <p:sldId id="286" r:id="rId26"/>
    <p:sldId id="273" r:id="rId27"/>
    <p:sldId id="274" r:id="rId28"/>
  </p:sldIdLst>
  <p:sldSz cx="9144000" cy="5143500"/>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3F969E-3429-4D86-A204-1F55B5CE37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44C97820-2DA0-41D9-BC04-251C204D0269}" styleName="Table_1">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A58D2B4B-3948-4824-9F31-7F648A82ED31}"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 name="Shape 11"/>
        <p:cNvGrpSpPr/>
        <p:nvPr/>
      </p:nvGrpSpPr>
      <p:grpSpPr>
        <a:xfrm>
          <a:off x="0" y="0"/>
          <a:ext cx="0" cy="0"/>
          <a:chOff x="0" y="0"/>
          <a:chExt cx="0" cy="0"/>
        </a:xfrm>
      </p:grpSpPr>
      <p:sp>
        <p:nvSpPr>
          <p:cNvPr id="12" name="Google Shape;12;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 name="Google Shape;14;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 name="Shape 21"/>
        <p:cNvGrpSpPr/>
        <p:nvPr/>
      </p:nvGrpSpPr>
      <p:grpSpPr>
        <a:xfrm>
          <a:off x="0" y="0"/>
          <a:ext cx="0" cy="0"/>
          <a:chOff x="0" y="0"/>
          <a:chExt cx="0" cy="0"/>
        </a:xfrm>
      </p:grpSpPr>
      <p:sp>
        <p:nvSpPr>
          <p:cNvPr id="22" name="Google Shape;22;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 name="Google Shape;24;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 name="Shape 30"/>
        <p:cNvGrpSpPr/>
        <p:nvPr/>
      </p:nvGrpSpPr>
      <p:grpSpPr>
        <a:xfrm>
          <a:off x="0" y="0"/>
          <a:ext cx="0" cy="0"/>
          <a:chOff x="0" y="0"/>
          <a:chExt cx="0" cy="0"/>
        </a:xfrm>
      </p:grpSpPr>
      <p:sp>
        <p:nvSpPr>
          <p:cNvPr id="31" name="Google Shape;31;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 name="Google Shape;33;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39"/>
        <p:cNvGrpSpPr/>
        <p:nvPr/>
      </p:nvGrpSpPr>
      <p:grpSpPr>
        <a:xfrm>
          <a:off x="0" y="0"/>
          <a:ext cx="0" cy="0"/>
          <a:chOff x="0" y="0"/>
          <a:chExt cx="0" cy="0"/>
        </a:xfrm>
      </p:grpSpPr>
      <p:sp>
        <p:nvSpPr>
          <p:cNvPr id="40" name="Google Shape;4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 name="Google Shape;42;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48"/>
        <p:cNvGrpSpPr/>
        <p:nvPr/>
      </p:nvGrpSpPr>
      <p:grpSpPr>
        <a:xfrm>
          <a:off x="0" y="0"/>
          <a:ext cx="0" cy="0"/>
          <a:chOff x="0" y="0"/>
          <a:chExt cx="0" cy="0"/>
        </a:xfrm>
      </p:grpSpPr>
      <p:sp>
        <p:nvSpPr>
          <p:cNvPr id="49" name="Google Shape;49;g3bd5ef2be4a_0_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g3bd5ef2be4a_0_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 name="Google Shape;51;g3bd5ef2be4a_0_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58"/>
        <p:cNvGrpSpPr/>
        <p:nvPr/>
      </p:nvGrpSpPr>
      <p:grpSpPr>
        <a:xfrm>
          <a:off x="0" y="0"/>
          <a:ext cx="0" cy="0"/>
          <a:chOff x="0" y="0"/>
          <a:chExt cx="0" cy="0"/>
        </a:xfrm>
      </p:grpSpPr>
      <p:sp>
        <p:nvSpPr>
          <p:cNvPr id="59" name="Google Shape;59;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 name="Google Shape;61;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58" name="Google Shape;5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 name="Google Shape;60;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67"/>
        <p:cNvGrpSpPr/>
        <p:nvPr/>
      </p:nvGrpSpPr>
      <p:grpSpPr>
        <a:xfrm>
          <a:off x="0" y="0"/>
          <a:ext cx="0" cy="0"/>
          <a:chOff x="0" y="0"/>
          <a:chExt cx="0" cy="0"/>
        </a:xfrm>
      </p:grpSpPr>
      <p:sp>
        <p:nvSpPr>
          <p:cNvPr id="68" name="Google Shape;68;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 name="Google Shape;70;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 name="Google Shape;81;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 name="Google Shape;92;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 name="Google Shape;101;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3" name="Google Shape;113;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3" name="Google Shape;143;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3" name="Google Shape;143;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3" name="Google Shape;143;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p1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p2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8" name="Google Shape;188;p2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15" name="Shape 15"/>
        <p:cNvGrpSpPr/>
        <p:nvPr/>
      </p:nvGrpSpPr>
      <p:grpSpPr>
        <a:xfrm>
          <a:off x="0" y="0"/>
          <a:ext cx="0" cy="0"/>
          <a:chOff x="0" y="0"/>
          <a:chExt cx="0" cy="0"/>
        </a:xfrm>
      </p:grpSpPr>
      <p:sp>
        <p:nvSpPr>
          <p:cNvPr id="16" name="Google Shape;16;p1"/>
          <p:cNvSpPr/>
          <p:nvPr/>
        </p:nvSpPr>
        <p:spPr>
          <a:xfrm>
            <a:off x="1043940" y="12319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000"/>
              <a:buFont typeface="Arial" panose="020B0604020202020204"/>
              <a:buNone/>
            </a:pPr>
            <a:r>
              <a:rPr lang="en-US" sz="3100" b="1" i="0" u="none" strike="noStrike" cap="none">
                <a:solidFill>
                  <a:srgbClr val="1A5F7A"/>
                </a:solidFill>
                <a:latin typeface="Arial" panose="020B0604020202020204"/>
                <a:ea typeface="Arial" panose="020B0604020202020204"/>
                <a:cs typeface="Arial" panose="020B0604020202020204"/>
                <a:sym typeface="Arial" panose="020B0604020202020204"/>
              </a:rPr>
              <a:t>CardioAI – Intelligent Heart Disease Risk Prediction System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17;p1"/>
          <p:cNvSpPr/>
          <p:nvPr/>
        </p:nvSpPr>
        <p:spPr>
          <a:xfrm>
            <a:off x="914400" y="2651760"/>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600"/>
              <a:buFont typeface="Arial" panose="020B0604020202020204"/>
              <a:buNone/>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Under the Esteemed Guidance of</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1"/>
          <p:cNvSpPr/>
          <p:nvPr/>
        </p:nvSpPr>
        <p:spPr>
          <a:xfrm>
            <a:off x="914400" y="2926080"/>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800"/>
              <a:buFont typeface="Arial" panose="020B0604020202020204"/>
              <a:buNone/>
            </a:pPr>
            <a:r>
              <a:rPr lang="en-US" sz="1800" b="1">
                <a:solidFill>
                  <a:srgbClr val="1E293B"/>
                </a:solidFill>
                <a:sym typeface="Arial" panose="020B0604020202020204"/>
              </a:rPr>
              <a:t>Dr</a:t>
            </a:r>
            <a:r>
              <a:rPr lang="en-IN" altLang="en-US" sz="1800" b="1">
                <a:solidFill>
                  <a:srgbClr val="1E293B"/>
                </a:solidFill>
                <a:sym typeface="Arial" panose="020B0604020202020204"/>
              </a:rPr>
              <a:t>. V. Shanmukha Rao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19;p1"/>
          <p:cNvSpPr/>
          <p:nvPr/>
        </p:nvSpPr>
        <p:spPr>
          <a:xfrm>
            <a:off x="914400" y="3474720"/>
            <a:ext cx="73152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Arial" panose="020B0604020202020204"/>
              <a:buNone/>
            </a:pPr>
            <a:r>
              <a:rPr lang="en-US" sz="1400" b="0" i="0" u="none" strike="noStrike" cap="none">
                <a:solidFill>
                  <a:srgbClr val="1E293B"/>
                </a:solidFill>
                <a:latin typeface="Arial" panose="020B0604020202020204"/>
                <a:ea typeface="Arial" panose="020B0604020202020204"/>
                <a:cs typeface="Arial" panose="020B0604020202020204"/>
                <a:sym typeface="Arial" panose="020B0604020202020204"/>
              </a:rPr>
              <a:t>Submitted by</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20;p1"/>
          <p:cNvSpPr/>
          <p:nvPr/>
        </p:nvSpPr>
        <p:spPr>
          <a:xfrm>
            <a:off x="3348355" y="3931920"/>
            <a:ext cx="3657600" cy="731520"/>
          </a:xfrm>
          <a:prstGeom prst="rect">
            <a:avLst/>
          </a:prstGeom>
          <a:noFill/>
          <a:ln>
            <a:noFill/>
          </a:ln>
        </p:spPr>
        <p:txBody>
          <a:bodyPr spcFirstLastPara="1" wrap="square" lIns="91425" tIns="45700" rIns="91425" bIns="45700" anchor="ctr" anchorCtr="0">
            <a:noAutofit/>
          </a:bodyPr>
          <a:lstStyle/>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P.Sravan Kumar          22KT1A4353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SK. Rehan                   22KT1A4355</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B.Tharun Raj               23KT5A4303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solidFill>
                  <a:schemeClr val="tx1"/>
                </a:solidFill>
                <a:latin typeface="Times New Roman" panose="02020603050405020304"/>
                <a:ea typeface="Times New Roman" panose="02020603050405020304"/>
                <a:cs typeface="Times New Roman" panose="02020603050405020304"/>
                <a:sym typeface="Times New Roman" panose="02020603050405020304"/>
              </a:rPr>
              <a:t>T.Teja                          23KT5A4307</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3" name="Google Shape;143;p1"/>
          <p:cNvPicPr preferRelativeResize="0"/>
          <p:nvPr/>
        </p:nvPicPr>
        <p:blipFill rotWithShape="1">
          <a:blip r:embed="rId1"/>
          <a:srcRect/>
          <a:stretch>
            <a:fillRect/>
          </a:stretch>
        </p:blipFill>
        <p:spPr>
          <a:xfrm>
            <a:off x="3636010" y="1131570"/>
            <a:ext cx="1504950" cy="1449070"/>
          </a:xfrm>
          <a:prstGeom prst="rect">
            <a:avLst/>
          </a:prstGeom>
          <a:noFill/>
          <a:ln>
            <a:noFill/>
          </a:ln>
        </p:spPr>
      </p:pic>
      <p:sp>
        <p:nvSpPr>
          <p:cNvPr id="1" name="Text Box 0"/>
          <p:cNvSpPr txBox="1"/>
          <p:nvPr/>
        </p:nvSpPr>
        <p:spPr>
          <a:xfrm>
            <a:off x="5579745" y="3442335"/>
            <a:ext cx="2186305" cy="306705"/>
          </a:xfrm>
          <a:prstGeom prst="rect">
            <a:avLst/>
          </a:prstGeom>
          <a:noFill/>
        </p:spPr>
        <p:txBody>
          <a:bodyPr wrap="square" rtlCol="0">
            <a:spAutoFit/>
          </a:bodyPr>
          <a:p>
            <a:r>
              <a:rPr lang="en-IN" altLang="en-US" b="1"/>
              <a:t>Batch no</a:t>
            </a:r>
            <a:r>
              <a:rPr lang="en-IN" altLang="en-US"/>
              <a:t> : 17</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Shape 25"/>
        <p:cNvGrpSpPr/>
        <p:nvPr/>
      </p:nvGrpSpPr>
      <p:grpSpPr>
        <a:xfrm>
          <a:off x="0" y="0"/>
          <a:ext cx="0" cy="0"/>
          <a:chOff x="0" y="0"/>
          <a:chExt cx="0" cy="0"/>
        </a:xfrm>
      </p:grpSpPr>
      <p:sp>
        <p:nvSpPr>
          <p:cNvPr id="26" name="Google Shape;26;p2"/>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CONTENTS</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 name="Google Shape;29;p2"/>
          <p:cNvSpPr/>
          <p:nvPr/>
        </p:nvSpPr>
        <p:spPr>
          <a:xfrm>
            <a:off x="914400" y="1828800"/>
            <a:ext cx="7315200" cy="27432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Introduction</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Abstract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Literature Survey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Existing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Proposed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Requirement Analysis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System Architecture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UML Diagrams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 name="Shape 34"/>
        <p:cNvGrpSpPr/>
        <p:nvPr/>
      </p:nvGrpSpPr>
      <p:grpSpPr>
        <a:xfrm>
          <a:off x="0" y="0"/>
          <a:ext cx="0" cy="0"/>
          <a:chOff x="0" y="0"/>
          <a:chExt cx="0" cy="0"/>
        </a:xfrm>
      </p:grpSpPr>
      <p:sp>
        <p:nvSpPr>
          <p:cNvPr id="35" name="Google Shape;35;p3"/>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3"/>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3"/>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INTRODUCTION</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 name="Google Shape;38;p3"/>
          <p:cNvSpPr/>
          <p:nvPr/>
        </p:nvSpPr>
        <p:spPr>
          <a:xfrm>
            <a:off x="457200" y="1645920"/>
            <a:ext cx="8229600" cy="3200400"/>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Cardiovascular diseases are among the leading causes of mortality worldwide, necessitating early detection and preventive care.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CardioAI is an intelligent healthcare platform designed to predict heart disease risk using machine learning techniques. The system employs a Random Forest classification model trained on real-world clinical datasets to accurately assess patient risk levels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A secure, web-based dashboard allows users to input physiological parameters, upload medical reports, and receive real-time diagnostic insights along with personalized clinical, dietary, and lifestyle recommendations. By combining predictive analytics, data security mechanisms, and population health monitoring, CardioAI aims to support both healthcare professionals and individuals in proactive heart health management.</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3" name="Shape 43"/>
        <p:cNvGrpSpPr/>
        <p:nvPr/>
      </p:nvGrpSpPr>
      <p:grpSpPr>
        <a:xfrm>
          <a:off x="0" y="0"/>
          <a:ext cx="0" cy="0"/>
          <a:chOff x="0" y="0"/>
          <a:chExt cx="0" cy="0"/>
        </a:xfrm>
      </p:grpSpPr>
      <p:sp>
        <p:nvSpPr>
          <p:cNvPr id="44" name="Google Shape;44;p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4"/>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4"/>
          <p:cNvSpPr/>
          <p:nvPr/>
        </p:nvSpPr>
        <p:spPr>
          <a:xfrm>
            <a:off x="457200" y="806277"/>
            <a:ext cx="8229600" cy="656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ABSTRACT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7" name="Google Shape;47;p4"/>
          <p:cNvSpPr/>
          <p:nvPr/>
        </p:nvSpPr>
        <p:spPr>
          <a:xfrm>
            <a:off x="731520" y="1645920"/>
            <a:ext cx="7680900" cy="3200400"/>
          </a:xfrm>
          <a:prstGeom prst="rect">
            <a:avLst/>
          </a:prstGeom>
          <a:noFill/>
          <a:ln>
            <a:noFill/>
          </a:ln>
        </p:spPr>
        <p:txBody>
          <a:bodyPr spcFirstLastPara="1" wrap="square" lIns="91425" tIns="45700" rIns="91425" bIns="45700" anchor="ctr" anchorCtr="0">
            <a:noAutofit/>
          </a:bodyPr>
          <a:lstStyle/>
          <a:p>
            <a:pPr marL="12700" marR="0" lvl="0" indent="0" algn="l" rtl="0">
              <a:lnSpc>
                <a:spcPct val="200000"/>
              </a:lnSpc>
              <a:spcBef>
                <a:spcPts val="0"/>
              </a:spcBef>
              <a:spcAft>
                <a:spcPts val="0"/>
              </a:spcAft>
              <a:buClr>
                <a:srgbClr val="1E293B"/>
              </a:buClr>
              <a:buSzPts val="1100"/>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 	Heart disease is one of the leading causes of mortality worldwide, making early and accurate diagnosis essential.This project presents an AI-based heart disease assessment system that predicts the risk using machine learning techniques with clinical parameters .A Random Forest classifier is trained on heart disease datasets to identify patterns associated with healthy and diseased conditions.The system provides real-time predictions through a user-friendly interface, assisting healthcare professionals in informed decision-making.</a:t>
            </a:r>
            <a:endParaRPr sz="1100" b="0" i="0" u="none" strike="noStrike" cap="none">
              <a:solidFill>
                <a:srgbClr val="1E293B"/>
              </a:solidFill>
              <a:latin typeface="Arial" panose="020B0604020202020204"/>
              <a:ea typeface="Arial" panose="020B0604020202020204"/>
              <a:cs typeface="Arial" panose="020B0604020202020204"/>
              <a:sym typeface="Arial" panose="020B0604020202020204"/>
            </a:endParaRPr>
          </a:p>
          <a:p>
            <a:pPr marL="0" marR="0" lvl="0" indent="0" algn="l" rtl="0">
              <a:lnSpc>
                <a:spcPct val="200000"/>
              </a:lnSpc>
              <a:spcBef>
                <a:spcPts val="0"/>
              </a:spcBef>
              <a:spcAft>
                <a:spcPts val="0"/>
              </a:spcAft>
              <a:buClr>
                <a:srgbClr val="1E293B"/>
              </a:buClr>
              <a:buSzPts val="1300"/>
              <a:buNone/>
            </a:pPr>
            <a:r>
              <a:rPr lang="en-US" sz="1100" b="1">
                <a:solidFill>
                  <a:schemeClr val="dk1"/>
                </a:solidFill>
              </a:rPr>
              <a:t>Keywords:</a:t>
            </a:r>
            <a:r>
              <a:rPr lang="en-US" sz="1100">
                <a:solidFill>
                  <a:schemeClr val="dk1"/>
                </a:solidFill>
              </a:rPr>
              <a:t> Heart Disease, Machine Learning, Random Forest, Risk Prediction, Clinical Parameters, Decision Support System, Logistic Regression, Support Vector Machine, Early Diagnosis, Healthcare AI</a:t>
            </a:r>
            <a:endParaRPr sz="1300">
              <a:solidFill>
                <a:srgbClr val="1E293B"/>
              </a:solidFill>
            </a:endParaRPr>
          </a:p>
          <a:p>
            <a:pPr marL="457200" marR="0" lvl="0" indent="0" algn="l" rtl="0">
              <a:lnSpc>
                <a:spcPct val="200000"/>
              </a:lnSpc>
              <a:spcBef>
                <a:spcPts val="0"/>
              </a:spcBef>
              <a:spcAft>
                <a:spcPts val="0"/>
              </a:spcAft>
              <a:buNone/>
            </a:pP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2" name="Shape 52"/>
        <p:cNvGrpSpPr/>
        <p:nvPr/>
      </p:nvGrpSpPr>
      <p:grpSpPr>
        <a:xfrm>
          <a:off x="0" y="0"/>
          <a:ext cx="0" cy="0"/>
          <a:chOff x="0" y="0"/>
          <a:chExt cx="0" cy="0"/>
        </a:xfrm>
      </p:grpSpPr>
      <p:sp>
        <p:nvSpPr>
          <p:cNvPr id="53" name="Google Shape;53;g3bd5ef2be4a_0_1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g3bd5ef2be4a_0_10"/>
          <p:cNvSpPr/>
          <p:nvPr/>
        </p:nvSpPr>
        <p:spPr>
          <a:xfrm>
            <a:off x="0" y="457200"/>
            <a:ext cx="9144000" cy="27420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g3bd5ef2be4a_0_10"/>
          <p:cNvSpPr/>
          <p:nvPr/>
        </p:nvSpPr>
        <p:spPr>
          <a:xfrm>
            <a:off x="457200" y="806277"/>
            <a:ext cx="8229600" cy="656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ABSTRACT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6" name="Google Shape;56;g3bd5ef2be4a_0_10"/>
          <p:cNvSpPr/>
          <p:nvPr/>
        </p:nvSpPr>
        <p:spPr>
          <a:xfrm>
            <a:off x="731525" y="926749"/>
            <a:ext cx="7680900" cy="3716100"/>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n-US" sz="1100">
                <a:solidFill>
                  <a:schemeClr val="dk1"/>
                </a:solidFill>
              </a:rPr>
              <a:t>In our experiments, we trained and tested these algorithms on the heart disease dataset. Among them, the </a:t>
            </a:r>
            <a:r>
              <a:rPr lang="en-US" sz="1100" b="1">
                <a:solidFill>
                  <a:schemeClr val="dk1"/>
                </a:solidFill>
              </a:rPr>
              <a:t>Random Forest classifier</a:t>
            </a:r>
            <a:r>
              <a:rPr lang="en-US" sz="1100">
                <a:solidFill>
                  <a:schemeClr val="dk1"/>
                </a:solidFill>
              </a:rPr>
              <a:t> achieved the </a:t>
            </a:r>
            <a:r>
              <a:rPr lang="en-US" sz="1100" b="1">
                <a:solidFill>
                  <a:schemeClr val="dk1"/>
                </a:solidFill>
              </a:rPr>
              <a:t>highest accuracy</a:t>
            </a:r>
            <a:r>
              <a:rPr lang="en-US" sz="1100">
                <a:solidFill>
                  <a:schemeClr val="dk1"/>
                </a:solidFill>
              </a:rPr>
              <a:t>, demonstrating better performance in handling feature interactions and reducing overfitting through ensemble learning. This comparison clearly shows that Random Forest is </a:t>
            </a:r>
            <a:r>
              <a:rPr lang="en-US" sz="1100" b="1">
                <a:solidFill>
                  <a:schemeClr val="dk1"/>
                </a:solidFill>
              </a:rPr>
              <a:t>more robust, reliable, and suitable</a:t>
            </a:r>
            <a:r>
              <a:rPr lang="en-US" sz="1100">
                <a:solidFill>
                  <a:schemeClr val="dk1"/>
                </a:solidFill>
              </a:rPr>
              <a:t> for real-time heart disease prediction compared to other models.</a:t>
            </a:r>
            <a:endParaRPr sz="1100">
              <a:solidFill>
                <a:schemeClr val="dk1"/>
              </a:solidFill>
            </a:endParaRPr>
          </a:p>
          <a:p>
            <a:pPr marL="0" marR="0" lvl="0" indent="0" algn="l" rtl="0">
              <a:lnSpc>
                <a:spcPct val="200000"/>
              </a:lnSpc>
              <a:spcBef>
                <a:spcPts val="0"/>
              </a:spcBef>
              <a:spcAft>
                <a:spcPts val="0"/>
              </a:spcAft>
              <a:buNone/>
            </a:pPr>
            <a:endParaRPr sz="1100">
              <a:solidFill>
                <a:schemeClr val="dk1"/>
              </a:solidFill>
            </a:endParaRPr>
          </a:p>
          <a:p>
            <a:pPr marL="0" marR="0" lvl="0" indent="0" algn="l" rtl="0">
              <a:lnSpc>
                <a:spcPct val="200000"/>
              </a:lnSpc>
              <a:spcBef>
                <a:spcPts val="0"/>
              </a:spcBef>
              <a:spcAft>
                <a:spcPts val="0"/>
              </a:spcAft>
              <a:buNone/>
            </a:pPr>
            <a:endParaRPr sz="1100">
              <a:solidFill>
                <a:schemeClr val="dk1"/>
              </a:solidFill>
            </a:endParaRPr>
          </a:p>
        </p:txBody>
      </p:sp>
      <p:graphicFrame>
        <p:nvGraphicFramePr>
          <p:cNvPr id="57" name="Google Shape;57;g3bd5ef2be4a_0_10"/>
          <p:cNvGraphicFramePr/>
          <p:nvPr/>
        </p:nvGraphicFramePr>
        <p:xfrm>
          <a:off x="731500" y="3157525"/>
          <a:ext cx="4874350" cy="3000000"/>
        </p:xfrm>
        <a:graphic>
          <a:graphicData uri="http://schemas.openxmlformats.org/drawingml/2006/table">
            <a:tbl>
              <a:tblPr>
                <a:noFill/>
                <a:tableStyleId>{773F969E-3429-4D86-A204-1F55B5CE3711}</a:tableStyleId>
              </a:tblPr>
              <a:tblGrid>
                <a:gridCol w="2437175"/>
                <a:gridCol w="2437175"/>
              </a:tblGrid>
              <a:tr h="362225">
                <a:tc>
                  <a:txBody>
                    <a:bodyPr/>
                    <a:lstStyle/>
                    <a:p>
                      <a:pPr marL="0" lvl="0" indent="0" algn="l" rtl="0">
                        <a:spcBef>
                          <a:spcPts val="0"/>
                        </a:spcBef>
                        <a:spcAft>
                          <a:spcPts val="0"/>
                        </a:spcAft>
                        <a:buNone/>
                      </a:pPr>
                      <a:r>
                        <a:rPr lang="en-US"/>
                        <a:t>  ALGORITHAM</a:t>
                      </a:r>
                      <a:endParaRPr lang="en-US"/>
                    </a:p>
                  </a:txBody>
                  <a:tcPr marL="91425" marR="91425" marT="91425" marB="91425"/>
                </a:tc>
                <a:tc>
                  <a:txBody>
                    <a:bodyPr/>
                    <a:lstStyle/>
                    <a:p>
                      <a:pPr marL="0" lvl="0" indent="0" algn="l" rtl="0">
                        <a:spcBef>
                          <a:spcPts val="0"/>
                        </a:spcBef>
                        <a:spcAft>
                          <a:spcPts val="0"/>
                        </a:spcAft>
                        <a:buNone/>
                      </a:pPr>
                      <a:r>
                        <a:rPr lang="en-US"/>
                        <a:t>    ACCURACY</a:t>
                      </a:r>
                      <a:endParaRPr lang="en-US"/>
                    </a:p>
                  </a:txBody>
                  <a:tcPr marL="91425" marR="91425" marT="91425" marB="91425"/>
                </a:tc>
              </a:tr>
              <a:tr h="362225">
                <a:tc>
                  <a:txBody>
                    <a:bodyPr/>
                    <a:lstStyle/>
                    <a:p>
                      <a:pPr marL="0" lvl="0" indent="0" algn="l" rtl="0">
                        <a:spcBef>
                          <a:spcPts val="0"/>
                        </a:spcBef>
                        <a:spcAft>
                          <a:spcPts val="0"/>
                        </a:spcAft>
                        <a:buNone/>
                      </a:pPr>
                      <a:r>
                        <a:rPr lang="en-US"/>
                        <a:t>               SVM </a:t>
                      </a:r>
                      <a:endParaRPr lang="en-US"/>
                    </a:p>
                  </a:txBody>
                  <a:tcPr marL="91425" marR="91425" marT="91425" marB="91425"/>
                </a:tc>
                <a:tc>
                  <a:txBody>
                    <a:bodyPr/>
                    <a:lstStyle/>
                    <a:p>
                      <a:pPr marL="0" lvl="0" indent="0" algn="l" rtl="0">
                        <a:spcBef>
                          <a:spcPts val="0"/>
                        </a:spcBef>
                        <a:spcAft>
                          <a:spcPts val="0"/>
                        </a:spcAft>
                        <a:buNone/>
                      </a:pPr>
                      <a:r>
                        <a:rPr lang="en-US"/>
                        <a:t>    60</a:t>
                      </a:r>
                      <a:endParaRPr lang="en-US"/>
                    </a:p>
                  </a:txBody>
                  <a:tcPr marL="91425" marR="91425" marT="91425" marB="91425"/>
                </a:tc>
              </a:tr>
              <a:tr h="362225">
                <a:tc>
                  <a:txBody>
                    <a:bodyPr/>
                    <a:lstStyle/>
                    <a:p>
                      <a:pPr marL="0" lvl="0" indent="0" algn="l" rtl="0">
                        <a:spcBef>
                          <a:spcPts val="0"/>
                        </a:spcBef>
                        <a:spcAft>
                          <a:spcPts val="0"/>
                        </a:spcAft>
                        <a:buNone/>
                      </a:pPr>
                      <a:r>
                        <a:rPr lang="en-US"/>
                        <a:t>    </a:t>
                      </a:r>
                      <a:r>
                        <a:rPr lang="en-US"/>
                        <a:t>DECISION TREE</a:t>
                      </a:r>
                      <a:endParaRPr lang="en-US"/>
                    </a:p>
                  </a:txBody>
                  <a:tcPr marL="91425" marR="91425" marT="91425" marB="91425"/>
                </a:tc>
                <a:tc>
                  <a:txBody>
                    <a:bodyPr/>
                    <a:lstStyle/>
                    <a:p>
                      <a:pPr marL="0" lvl="0" indent="0" algn="l" rtl="0">
                        <a:spcBef>
                          <a:spcPts val="0"/>
                        </a:spcBef>
                        <a:spcAft>
                          <a:spcPts val="0"/>
                        </a:spcAft>
                        <a:buNone/>
                      </a:pPr>
                      <a:r>
                        <a:rPr lang="en-US"/>
                        <a:t>    83</a:t>
                      </a:r>
                      <a:endParaRPr lang="en-US"/>
                    </a:p>
                  </a:txBody>
                  <a:tcPr marL="91425" marR="91425" marT="91425" marB="91425"/>
                </a:tc>
              </a:tr>
              <a:tr h="362225">
                <a:tc>
                  <a:txBody>
                    <a:bodyPr/>
                    <a:lstStyle/>
                    <a:p>
                      <a:pPr marL="0" lvl="0" indent="0" algn="l" rtl="0">
                        <a:spcBef>
                          <a:spcPts val="0"/>
                        </a:spcBef>
                        <a:spcAft>
                          <a:spcPts val="0"/>
                        </a:spcAft>
                        <a:buNone/>
                      </a:pPr>
                      <a:r>
                        <a:rPr lang="en-US"/>
                        <a:t>   RANDOM FOREST </a:t>
                      </a:r>
                      <a:endParaRPr lang="en-US"/>
                    </a:p>
                  </a:txBody>
                  <a:tcPr marL="91425" marR="91425" marT="91425" marB="91425"/>
                </a:tc>
                <a:tc>
                  <a:txBody>
                    <a:bodyPr/>
                    <a:lstStyle/>
                    <a:p>
                      <a:pPr marL="0" lvl="0" indent="0" algn="l" rtl="0">
                        <a:spcBef>
                          <a:spcPts val="0"/>
                        </a:spcBef>
                        <a:spcAft>
                          <a:spcPts val="0"/>
                        </a:spcAft>
                        <a:buNone/>
                      </a:pPr>
                      <a:r>
                        <a:rPr lang="en-US"/>
                        <a:t>     92</a:t>
                      </a:r>
                      <a:endParaRPr lang="en-US"/>
                    </a:p>
                  </a:txBody>
                  <a:tcPr marL="91425" marR="91425" marT="91425" marB="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2" name="Shape 62"/>
        <p:cNvGrpSpPr/>
        <p:nvPr/>
      </p:nvGrpSpPr>
      <p:grpSpPr>
        <a:xfrm>
          <a:off x="0" y="0"/>
          <a:ext cx="0" cy="0"/>
          <a:chOff x="0" y="0"/>
          <a:chExt cx="0" cy="0"/>
        </a:xfrm>
      </p:grpSpPr>
      <p:sp>
        <p:nvSpPr>
          <p:cNvPr id="63" name="Google Shape;63;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6"/>
          <p:cNvSpPr/>
          <p:nvPr/>
        </p:nvSpPr>
        <p:spPr>
          <a:xfrm>
            <a:off x="457200" y="8229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LITERATURE SURVEY</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66" name="Google Shape;66;p6"/>
          <p:cNvGraphicFramePr/>
          <p:nvPr/>
        </p:nvGraphicFramePr>
        <p:xfrm>
          <a:off x="274320" y="1371600"/>
          <a:ext cx="8412450" cy="3376875"/>
        </p:xfrm>
        <a:graphic>
          <a:graphicData uri="http://schemas.openxmlformats.org/drawingml/2006/table">
            <a:tbl>
              <a:tblPr>
                <a:noFill/>
                <a:tableStyleId>{44C97820-2DA0-41D9-BC04-251C204D0269}</a:tableStyleId>
              </a:tblPr>
              <a:tblGrid>
                <a:gridCol w="527685"/>
                <a:gridCol w="1153782"/>
                <a:gridCol w="1129747"/>
                <a:gridCol w="1184660"/>
                <a:gridCol w="1395679"/>
                <a:gridCol w="1476888"/>
                <a:gridCol w="872699"/>
                <a:gridCol w="671310"/>
              </a:tblGrid>
              <a:tr h="491775">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S.NO.</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None/>
                      </a:pPr>
                      <a:r>
                        <a:rPr lang="en-US" sz="900" b="1">
                          <a:solidFill>
                            <a:srgbClr val="FFFFFF"/>
                          </a:solidFill>
                        </a:rPr>
                        <a:t>PUBLISHED YEAR</a:t>
                      </a:r>
                      <a:endParaRPr sz="900" b="1" u="none" strike="noStrike" cap="none">
                        <a:solidFill>
                          <a:srgbClr val="FFFFFF"/>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1</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Cleveland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1000"/>
                        <a:t>       2024</a:t>
                      </a:r>
                      <a:endParaRPr sz="10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Used UCI dataset with basic clinical attributes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UCI Heart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~77%</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2</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Patel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SVM-Based Heart Disease Risk Assessment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900"/>
                        <a:t>       </a:t>
                      </a:r>
                      <a:r>
                        <a:rPr lang="en-US" sz="1100"/>
                        <a:t> 2023</a:t>
                      </a:r>
                      <a:endParaRPr sz="11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Normalized clinical records analyzed using 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Clinical Records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81%</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  3</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Kumar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 Model for Heart Disease Diagnosis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800"/>
                        <a:t>      </a:t>
                      </a:r>
                      <a:r>
                        <a:rPr lang="en-US" sz="1100"/>
                        <a:t>  2023</a:t>
                      </a:r>
                      <a:endParaRPr sz="11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 classified using 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83%</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800" u="none" strike="noStrike" cap="none"/>
                        <a:t>  4</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800" dirty="0">
                          <a:sym typeface="+mn-ea"/>
                        </a:rPr>
                        <a:t>Ch. Anwar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Effectively Predicting the Presence of Coronary Heart Disease</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Using Machine Learning Classiﬁer</a:t>
                      </a:r>
                      <a:r>
                        <a:rPr lang="en-IN" altLang="en-US" sz="800" dirty="0">
                          <a:sym typeface="+mn-ea"/>
                        </a:rPr>
                        <a:t>s</a:t>
                      </a:r>
                      <a:endParaRPr lang="en-IN" altLang="en-US" sz="800" u="none" strike="noStrike" cap="none" dirty="0">
                        <a:sym typeface="+mn-ea"/>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800"/>
                        <a:t>          </a:t>
                      </a:r>
                      <a:r>
                        <a:rPr lang="en-US" sz="1100"/>
                        <a:t>2022</a:t>
                      </a:r>
                      <a:endParaRPr sz="11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GBA, MLP</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Applied multiple machine learning classifiers on the UCI Heart Disease dataset to predict coronary heart disease.</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UCI Heart Disease</a:t>
                      </a:r>
                      <a:endParaRPr sz="800" u="none" strike="noStrike" cap="none" dirty="0"/>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90</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sp>
        <p:nvSpPr>
          <p:cNvPr id="62" name="Google Shape;62;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aphicFrame>
        <p:nvGraphicFramePr>
          <p:cNvPr id="65" name="Google Shape;65;p6"/>
          <p:cNvGraphicFramePr/>
          <p:nvPr>
            <p:custDataLst>
              <p:tags r:id="rId1"/>
            </p:custDataLst>
          </p:nvPr>
        </p:nvGraphicFramePr>
        <p:xfrm>
          <a:off x="274320" y="731520"/>
          <a:ext cx="8412480" cy="4256405"/>
        </p:xfrm>
        <a:graphic>
          <a:graphicData uri="http://schemas.openxmlformats.org/drawingml/2006/table">
            <a:tbl>
              <a:tblPr>
                <a:noFill/>
                <a:tableStyleId>{A58D2B4B-3948-4824-9F31-7F648A82ED31}</a:tableStyleId>
              </a:tblPr>
              <a:tblGrid>
                <a:gridCol w="673100"/>
                <a:gridCol w="1076960"/>
                <a:gridCol w="1345565"/>
                <a:gridCol w="1346200"/>
                <a:gridCol w="942340"/>
                <a:gridCol w="1480185"/>
                <a:gridCol w="875030"/>
                <a:gridCol w="673100"/>
              </a:tblGrid>
              <a:tr h="567690">
                <a:tc>
                  <a:txBody>
                    <a:bodyPr/>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S.NO.</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p>
                      <a:pPr marL="0" marR="0" lvl="0" indent="0" algn="l" rtl="0">
                        <a:spcBef>
                          <a:spcPts val="0"/>
                        </a:spcBef>
                        <a:spcAft>
                          <a:spcPts val="0"/>
                        </a:spcAft>
                        <a:buNone/>
                      </a:pPr>
                      <a:r>
                        <a:rPr lang="en-US" sz="900" b="1">
                          <a:solidFill>
                            <a:srgbClr val="FFFFFF"/>
                          </a:solidFill>
                        </a:rPr>
                        <a:t>PUBLISHED YEAR</a:t>
                      </a:r>
                      <a:endParaRPr sz="900" b="1" u="none" strike="noStrike" cap="none">
                        <a:solidFill>
                          <a:srgbClr val="FFFFFF"/>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r>
              <a:tr h="833120">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t> 5</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Jaswanth Narayana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a:t>
                      </a:r>
                      <a:r>
                        <a:rPr lang="en-IN" altLang="en-US" sz="800" u="none" strike="noStrike" cap="none">
                          <a:solidFill>
                            <a:srgbClr val="000000"/>
                          </a:solidFill>
                        </a:rPr>
                        <a:t>Machine Learning</a:t>
                      </a:r>
                      <a:endParaRPr lang="en-IN" alt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None/>
                      </a:pPr>
                      <a:r>
                        <a:rPr lang="en-US" sz="1000"/>
                        <a:t>        </a:t>
                      </a:r>
                      <a:r>
                        <a:rPr lang="en-US" sz="800"/>
                        <a:t>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KNN</a:t>
                      </a:r>
                      <a:endParaRPr lang="en-IN" alt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a public health dataset and applied KNN after basic data analysis and feature distribution checking.</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Public Health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84.86</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833120">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t> 6</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800" dirty="0">
                          <a:sym typeface="+mn-ea"/>
                        </a:rPr>
                        <a:t>Ahmad Shak</a:t>
                      </a:r>
                      <a:r>
                        <a:rPr lang="en-IN" altLang="en-US" sz="800" dirty="0">
                          <a:sym typeface="+mn-ea"/>
                        </a:rPr>
                        <a:t>et al</a:t>
                      </a:r>
                      <a:r>
                        <a:rPr lang="en-IN" sz="800" dirty="0">
                          <a:sym typeface="+mn-ea"/>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Machine learning models for prediction of co-occurrence of diabetes </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and cardiovascular diseases: a retrospective cohort study</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None/>
                      </a:pPr>
                      <a:r>
                        <a:rPr lang="en-US" sz="900"/>
                        <a:t>       </a:t>
                      </a:r>
                      <a:r>
                        <a:rPr lang="en-US" sz="1100"/>
                        <a:t> </a:t>
                      </a:r>
                      <a:r>
                        <a:rPr lang="en-US" sz="800"/>
                        <a:t>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IN" sz="800" dirty="0">
                          <a:sym typeface="+mn-ea"/>
                        </a:rPr>
                        <a:t>Random Forest</a:t>
                      </a:r>
                      <a:endParaRPr lang="en-US" altLang="en-IN"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UCI heart disease data and applied random forest on retrospectively collected clinical records.</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UCI Heart Disease</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91</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833755">
                <a:tc>
                  <a:txBody>
                    <a:bodyPr/>
                    <a:p>
                      <a:pPr marL="0" marR="0" lvl="0" indent="0" algn="l" rtl="0">
                        <a:spcBef>
                          <a:spcPts val="0"/>
                        </a:spcBef>
                        <a:spcAft>
                          <a:spcPts val="0"/>
                        </a:spcAft>
                        <a:buClr>
                          <a:srgbClr val="000000"/>
                        </a:buClr>
                        <a:buSzPts val="800"/>
                        <a:buFont typeface="Calibri" panose="020F0502020204030204"/>
                        <a:buNone/>
                      </a:pPr>
                      <a:r>
                        <a:rPr lang="en-US" sz="800" u="none" strike="noStrike" cap="none"/>
                        <a:t>   7</a:t>
                      </a: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 Heart Disease Prediction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spcBef>
                          <a:spcPts val="0"/>
                        </a:spcBef>
                        <a:spcAft>
                          <a:spcPts val="0"/>
                        </a:spcAft>
                        <a:buNone/>
                      </a:pPr>
                      <a:r>
                        <a:rPr lang="en-US" sz="800"/>
                        <a:t>          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Random Forest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signals combined with clinical features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 Clinical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85%</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1188720">
                <a:tc>
                  <a:txBody>
                    <a:bodyPr/>
                    <a:p>
                      <a:pPr marL="0" marR="0" lvl="0" indent="0" algn="l" rtl="0">
                        <a:lnSpc>
                          <a:spcPct val="100000"/>
                        </a:lnSpc>
                        <a:spcBef>
                          <a:spcPts val="0"/>
                        </a:spcBef>
                        <a:spcAft>
                          <a:spcPts val="0"/>
                        </a:spcAft>
                        <a:buClr>
                          <a:srgbClr val="000000"/>
                        </a:buClr>
                        <a:buFont typeface="Arial" panose="020B0604020202020204"/>
                        <a:buNone/>
                      </a:pPr>
                      <a:r>
                        <a:rPr lang="en-IN" altLang="en-US" sz="800" u="none" strike="noStrike" cap="none"/>
                        <a:t>8</a:t>
                      </a:r>
                      <a:endParaRPr lang="en-IN"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Adarsh 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Heart Disease Prediction: A Comparative Analysis of Machine Learning Algorithms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p>
                      <a:pPr marL="0" marR="0" lvl="0" indent="0" algn="l" rtl="0">
                        <a:lnSpc>
                          <a:spcPct val="100000"/>
                        </a:lnSpc>
                        <a:spcBef>
                          <a:spcPts val="0"/>
                        </a:spcBef>
                        <a:spcAft>
                          <a:spcPts val="0"/>
                        </a:spcAft>
                        <a:buClr>
                          <a:srgbClr val="000000"/>
                        </a:buClr>
                        <a:buFont typeface="Arial" panose="020B0604020202020204"/>
                        <a:buNone/>
                      </a:pPr>
                      <a:r>
                        <a:rPr lang="en-IN" sz="800" u="none" strike="noStrike" cap="none"/>
                        <a:t>         2021</a:t>
                      </a:r>
                      <a:endParaRPr lang="en-IN"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Random Forest</a:t>
                      </a:r>
                      <a:endParaRPr sz="800" u="none" strike="noStrike" cap="none"/>
                    </a:p>
                    <a:p>
                      <a:pPr marL="0" marR="0" lvl="0" indent="0" algn="l" rtl="0">
                        <a:spcBef>
                          <a:spcPts val="0"/>
                        </a:spcBef>
                        <a:spcAft>
                          <a:spcPts val="0"/>
                        </a:spcAft>
                        <a:buClr>
                          <a:srgbClr val="000000"/>
                        </a:buClr>
                        <a:buSzPts val="800"/>
                        <a:buFont typeface="Calibri" panose="020F0502020204030204"/>
                        <a:buNone/>
                      </a:pP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a:sym typeface="+mn-ea"/>
                        </a:rPr>
                        <a:t>Collected and cleaned heart disease data, handled missing values, normalized features, and applied Random Forest.</a:t>
                      </a:r>
                      <a:endParaRPr lang="en-US" altLang="en-US" sz="800" u="none" strike="noStrike" cap="none"/>
                    </a:p>
                    <a:p>
                      <a:pPr marL="0" marR="0" lvl="0" indent="0" algn="l" rtl="0">
                        <a:lnSpc>
                          <a:spcPct val="100000"/>
                        </a:lnSpc>
                        <a:spcBef>
                          <a:spcPts val="0"/>
                        </a:spcBef>
                        <a:spcAft>
                          <a:spcPts val="0"/>
                        </a:spcAft>
                        <a:buClr>
                          <a:srgbClr val="000000"/>
                        </a:buClr>
                        <a:buFont typeface="Arial" panose="020B060402020202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Heart Dataset</a:t>
                      </a:r>
                      <a:endParaRPr sz="800" u="none" strike="noStrike" cap="none"/>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800">
                          <a:sym typeface="+mn-ea"/>
                        </a:rPr>
                        <a:t>8</a:t>
                      </a:r>
                      <a:r>
                        <a:rPr lang="en-IN" altLang="en-US" sz="800">
                          <a:sym typeface="+mn-ea"/>
                        </a:rPr>
                        <a:t>4.96</a:t>
                      </a:r>
                      <a:r>
                        <a:rPr lang="en-US" sz="800">
                          <a:sym typeface="+mn-ea"/>
                        </a:rPr>
                        <a:t>%</a:t>
                      </a:r>
                      <a:endParaRPr sz="800" u="none" strike="noStrike" cap="none"/>
                    </a:p>
                    <a:p>
                      <a:pPr marL="0" marR="0" lvl="0" indent="0" algn="l" rtl="0">
                        <a:lnSpc>
                          <a:spcPct val="100000"/>
                        </a:lnSpc>
                        <a:spcBef>
                          <a:spcPts val="0"/>
                        </a:spcBef>
                        <a:spcAft>
                          <a:spcPts val="0"/>
                        </a:spcAft>
                        <a:buClr>
                          <a:srgbClr val="000000"/>
                        </a:buClr>
                        <a:buFont typeface="Arial" panose="020B0604020202020204"/>
                        <a:buNone/>
                      </a:pPr>
                      <a:endParaRPr 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1" name="Shape 71"/>
        <p:cNvGrpSpPr/>
        <p:nvPr/>
      </p:nvGrpSpPr>
      <p:grpSpPr>
        <a:xfrm>
          <a:off x="0" y="0"/>
          <a:ext cx="0" cy="0"/>
          <a:chOff x="0" y="0"/>
          <a:chExt cx="0" cy="0"/>
        </a:xfrm>
      </p:grpSpPr>
      <p:sp>
        <p:nvSpPr>
          <p:cNvPr id="72" name="Google Shape;72;p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7"/>
          <p:cNvSpPr/>
          <p:nvPr/>
        </p:nvSpPr>
        <p:spPr>
          <a:xfrm>
            <a:off x="467995" y="729615"/>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EXISTING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5" name="Google Shape;75;p7"/>
          <p:cNvSpPr/>
          <p:nvPr/>
        </p:nvSpPr>
        <p:spPr>
          <a:xfrm>
            <a:off x="457200" y="1920251"/>
            <a:ext cx="8229600" cy="9384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200">
                <a:solidFill>
                  <a:schemeClr val="dk1"/>
                </a:solidFill>
              </a:rPr>
              <a:t>In the existing heart disease diagnostic systems, traditional methods largely rely on </a:t>
            </a:r>
            <a:r>
              <a:rPr lang="en-US" sz="1200" b="1">
                <a:solidFill>
                  <a:schemeClr val="dk1"/>
                </a:solidFill>
              </a:rPr>
              <a:t>manual evaluation</a:t>
            </a:r>
            <a:r>
              <a:rPr lang="en-US" sz="1200">
                <a:solidFill>
                  <a:schemeClr val="dk1"/>
                </a:solidFill>
              </a:rPr>
              <a:t> by healthcare professionals based on clinical symptoms, medical history, and standard diagnostic tests such as ECG, blood tests, and imaging. While these methods are effective, they are often:</a:t>
            </a:r>
            <a:endParaRPr sz="1200">
              <a:solidFill>
                <a:schemeClr val="dk1"/>
              </a:solidFill>
            </a:endParaRPr>
          </a:p>
          <a:p>
            <a:pPr marL="457200" lvl="0" indent="-304800" algn="l" rtl="0">
              <a:lnSpc>
                <a:spcPct val="115000"/>
              </a:lnSpc>
              <a:spcBef>
                <a:spcPts val="1200"/>
              </a:spcBef>
              <a:spcAft>
                <a:spcPts val="0"/>
              </a:spcAft>
              <a:buClr>
                <a:schemeClr val="dk1"/>
              </a:buClr>
              <a:buSzPts val="1200"/>
              <a:buAutoNum type="arabicPeriod"/>
            </a:pPr>
            <a:r>
              <a:rPr lang="en-US" sz="1200" b="1">
                <a:solidFill>
                  <a:schemeClr val="dk1"/>
                </a:solidFill>
              </a:rPr>
              <a:t>Time-Consuming:</a:t>
            </a:r>
            <a:r>
              <a:rPr lang="en-US" sz="1200">
                <a:solidFill>
                  <a:schemeClr val="dk1"/>
                </a:solidFill>
              </a:rPr>
              <a:t> Doctors need to analyze multiple parameters manually, which can delay diagnosis.</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US" sz="1200" b="1">
                <a:solidFill>
                  <a:schemeClr val="dk1"/>
                </a:solidFill>
              </a:rPr>
              <a:t>Subjective:</a:t>
            </a:r>
            <a:r>
              <a:rPr lang="en-US" sz="1200">
                <a:solidFill>
                  <a:schemeClr val="dk1"/>
                </a:solidFill>
              </a:rPr>
              <a:t> Diagnosis may vary depending on the experience and expertise of the physician.</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US" sz="1200" b="1">
                <a:solidFill>
                  <a:schemeClr val="dk1"/>
                </a:solidFill>
              </a:rPr>
              <a:t>Limited in Pattern Recognition:</a:t>
            </a:r>
            <a:r>
              <a:rPr lang="en-US" sz="1200">
                <a:solidFill>
                  <a:schemeClr val="dk1"/>
                </a:solidFill>
              </a:rPr>
              <a:t> Traditional methods may fail to detect complex patterns and interactions among multiple risk factors</a:t>
            </a:r>
            <a:endParaRPr sz="1200">
              <a:solidFill>
                <a:schemeClr val="dk1"/>
              </a:solidFill>
            </a:endParaRPr>
          </a:p>
          <a:p>
            <a:pPr marL="0" marR="0" lvl="0" indent="0" algn="l" rtl="0">
              <a:spcBef>
                <a:spcPts val="1200"/>
              </a:spcBef>
              <a:spcAft>
                <a:spcPts val="0"/>
              </a:spcAft>
              <a:buClr>
                <a:srgbClr val="1E293B"/>
              </a:buClr>
              <a:buSzPts val="1300"/>
              <a:buFont typeface="Arial" panose="020B0604020202020204"/>
              <a:buNone/>
            </a:pPr>
            <a:endParaRPr>
              <a:solidFill>
                <a:srgbClr val="1E293B"/>
              </a:solidFill>
            </a:endParaRPr>
          </a:p>
        </p:txBody>
      </p:sp>
      <p:sp>
        <p:nvSpPr>
          <p:cNvPr id="76" name="Google Shape;76;p7"/>
          <p:cNvSpPr/>
          <p:nvPr/>
        </p:nvSpPr>
        <p:spPr>
          <a:xfrm>
            <a:off x="457200" y="3215850"/>
            <a:ext cx="8229600" cy="389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DISADVANTAGES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7" name="Google Shape;77;p7"/>
          <p:cNvSpPr/>
          <p:nvPr/>
        </p:nvSpPr>
        <p:spPr>
          <a:xfrm>
            <a:off x="731525" y="3429000"/>
            <a:ext cx="7680900" cy="1538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Time-consuming diagnosis - Manual analysis of medical reports takes significant time.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Human error and subjectivity - Diagnosis depends on doctor's experience, leading to inconsistent results.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Limited accuracy - Rule-based systems cannot adapt to new patterns in data.</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Single machine learning models often suffer from overfitting or underfitting.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2" name="Shape 82"/>
        <p:cNvGrpSpPr/>
        <p:nvPr/>
      </p:nvGrpSpPr>
      <p:grpSpPr>
        <a:xfrm>
          <a:off x="0" y="0"/>
          <a:ext cx="0" cy="0"/>
          <a:chOff x="0" y="0"/>
          <a:chExt cx="0" cy="0"/>
        </a:xfrm>
      </p:grpSpPr>
      <p:sp>
        <p:nvSpPr>
          <p:cNvPr id="83" name="Google Shape;83;p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8"/>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PROPOSED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8"/>
          <p:cNvSpPr/>
          <p:nvPr/>
        </p:nvSpPr>
        <p:spPr>
          <a:xfrm>
            <a:off x="457200" y="1645920"/>
            <a:ext cx="822960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The proposed system is an AI-based heart disease assessment platform that uses Random Forest classifier to predict risk. The system takes patient medical parameters such as age, gender, blood pressure, cholesterol levels, and heart rate as input. Data is preprocessed to handle missing values and normalize features before model training.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8"/>
          <p:cNvSpPr/>
          <p:nvPr/>
        </p:nvSpPr>
        <p:spPr>
          <a:xfrm>
            <a:off x="457200" y="2651760"/>
            <a:ext cx="8229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 name="Google Shape;88;p8"/>
          <p:cNvSpPr/>
          <p:nvPr/>
        </p:nvSpPr>
        <p:spPr>
          <a:xfrm>
            <a:off x="731520" y="3108960"/>
            <a:ext cx="7680960" cy="164592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 through Random Forest ensemble approach.</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Early detection of heart disease before severe symptoms appear.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Automated and fast assessment - Results within seconds.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Reduced human error with consistent and reliable predictions.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complex medical data and captures hidden relationships.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9"/>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9"/>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9"/>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WHY RANDOM FOREST IS CHOSEN</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9"/>
          <p:cNvSpPr/>
          <p:nvPr/>
        </p:nvSpPr>
        <p:spPr>
          <a:xfrm>
            <a:off x="731520" y="1463040"/>
            <a:ext cx="7680960" cy="3200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Accuracy - Combines multiple decision trees, improving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Non-Linear Data - Medical data is complex; Random Forest captures these patterns effectively.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Reduces Overfitting - Averaging results from many trees avoids overfitting.</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Works Well with Medical Datasets - Efficient even with missing values and mixed data types.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Feature Importance - Identifies important health parameters like cholesterol, blood pressure, and age.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Robust and Reliable - Suitable for real-world healthcare applications.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2" name="Shape 102"/>
        <p:cNvGrpSpPr/>
        <p:nvPr/>
      </p:nvGrpSpPr>
      <p:grpSpPr>
        <a:xfrm>
          <a:off x="0" y="0"/>
          <a:ext cx="0" cy="0"/>
          <a:chOff x="0" y="0"/>
          <a:chExt cx="0" cy="0"/>
        </a:xfrm>
      </p:grpSpPr>
      <p:sp>
        <p:nvSpPr>
          <p:cNvPr id="103" name="Google Shape;103;p1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10"/>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10"/>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AND NON-FUNCTIONAL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0"/>
          <p:cNvSpPr/>
          <p:nvPr>
            <p:custDataLst>
              <p:tags r:id="rId1"/>
            </p:custDataLst>
          </p:nvPr>
        </p:nvSpPr>
        <p:spPr>
          <a:xfrm>
            <a:off x="539750" y="185166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 name="Google Shape;107;p10"/>
          <p:cNvSpPr/>
          <p:nvPr>
            <p:custDataLst>
              <p:tags r:id="rId2"/>
            </p:custDataLst>
          </p:nvPr>
        </p:nvSpPr>
        <p:spPr>
          <a:xfrm>
            <a:off x="73152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Input patient medical details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Validate input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Preprocess medical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Apply Random Forest algorithm</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Predict heart disease risk</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Display prediction results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8" name="Google Shape;108;p10"/>
          <p:cNvSpPr/>
          <p:nvPr>
            <p:custDataLst>
              <p:tags r:id="rId3"/>
            </p:custDataLst>
          </p:nvPr>
        </p:nvSpPr>
        <p:spPr>
          <a:xfrm>
            <a:off x="4754880" y="177927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NON-FUNCTIONAL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9" name="Google Shape;109;p10"/>
          <p:cNvSpPr/>
          <p:nvPr>
            <p:custDataLst>
              <p:tags r:id="rId4"/>
            </p:custDataLst>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Fast response time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Scalability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Data security and privacy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Reliability and robustness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User-friendly interface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1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1"/>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SOFTWARE AND HARDWARE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11"/>
          <p:cNvSpPr/>
          <p:nvPr/>
        </p:nvSpPr>
        <p:spPr>
          <a:xfrm>
            <a:off x="539750" y="185166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SOFTWARE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11"/>
          <p:cNvSpPr/>
          <p:nvPr/>
        </p:nvSpPr>
        <p:spPr>
          <a:xfrm>
            <a:off x="731520" y="1920240"/>
            <a:ext cx="384048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Operating System: Windows</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Programming Language: Python 3.9, Kotlin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Backend Framework: Flask / FastAPI</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Frontend: HTML, CSS, JavaScript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Studio (Latest stable version)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SDK</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Libraries: NumPy, Pandas, Scikit-learn, Matplotlib, Seaborn, Flask/Streamlit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1"/>
          <p:cNvSpPr/>
          <p:nvPr/>
        </p:nvSpPr>
        <p:spPr>
          <a:xfrm>
            <a:off x="4788535" y="19202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HARDWARE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1"/>
          <p:cNvSpPr/>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Processor: Intel i5 or higher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RAM: Minimum 8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Storage: Minimum 50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14"/>
          <p:cNvSpPr/>
          <p:nvPr/>
        </p:nvSpPr>
        <p:spPr>
          <a:xfrm>
            <a:off x="395605" y="45720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a:solidFill>
                  <a:srgbClr val="1A5F7A"/>
                </a:solidFill>
                <a:sym typeface="Arial" panose="020B0604020202020204"/>
              </a:rPr>
              <a:t>SYSTEM ARCHITECTURE</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1423035" y="1019810"/>
            <a:ext cx="6631940" cy="38442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16"/>
          <p:cNvSpPr/>
          <p:nvPr/>
        </p:nvSpPr>
        <p:spPr>
          <a:xfrm>
            <a:off x="467360" y="7721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DATA FLOW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1331595" y="1491615"/>
            <a:ext cx="6591935" cy="34309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14"/>
          <p:cNvSpPr/>
          <p:nvPr/>
        </p:nvSpPr>
        <p:spPr>
          <a:xfrm>
            <a:off x="395605" y="48387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USE CASE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1979930" y="1059815"/>
            <a:ext cx="5038725" cy="40532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14"/>
          <p:cNvSpPr/>
          <p:nvPr/>
        </p:nvSpPr>
        <p:spPr>
          <a:xfrm>
            <a:off x="395605" y="48387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CLASS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1"/>
          <a:stretch>
            <a:fillRect/>
          </a:stretch>
        </p:blipFill>
        <p:spPr>
          <a:xfrm>
            <a:off x="539115" y="1308735"/>
            <a:ext cx="8207375" cy="35064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16"/>
          <p:cNvSpPr/>
          <p:nvPr/>
        </p:nvSpPr>
        <p:spPr>
          <a:xfrm>
            <a:off x="467360" y="7721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MODEL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35560" y="2044065"/>
            <a:ext cx="8932545" cy="2026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14"/>
          <p:cNvSpPr/>
          <p:nvPr/>
        </p:nvSpPr>
        <p:spPr>
          <a:xfrm>
            <a:off x="323850" y="51435"/>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ACTIVITY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2411730" y="541655"/>
            <a:ext cx="4152900" cy="43681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16"/>
          <p:cNvSpPr/>
          <p:nvPr/>
        </p:nvSpPr>
        <p:spPr>
          <a:xfrm>
            <a:off x="467360" y="7721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SEQUENCE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1"/>
          <a:stretch>
            <a:fillRect/>
          </a:stretch>
        </p:blipFill>
        <p:spPr>
          <a:xfrm>
            <a:off x="1308735" y="1491615"/>
            <a:ext cx="6390005" cy="30956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17"/>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COMPONENT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611505" y="1463040"/>
            <a:ext cx="8110855" cy="34131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1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1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65;p18"/>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COLLABORATION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683895" y="1564005"/>
            <a:ext cx="7842885" cy="30435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1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1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65;p18"/>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DEPLOYMENT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1"/>
          <a:stretch>
            <a:fillRect/>
          </a:stretch>
        </p:blipFill>
        <p:spPr>
          <a:xfrm>
            <a:off x="685165" y="1699895"/>
            <a:ext cx="8035290" cy="27470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1" name="Google Shape;181;p2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2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21"/>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REFERENCES</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21"/>
          <p:cNvSpPr/>
          <p:nvPr/>
        </p:nvSpPr>
        <p:spPr>
          <a:xfrm>
            <a:off x="731520" y="1645920"/>
            <a:ext cx="7680960" cy="3017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L. Breiman, Random Forests, Machine Learning, 45(1):5–32, 2001.</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UCI Machine Learning Repository, Heart Disease Dataset, https://archive.ics.uci.edu/ml/datasets/heart+disease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Pedregosa et al., Scikit-learn: Machine Learning in Python, Journal of Machine Learning Research, 2011.</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Heart Disease Prediction: A Comparative Analysis – This paper compares machine learning models for predicting heart disease using clinical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189" name="Shape 189"/>
        <p:cNvGrpSpPr/>
        <p:nvPr/>
      </p:nvGrpSpPr>
      <p:grpSpPr>
        <a:xfrm>
          <a:off x="0" y="0"/>
          <a:ext cx="0" cy="0"/>
          <a:chOff x="0" y="0"/>
          <a:chExt cx="0" cy="0"/>
        </a:xfrm>
      </p:grpSpPr>
      <p:sp>
        <p:nvSpPr>
          <p:cNvPr id="190" name="Google Shape;190;p22"/>
          <p:cNvSpPr/>
          <p:nvPr/>
        </p:nvSpPr>
        <p:spPr>
          <a:xfrm>
            <a:off x="914400" y="201168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800"/>
              <a:buFont typeface="Arial" panose="020B0604020202020204"/>
              <a:buNone/>
            </a:pPr>
            <a:r>
              <a:rPr lang="en-US" sz="4800" b="1" i="0" u="none" strike="noStrike" cap="none">
                <a:solidFill>
                  <a:srgbClr val="1A5F7A"/>
                </a:solidFill>
                <a:latin typeface="Arial" panose="020B0604020202020204"/>
                <a:ea typeface="Arial" panose="020B0604020202020204"/>
                <a:cs typeface="Arial" panose="020B0604020202020204"/>
                <a:sym typeface="Arial" panose="020B0604020202020204"/>
              </a:rPr>
              <a:t>Thank you !</a:t>
            </a:r>
            <a:endParaRPr sz="4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p="http://schemas.openxmlformats.org/presentationml/2006/main">
  <p:tag name="TABLE_ENDDRAG_ORIGIN_RECT" val="662*332"/>
  <p:tag name="TABLE_ENDDRAG_RECT" val="21*57*662*332"/>
</p:tagLst>
</file>

<file path=ppt/tags/tag2.xml><?xml version="1.0" encoding="utf-8"?>
<p:tagLst xmlns:p="http://schemas.openxmlformats.org/presentationml/2006/main">
  <p:tag name="KSO_WM_DIAGRAM_VIRTUALLY_FRAME" val="{&quot;height&quot;:237.6,&quot;left&quot;:36,&quot;top&quot;:115.2,&quot;width&quot;:662.4}"/>
</p:tagLst>
</file>

<file path=ppt/tags/tag3.xml><?xml version="1.0" encoding="utf-8"?>
<p:tagLst xmlns:p="http://schemas.openxmlformats.org/presentationml/2006/main">
  <p:tag name="KSO_WM_DIAGRAM_VIRTUALLY_FRAME" val="{&quot;height&quot;:237.6,&quot;left&quot;:36,&quot;top&quot;:115.2,&quot;width&quot;:662.4}"/>
</p:tagLst>
</file>

<file path=ppt/tags/tag4.xml><?xml version="1.0" encoding="utf-8"?>
<p:tagLst xmlns:p="http://schemas.openxmlformats.org/presentationml/2006/main">
  <p:tag name="KSO_WM_DIAGRAM_VIRTUALLY_FRAME" val="{&quot;height&quot;:237.6,&quot;left&quot;:36,&quot;top&quot;:115.2,&quot;width&quot;:662.4}"/>
</p:tagLst>
</file>

<file path=ppt/tags/tag5.xml><?xml version="1.0" encoding="utf-8"?>
<p:tagLst xmlns:p="http://schemas.openxmlformats.org/presentationml/2006/main">
  <p:tag name="KSO_WM_DIAGRAM_VIRTUALLY_FRAME" val="{&quot;height&quot;:237.6,&quot;left&quot;:36,&quot;top&quot;:115.2,&quot;width&quot;:662.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7839</Words>
  <Application>WPS Presentation</Application>
  <PresentationFormat/>
  <Paragraphs>335</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24</vt:i4>
      </vt:variant>
    </vt:vector>
  </HeadingPairs>
  <TitlesOfParts>
    <vt:vector size="34" baseType="lpstr">
      <vt:lpstr>Arial</vt:lpstr>
      <vt:lpstr>SimSun</vt:lpstr>
      <vt:lpstr>Wingdings</vt:lpstr>
      <vt:lpstr>Arial</vt:lpstr>
      <vt:lpstr>Calibri</vt:lpstr>
      <vt:lpstr>Times New Roman</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 Project</dc:creator>
  <cp:lastModifiedBy>M.Jaswanth kumar Madepalli</cp:lastModifiedBy>
  <cp:revision>13</cp:revision>
  <dcterms:created xsi:type="dcterms:W3CDTF">2026-02-07T06:46:00Z</dcterms:created>
  <dcterms:modified xsi:type="dcterms:W3CDTF">2026-02-07T10:35:51Z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AD8BAAF05D3743BA99F40239510D2001_12</vt:lpwstr>
  </property>
  <property fmtid="{D5CDD505-2E9C-101B-9397-08002B2CF9AE}" pid="3" name="KSOProductBuildVer">
    <vt:lpwstr>1033-12.2.0.23196</vt:lpwstr>
  </property>
</Properties>
</file>