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9" r:id="rId4"/>
    <p:sldId id="260" r:id="rId5"/>
    <p:sldId id="261" r:id="rId6"/>
    <p:sldId id="265" r:id="rId7"/>
    <p:sldId id="266" r:id="rId8"/>
    <p:sldId id="267" r:id="rId9"/>
    <p:sldId id="264"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p:scale>
          <a:sx n="75" d="100"/>
          <a:sy n="75" d="100"/>
        </p:scale>
        <p:origin x="648" y="38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244263-B774-4B15-982E-8DC39C437629}" type="datetimeFigureOut">
              <a:rPr lang="en-IN" smtClean="0"/>
              <a:t>13-11-2025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F3655E-E793-4DD7-B2CB-02B2E6BC5068}" type="slidenum">
              <a:rPr lang="en-IN" smtClean="0"/>
              <a:t>‹#›</a:t>
            </a:fld>
            <a:endParaRPr lang="en-IN"/>
          </a:p>
        </p:txBody>
      </p:sp>
    </p:spTree>
    <p:extLst>
      <p:ext uri="{BB962C8B-B14F-4D97-AF65-F5344CB8AC3E}">
        <p14:creationId xmlns:p14="http://schemas.microsoft.com/office/powerpoint/2010/main" val="2430074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8FD4B-52AE-8830-EC76-89A75CAC56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369A15-47AF-A3DB-E287-4636EC81D8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D77BC-BD59-035F-100A-E31582EF4B9E}"/>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5" name="Footer Placeholder 4">
            <a:extLst>
              <a:ext uri="{FF2B5EF4-FFF2-40B4-BE49-F238E27FC236}">
                <a16:creationId xmlns:a16="http://schemas.microsoft.com/office/drawing/2014/main" id="{F7A6E939-B07D-53F8-B40A-4A52E6CF2A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904694-016A-7A86-01CB-8A8CD1572769}"/>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3307039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DDE11-3308-6DA9-24FB-3AD19D34D7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22289D-96F7-37C3-0192-FF45349889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FB9C64-1011-47AC-610E-BDCB028244C1}"/>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5" name="Footer Placeholder 4">
            <a:extLst>
              <a:ext uri="{FF2B5EF4-FFF2-40B4-BE49-F238E27FC236}">
                <a16:creationId xmlns:a16="http://schemas.microsoft.com/office/drawing/2014/main" id="{24B71A6E-5E2A-ACFE-29A2-19065DD89A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61CF8A-6DA4-1EAD-3C29-0FC8256A355D}"/>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3566798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22127-47D5-8753-2931-9224950743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20069F-7783-62D2-C39A-6F65E23F24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64F299-0DA8-1A2A-0126-DB659BF75290}"/>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5" name="Footer Placeholder 4">
            <a:extLst>
              <a:ext uri="{FF2B5EF4-FFF2-40B4-BE49-F238E27FC236}">
                <a16:creationId xmlns:a16="http://schemas.microsoft.com/office/drawing/2014/main" id="{8ADF046F-2C04-391F-2B6C-2F2038D51F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63A667-ED23-6AF3-1567-8A09EE48DBBC}"/>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3005150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7426B-0A1B-DDDA-AA64-E50E13345E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97D9BA-54F3-DC8C-F651-2AC9182E6E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A4AABEC-21DB-BD98-BED5-F7E3E7DB13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65C38E-7126-C20D-13E7-0E7E0E782526}"/>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6" name="Footer Placeholder 5">
            <a:extLst>
              <a:ext uri="{FF2B5EF4-FFF2-40B4-BE49-F238E27FC236}">
                <a16:creationId xmlns:a16="http://schemas.microsoft.com/office/drawing/2014/main" id="{15329F64-6C68-5B2A-C203-D15B13F891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99C5C3-62B0-5F21-C7F2-51C354090E12}"/>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3399315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BE969-EC77-3763-1FEB-074BBD28FA5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397AEF-2C8A-9910-62F2-68938BAE5D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A898F4-8D39-35BA-E07A-AEB28CDEAD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145E11C-5AA3-24E2-D4FF-59B8A884B1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4C6865-497E-3DBB-9895-2007EF6C53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3BB0B6F-F0D9-AB6C-E566-EC700993E670}"/>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8" name="Footer Placeholder 7">
            <a:extLst>
              <a:ext uri="{FF2B5EF4-FFF2-40B4-BE49-F238E27FC236}">
                <a16:creationId xmlns:a16="http://schemas.microsoft.com/office/drawing/2014/main" id="{3DB5A0F3-4A77-E02E-81EE-AC01FADFC44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7830401-DA09-0428-8A86-058198E2EC49}"/>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1018602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CCE61-268C-3B20-2D25-CECD51343F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9396E7-DF9E-37F2-F8FA-C329880C4C6C}"/>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4" name="Footer Placeholder 3">
            <a:extLst>
              <a:ext uri="{FF2B5EF4-FFF2-40B4-BE49-F238E27FC236}">
                <a16:creationId xmlns:a16="http://schemas.microsoft.com/office/drawing/2014/main" id="{5D2DE329-F955-2612-5B40-2AF8BBEC505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B36893A-929A-9C07-8309-C64498F4AD54}"/>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1078184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120ABF-F1A2-BDD2-5DF1-CE0A39049C07}"/>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3" name="Footer Placeholder 2">
            <a:extLst>
              <a:ext uri="{FF2B5EF4-FFF2-40B4-BE49-F238E27FC236}">
                <a16:creationId xmlns:a16="http://schemas.microsoft.com/office/drawing/2014/main" id="{9F2DD0C7-D188-400A-751C-197B017FE31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A28D29B-33CA-2650-8B04-814FB119433C}"/>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1404971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BDEA-41F2-1C1D-50FF-19EEBE9E7D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49050B4-96B6-49C5-14E8-31AACB2EBE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E613D3-FE55-3193-B517-EF7BEC5E5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1955F0-BA5B-1ED2-EBBA-8F05D37AC877}"/>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6" name="Footer Placeholder 5">
            <a:extLst>
              <a:ext uri="{FF2B5EF4-FFF2-40B4-BE49-F238E27FC236}">
                <a16:creationId xmlns:a16="http://schemas.microsoft.com/office/drawing/2014/main" id="{AB461A3A-54C0-6272-6702-7F688BC79F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2F8B5D-66A9-CA18-621C-B151132EC1C5}"/>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4036670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A7A1A-16ED-C10B-C8D0-F279DD34C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42D3AE-CA71-D09E-61CA-8E59A6F8D6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B1AE61-7BDC-03C8-C32F-08A862334F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1BD9C2-B2CC-E077-3CF2-9BEB823A19A1}"/>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6" name="Footer Placeholder 5">
            <a:extLst>
              <a:ext uri="{FF2B5EF4-FFF2-40B4-BE49-F238E27FC236}">
                <a16:creationId xmlns:a16="http://schemas.microsoft.com/office/drawing/2014/main" id="{64D437C7-974F-3228-65B9-5BE1F0A338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526447-C0B0-850B-B94E-C07AE2278FD5}"/>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629338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76965-A203-5342-DA14-7E628F0606A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E754BC-D9D6-B5E1-ED7D-6A12459CB4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90601F-D8AB-58F8-CE4B-ABB91B3BC075}"/>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5" name="Footer Placeholder 4">
            <a:extLst>
              <a:ext uri="{FF2B5EF4-FFF2-40B4-BE49-F238E27FC236}">
                <a16:creationId xmlns:a16="http://schemas.microsoft.com/office/drawing/2014/main" id="{2CC2912B-AF10-6E5D-282B-2CCBADBFB0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E8A1F3-C02A-42A9-ED1C-8786B291C480}"/>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4154211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FB3D5E-396C-8298-0967-3D649DDAB2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99E7E4-9DC4-22B6-75CC-9251B5718D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A72886-ECA3-AEE5-71C5-AD49F4F2D190}"/>
              </a:ext>
            </a:extLst>
          </p:cNvPr>
          <p:cNvSpPr>
            <a:spLocks noGrp="1"/>
          </p:cNvSpPr>
          <p:nvPr>
            <p:ph type="dt" sz="half" idx="10"/>
          </p:nvPr>
        </p:nvSpPr>
        <p:spPr/>
        <p:txBody>
          <a:bodyPr/>
          <a:lstStyle/>
          <a:p>
            <a:fld id="{BB25E4F1-F063-4C43-BC4D-031EBF073BFB}" type="datetimeFigureOut">
              <a:rPr lang="en-IN" smtClean="0"/>
              <a:t>13-11-2025</a:t>
            </a:fld>
            <a:endParaRPr lang="en-IN"/>
          </a:p>
        </p:txBody>
      </p:sp>
      <p:sp>
        <p:nvSpPr>
          <p:cNvPr id="5" name="Footer Placeholder 4">
            <a:extLst>
              <a:ext uri="{FF2B5EF4-FFF2-40B4-BE49-F238E27FC236}">
                <a16:creationId xmlns:a16="http://schemas.microsoft.com/office/drawing/2014/main" id="{41EE4427-42EE-62C6-0B08-9521471A54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7B75D5-D708-D43D-D00C-FE8FA2F97523}"/>
              </a:ext>
            </a:extLst>
          </p:cNvPr>
          <p:cNvSpPr>
            <a:spLocks noGrp="1"/>
          </p:cNvSpPr>
          <p:nvPr>
            <p:ph type="sldNum" sz="quarter" idx="12"/>
          </p:nvPr>
        </p:nvSpPr>
        <p:spPr/>
        <p:txBody>
          <a:bodyPr/>
          <a:lstStyle/>
          <a:p>
            <a:fld id="{072A010E-328E-424A-A090-AA96A0B1AFAC}" type="slidenum">
              <a:rPr lang="en-IN" smtClean="0"/>
              <a:t>‹#›</a:t>
            </a:fld>
            <a:endParaRPr lang="en-IN"/>
          </a:p>
        </p:txBody>
      </p:sp>
    </p:spTree>
    <p:extLst>
      <p:ext uri="{BB962C8B-B14F-4D97-AF65-F5344CB8AC3E}">
        <p14:creationId xmlns:p14="http://schemas.microsoft.com/office/powerpoint/2010/main" val="420968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22C984-835A-1AE1-7BFF-DB669C9401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011865C-1A23-F2A7-8A03-190201B7F7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195DBF-F827-3F71-2D6B-DE95B5770E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25E4F1-F063-4C43-BC4D-031EBF073BFB}" type="datetimeFigureOut">
              <a:rPr lang="en-IN" smtClean="0"/>
              <a:t>13-11-2025</a:t>
            </a:fld>
            <a:endParaRPr lang="en-IN"/>
          </a:p>
        </p:txBody>
      </p:sp>
      <p:sp>
        <p:nvSpPr>
          <p:cNvPr id="5" name="Footer Placeholder 4">
            <a:extLst>
              <a:ext uri="{FF2B5EF4-FFF2-40B4-BE49-F238E27FC236}">
                <a16:creationId xmlns:a16="http://schemas.microsoft.com/office/drawing/2014/main" id="{DF04D4F0-9D72-30BB-A175-29889048FC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CCA9704-E38D-1213-3F80-C2147CCE1B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2A010E-328E-424A-A090-AA96A0B1AFAC}" type="slidenum">
              <a:rPr lang="en-IN" smtClean="0"/>
              <a:t>‹#›</a:t>
            </a:fld>
            <a:endParaRPr lang="en-IN"/>
          </a:p>
        </p:txBody>
      </p:sp>
    </p:spTree>
    <p:extLst>
      <p:ext uri="{BB962C8B-B14F-4D97-AF65-F5344CB8AC3E}">
        <p14:creationId xmlns:p14="http://schemas.microsoft.com/office/powerpoint/2010/main" val="2692138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5FCC48C-3D15-1048-61AF-20D66015B4C0}"/>
              </a:ext>
            </a:extLst>
          </p:cNvPr>
          <p:cNvSpPr>
            <a:spLocks noGrp="1"/>
          </p:cNvSpPr>
          <p:nvPr>
            <p:ph type="subTitle" idx="1"/>
          </p:nvPr>
        </p:nvSpPr>
        <p:spPr>
          <a:xfrm>
            <a:off x="1205023" y="1512741"/>
            <a:ext cx="9144000" cy="661618"/>
          </a:xfrm>
        </p:spPr>
        <p:txBody>
          <a:bodyPr/>
          <a:lstStyle/>
          <a:p>
            <a:r>
              <a:rPr lang="en-IN" b="1" dirty="0">
                <a:latin typeface="Arial Black" panose="020B0A04020102020204" pitchFamily="34" charset="0"/>
              </a:rPr>
              <a:t>Department Of CSE-Artificial Intelligence </a:t>
            </a:r>
            <a:endParaRPr lang="en-IN" sz="1800" b="1" dirty="0">
              <a:latin typeface="Arial Black" panose="020B0A04020102020204" pitchFamily="34" charset="0"/>
            </a:endParaRPr>
          </a:p>
          <a:p>
            <a:endParaRPr lang="en-IN" dirty="0"/>
          </a:p>
        </p:txBody>
      </p:sp>
      <p:pic>
        <p:nvPicPr>
          <p:cNvPr id="4" name="Picture 3">
            <a:extLst>
              <a:ext uri="{FF2B5EF4-FFF2-40B4-BE49-F238E27FC236}">
                <a16:creationId xmlns:a16="http://schemas.microsoft.com/office/drawing/2014/main" id="{80D46A58-0AA6-23F0-A1CB-DB3061940CC3}"/>
              </a:ext>
            </a:extLst>
          </p:cNvPr>
          <p:cNvPicPr>
            <a:picLocks noChangeAspect="1"/>
          </p:cNvPicPr>
          <p:nvPr/>
        </p:nvPicPr>
        <p:blipFill>
          <a:blip r:embed="rId2"/>
          <a:stretch>
            <a:fillRect/>
          </a:stretch>
        </p:blipFill>
        <p:spPr>
          <a:xfrm>
            <a:off x="0" y="0"/>
            <a:ext cx="12192000" cy="1289477"/>
          </a:xfrm>
          <a:prstGeom prst="rect">
            <a:avLst/>
          </a:prstGeom>
        </p:spPr>
      </p:pic>
      <p:sp>
        <p:nvSpPr>
          <p:cNvPr id="8" name="TextBox 7">
            <a:extLst>
              <a:ext uri="{FF2B5EF4-FFF2-40B4-BE49-F238E27FC236}">
                <a16:creationId xmlns:a16="http://schemas.microsoft.com/office/drawing/2014/main" id="{9E78383D-B594-C357-3432-EEA2FAEADB6A}"/>
              </a:ext>
            </a:extLst>
          </p:cNvPr>
          <p:cNvSpPr txBox="1"/>
          <p:nvPr/>
        </p:nvSpPr>
        <p:spPr>
          <a:xfrm>
            <a:off x="1325082" y="2537269"/>
            <a:ext cx="9573289" cy="923330"/>
          </a:xfrm>
          <a:prstGeom prst="rect">
            <a:avLst/>
          </a:prstGeom>
          <a:noFill/>
        </p:spPr>
        <p:txBody>
          <a:bodyPr wrap="square">
            <a:spAutoFit/>
          </a:bodyPr>
          <a:lstStyle/>
          <a:p>
            <a:r>
              <a:rPr lang="en-IN" sz="1800" b="1" dirty="0">
                <a:latin typeface="Arial Black" panose="020B0A04020102020204" pitchFamily="34" charset="0"/>
              </a:rPr>
              <a:t>Topic</a:t>
            </a:r>
            <a:r>
              <a:rPr lang="en-IN" sz="1800" b="1" dirty="0"/>
              <a:t>: </a:t>
            </a:r>
            <a:r>
              <a:rPr lang="en-US" dirty="0">
                <a:latin typeface="Arial" panose="020B0604020202020204" pitchFamily="34" charset="0"/>
                <a:cs typeface="Arial" panose="020B0604020202020204" pitchFamily="34" charset="0"/>
              </a:rPr>
              <a:t>MNIST Digit Classification: Deep Learning Approach for Efficient Handwritten Digit Recognition</a:t>
            </a:r>
          </a:p>
          <a:p>
            <a:endParaRPr lang="en-IN" dirty="0"/>
          </a:p>
        </p:txBody>
      </p:sp>
      <p:sp>
        <p:nvSpPr>
          <p:cNvPr id="10" name="TextBox 9">
            <a:extLst>
              <a:ext uri="{FF2B5EF4-FFF2-40B4-BE49-F238E27FC236}">
                <a16:creationId xmlns:a16="http://schemas.microsoft.com/office/drawing/2014/main" id="{C243D1BB-95BD-D380-6E25-5E32BA84CFDD}"/>
              </a:ext>
            </a:extLst>
          </p:cNvPr>
          <p:cNvSpPr txBox="1"/>
          <p:nvPr/>
        </p:nvSpPr>
        <p:spPr>
          <a:xfrm>
            <a:off x="7821575" y="5279916"/>
            <a:ext cx="4278276" cy="923330"/>
          </a:xfrm>
          <a:prstGeom prst="rect">
            <a:avLst/>
          </a:prstGeom>
          <a:noFill/>
        </p:spPr>
        <p:txBody>
          <a:bodyPr wrap="square">
            <a:spAutoFit/>
          </a:bodyPr>
          <a:lstStyle/>
          <a:p>
            <a:r>
              <a:rPr lang="en-IN" b="1" dirty="0"/>
              <a:t>Submitted by: </a:t>
            </a:r>
          </a:p>
          <a:p>
            <a:r>
              <a:rPr lang="en-IN" dirty="0">
                <a:latin typeface="Constantia" panose="02030602050306030303" pitchFamily="18" charset="0"/>
              </a:rPr>
              <a:t>THARUN RAJ BOMMIDI</a:t>
            </a:r>
          </a:p>
          <a:p>
            <a:r>
              <a:rPr lang="en-IN" dirty="0">
                <a:latin typeface="Arial" panose="020B0604020202020204" pitchFamily="34" charset="0"/>
                <a:cs typeface="Arial" panose="020B0604020202020204" pitchFamily="34" charset="0"/>
              </a:rPr>
              <a:t>23KT5A4303</a:t>
            </a:r>
          </a:p>
        </p:txBody>
      </p:sp>
    </p:spTree>
    <p:extLst>
      <p:ext uri="{BB962C8B-B14F-4D97-AF65-F5344CB8AC3E}">
        <p14:creationId xmlns:p14="http://schemas.microsoft.com/office/powerpoint/2010/main" val="1222081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686919F-0762-0BF4-5744-F30ADD33ADD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0E9D959-C803-87B7-5A3B-B580BB709380}"/>
              </a:ext>
            </a:extLst>
          </p:cNvPr>
          <p:cNvSpPr txBox="1"/>
          <p:nvPr/>
        </p:nvSpPr>
        <p:spPr>
          <a:xfrm>
            <a:off x="1323753" y="1206796"/>
            <a:ext cx="9271591" cy="4370427"/>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	Handwritten digit recognition is a key problem in computer vision and pattern recognition, widely used in applications such as document processing, postal automation, and bank check verification. This study presents an efficient deep learning approach for handwritten digit classification using the </a:t>
            </a:r>
            <a:r>
              <a:rPr lang="en-US" sz="2000" b="1" dirty="0">
                <a:latin typeface="Arial" panose="020B0604020202020204" pitchFamily="34" charset="0"/>
                <a:cs typeface="Arial" panose="020B0604020202020204" pitchFamily="34" charset="0"/>
              </a:rPr>
              <a:t>MNIST dataset</a:t>
            </a:r>
            <a:r>
              <a:rPr lang="en-US" sz="2000" dirty="0">
                <a:latin typeface="Arial" panose="020B0604020202020204" pitchFamily="34" charset="0"/>
                <a:cs typeface="Arial" panose="020B0604020202020204" pitchFamily="34" charset="0"/>
              </a:rPr>
              <a:t>. The proposed model employs a </a:t>
            </a:r>
            <a:r>
              <a:rPr lang="en-US" sz="2000" b="1" dirty="0">
                <a:latin typeface="Arial" panose="020B0604020202020204" pitchFamily="34" charset="0"/>
                <a:cs typeface="Arial" panose="020B0604020202020204" pitchFamily="34" charset="0"/>
              </a:rPr>
              <a:t>Convolutional Neural Network (CNN)</a:t>
            </a:r>
            <a:r>
              <a:rPr lang="en-US" sz="2000" dirty="0">
                <a:latin typeface="Arial" panose="020B0604020202020204" pitchFamily="34" charset="0"/>
                <a:cs typeface="Arial" panose="020B0604020202020204" pitchFamily="34" charset="0"/>
              </a:rPr>
              <a:t> to automatically extract spatial and structural features from digit images, enabling accurate and robust </a:t>
            </a:r>
            <a:r>
              <a:rPr lang="en-US" sz="2000" dirty="0" err="1">
                <a:latin typeface="Arial" panose="020B0604020202020204" pitchFamily="34" charset="0"/>
                <a:cs typeface="Arial" panose="020B0604020202020204" pitchFamily="34" charset="0"/>
              </a:rPr>
              <a:t>recognition.Techniques</a:t>
            </a:r>
            <a:r>
              <a:rPr lang="en-US" sz="2000" dirty="0">
                <a:latin typeface="Arial" panose="020B0604020202020204" pitchFamily="34" charset="0"/>
                <a:cs typeface="Arial" panose="020B0604020202020204" pitchFamily="34" charset="0"/>
              </a:rPr>
              <a:t> such as </a:t>
            </a:r>
            <a:r>
              <a:rPr lang="en-US" sz="2000" b="1" dirty="0">
                <a:latin typeface="Arial" panose="020B0604020202020204" pitchFamily="34" charset="0"/>
                <a:cs typeface="Arial" panose="020B0604020202020204" pitchFamily="34" charset="0"/>
              </a:rPr>
              <a:t>data augmentation</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dropout regularization</a:t>
            </a:r>
            <a:r>
              <a:rPr lang="en-US" sz="2000" dirty="0">
                <a:latin typeface="Arial" panose="020B0604020202020204" pitchFamily="34" charset="0"/>
                <a:cs typeface="Arial" panose="020B0604020202020204" pitchFamily="34" charset="0"/>
              </a:rPr>
              <a:t> are applied to improve generalization and reduce overfitting. Experimental results demonstrate that the model achieves high accuracy and fast convergence compared to traditional machine learning methods. The findings highlight the effectiveness of deep learning, particularly CNN-based architectures, in achieving reliable and efficient handwritten digit recognition</a:t>
            </a:r>
            <a:endParaRPr lang="en-IN" sz="2000" dirty="0">
              <a:latin typeface="Arial" panose="020B0604020202020204" pitchFamily="34" charset="0"/>
              <a:cs typeface="Arial" panose="020B0604020202020204" pitchFamily="34" charset="0"/>
            </a:endParaRPr>
          </a:p>
          <a:p>
            <a:endParaRPr lang="en-IN" dirty="0"/>
          </a:p>
        </p:txBody>
      </p:sp>
      <p:sp>
        <p:nvSpPr>
          <p:cNvPr id="7" name="TextBox 6">
            <a:extLst>
              <a:ext uri="{FF2B5EF4-FFF2-40B4-BE49-F238E27FC236}">
                <a16:creationId xmlns:a16="http://schemas.microsoft.com/office/drawing/2014/main" id="{CCA83C63-B733-3048-8487-DB0E41ACA64A}"/>
              </a:ext>
            </a:extLst>
          </p:cNvPr>
          <p:cNvSpPr txBox="1"/>
          <p:nvPr/>
        </p:nvSpPr>
        <p:spPr>
          <a:xfrm>
            <a:off x="419985" y="327100"/>
            <a:ext cx="3019647" cy="400110"/>
          </a:xfrm>
          <a:prstGeom prst="rect">
            <a:avLst/>
          </a:prstGeom>
          <a:noFill/>
        </p:spPr>
        <p:txBody>
          <a:bodyPr wrap="square" rtlCol="0">
            <a:spAutoFit/>
          </a:bodyPr>
          <a:lstStyle/>
          <a:p>
            <a:r>
              <a:rPr lang="en-IN" sz="2000" dirty="0">
                <a:latin typeface="Arial Black" panose="020B0A04020102020204" pitchFamily="34" charset="0"/>
              </a:rPr>
              <a:t>Abstract :</a:t>
            </a:r>
          </a:p>
        </p:txBody>
      </p:sp>
    </p:spTree>
    <p:extLst>
      <p:ext uri="{BB962C8B-B14F-4D97-AF65-F5344CB8AC3E}">
        <p14:creationId xmlns:p14="http://schemas.microsoft.com/office/powerpoint/2010/main" val="63707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18C563A-12FD-24A5-59D8-EB5D4D57A5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EC3E9F-C5E8-1A8E-E410-A40B516B3692}"/>
              </a:ext>
            </a:extLst>
          </p:cNvPr>
          <p:cNvSpPr txBox="1"/>
          <p:nvPr/>
        </p:nvSpPr>
        <p:spPr>
          <a:xfrm>
            <a:off x="962246" y="547576"/>
            <a:ext cx="3545958" cy="400110"/>
          </a:xfrm>
          <a:prstGeom prst="rect">
            <a:avLst/>
          </a:prstGeom>
          <a:noFill/>
        </p:spPr>
        <p:txBody>
          <a:bodyPr wrap="square" rtlCol="0">
            <a:spAutoFit/>
          </a:bodyPr>
          <a:lstStyle/>
          <a:p>
            <a:r>
              <a:rPr lang="en-IN" sz="2000" dirty="0">
                <a:latin typeface="Arial Black" panose="020B0A04020102020204" pitchFamily="34" charset="0"/>
              </a:rPr>
              <a:t>Code of </a:t>
            </a:r>
            <a:r>
              <a:rPr lang="en-IN" sz="2000" dirty="0" err="1">
                <a:latin typeface="Arial Black" panose="020B0A04020102020204" pitchFamily="34" charset="0"/>
              </a:rPr>
              <a:t>Excecution</a:t>
            </a:r>
            <a:r>
              <a:rPr lang="en-IN" sz="2000" dirty="0">
                <a:latin typeface="Arial Black" panose="020B0A04020102020204" pitchFamily="34" charset="0"/>
              </a:rPr>
              <a:t> :</a:t>
            </a:r>
          </a:p>
        </p:txBody>
      </p:sp>
      <p:sp>
        <p:nvSpPr>
          <p:cNvPr id="3" name="TextBox 2">
            <a:extLst>
              <a:ext uri="{FF2B5EF4-FFF2-40B4-BE49-F238E27FC236}">
                <a16:creationId xmlns:a16="http://schemas.microsoft.com/office/drawing/2014/main" id="{1F56E2FE-6C3B-1CA1-AA1A-F566D6372D56}"/>
              </a:ext>
            </a:extLst>
          </p:cNvPr>
          <p:cNvSpPr txBox="1"/>
          <p:nvPr/>
        </p:nvSpPr>
        <p:spPr>
          <a:xfrm>
            <a:off x="1019396" y="1239284"/>
            <a:ext cx="10297633" cy="5632311"/>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MNIST Digit Classification: Deep Learning Approach for Efficient Handwritten Digit Recognition</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Classifies handwritten digits (0-9) using Deep Learning, with comparisons to</a:t>
            </a:r>
          </a:p>
          <a:p>
            <a:r>
              <a:rPr lang="en-IN" dirty="0">
                <a:latin typeface="Arial" panose="020B0604020202020204" pitchFamily="34" charset="0"/>
                <a:cs typeface="Arial" panose="020B0604020202020204" pitchFamily="34" charset="0"/>
              </a:rPr>
              <a:t>Logistic Regression, Random Forest, and </a:t>
            </a:r>
            <a:r>
              <a:rPr lang="en-IN" dirty="0" err="1">
                <a:latin typeface="Arial" panose="020B0604020202020204" pitchFamily="34" charset="0"/>
                <a:cs typeface="Arial" panose="020B0604020202020204" pitchFamily="34" charset="0"/>
              </a:rPr>
              <a:t>XGBoost</a:t>
            </a:r>
            <a:r>
              <a:rPr lang="en-IN" dirty="0">
                <a:latin typeface="Arial" panose="020B0604020202020204" pitchFamily="34" charset="0"/>
                <a:cs typeface="Arial" panose="020B0604020202020204" pitchFamily="34" charset="0"/>
              </a:rPr>
              <a:t> models.</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import </a:t>
            </a:r>
            <a:r>
              <a:rPr lang="en-IN" dirty="0" err="1">
                <a:latin typeface="Arial" panose="020B0604020202020204" pitchFamily="34" charset="0"/>
                <a:cs typeface="Arial" panose="020B0604020202020204" pitchFamily="34" charset="0"/>
              </a:rPr>
              <a:t>numpy</a:t>
            </a:r>
            <a:r>
              <a:rPr lang="en-IN" dirty="0">
                <a:latin typeface="Arial" panose="020B0604020202020204" pitchFamily="34" charset="0"/>
                <a:cs typeface="Arial" panose="020B0604020202020204" pitchFamily="34" charset="0"/>
              </a:rPr>
              <a:t> as np</a:t>
            </a:r>
          </a:p>
          <a:p>
            <a:r>
              <a:rPr lang="en-IN" dirty="0">
                <a:latin typeface="Arial" panose="020B0604020202020204" pitchFamily="34" charset="0"/>
                <a:cs typeface="Arial" panose="020B0604020202020204" pitchFamily="34" charset="0"/>
              </a:rPr>
              <a:t>import pandas as pd</a:t>
            </a:r>
          </a:p>
          <a:p>
            <a:r>
              <a:rPr lang="en-IN" dirty="0">
                <a:latin typeface="Arial" panose="020B0604020202020204" pitchFamily="34" charset="0"/>
                <a:cs typeface="Arial" panose="020B0604020202020204" pitchFamily="34" charset="0"/>
              </a:rPr>
              <a:t>import </a:t>
            </a:r>
            <a:r>
              <a:rPr lang="en-IN" dirty="0" err="1">
                <a:latin typeface="Arial" panose="020B0604020202020204" pitchFamily="34" charset="0"/>
                <a:cs typeface="Arial" panose="020B0604020202020204" pitchFamily="34" charset="0"/>
              </a:rPr>
              <a:t>matplotlib.pyplot</a:t>
            </a:r>
            <a:r>
              <a:rPr lang="en-IN" dirty="0">
                <a:latin typeface="Arial" panose="020B0604020202020204" pitchFamily="34" charset="0"/>
                <a:cs typeface="Arial" panose="020B0604020202020204" pitchFamily="34" charset="0"/>
              </a:rPr>
              <a:t> as </a:t>
            </a:r>
            <a:r>
              <a:rPr lang="en-IN" dirty="0" err="1">
                <a:latin typeface="Arial" panose="020B0604020202020204" pitchFamily="34" charset="0"/>
                <a:cs typeface="Arial" panose="020B0604020202020204" pitchFamily="34" charset="0"/>
              </a:rPr>
              <a:t>plt</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import warnings</a:t>
            </a:r>
          </a:p>
          <a:p>
            <a:r>
              <a:rPr lang="en-IN" dirty="0">
                <a:latin typeface="Arial" panose="020B0604020202020204" pitchFamily="34" charset="0"/>
                <a:cs typeface="Arial" panose="020B0604020202020204" pitchFamily="34" charset="0"/>
              </a:rPr>
              <a:t>import </a:t>
            </a:r>
            <a:r>
              <a:rPr lang="en-IN" dirty="0" err="1">
                <a:latin typeface="Arial" panose="020B0604020202020204" pitchFamily="34" charset="0"/>
                <a:cs typeface="Arial" panose="020B0604020202020204" pitchFamily="34" charset="0"/>
              </a:rPr>
              <a:t>os</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from </a:t>
            </a:r>
            <a:r>
              <a:rPr lang="en-IN" dirty="0" err="1">
                <a:latin typeface="Arial" panose="020B0604020202020204" pitchFamily="34" charset="0"/>
                <a:cs typeface="Arial" panose="020B0604020202020204" pitchFamily="34" charset="0"/>
              </a:rPr>
              <a:t>sklearn.model_selection</a:t>
            </a:r>
            <a:r>
              <a:rPr lang="en-IN" dirty="0">
                <a:latin typeface="Arial" panose="020B0604020202020204" pitchFamily="34" charset="0"/>
                <a:cs typeface="Arial" panose="020B0604020202020204" pitchFamily="34" charset="0"/>
              </a:rPr>
              <a:t> import </a:t>
            </a:r>
            <a:r>
              <a:rPr lang="en-IN" dirty="0" err="1">
                <a:latin typeface="Arial" panose="020B0604020202020204" pitchFamily="34" charset="0"/>
                <a:cs typeface="Arial" panose="020B0604020202020204" pitchFamily="34" charset="0"/>
              </a:rPr>
              <a:t>train_test_split</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from </a:t>
            </a:r>
            <a:r>
              <a:rPr lang="en-IN" dirty="0" err="1">
                <a:latin typeface="Arial" panose="020B0604020202020204" pitchFamily="34" charset="0"/>
                <a:cs typeface="Arial" panose="020B0604020202020204" pitchFamily="34" charset="0"/>
              </a:rPr>
              <a:t>sklearn.preprocessing</a:t>
            </a:r>
            <a:r>
              <a:rPr lang="en-IN" dirty="0">
                <a:latin typeface="Arial" panose="020B0604020202020204" pitchFamily="34" charset="0"/>
                <a:cs typeface="Arial" panose="020B0604020202020204" pitchFamily="34" charset="0"/>
              </a:rPr>
              <a:t> import </a:t>
            </a:r>
            <a:r>
              <a:rPr lang="en-IN" dirty="0" err="1">
                <a:latin typeface="Arial" panose="020B0604020202020204" pitchFamily="34" charset="0"/>
                <a:cs typeface="Arial" panose="020B0604020202020204" pitchFamily="34" charset="0"/>
              </a:rPr>
              <a:t>StandardScaler</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from </a:t>
            </a:r>
            <a:r>
              <a:rPr lang="en-IN" dirty="0" err="1">
                <a:latin typeface="Arial" panose="020B0604020202020204" pitchFamily="34" charset="0"/>
                <a:cs typeface="Arial" panose="020B0604020202020204" pitchFamily="34" charset="0"/>
              </a:rPr>
              <a:t>sklearn.metrics</a:t>
            </a:r>
            <a:r>
              <a:rPr lang="en-IN" dirty="0">
                <a:latin typeface="Arial" panose="020B0604020202020204" pitchFamily="34" charset="0"/>
                <a:cs typeface="Arial" panose="020B0604020202020204" pitchFamily="34" charset="0"/>
              </a:rPr>
              <a:t> import </a:t>
            </a:r>
            <a:r>
              <a:rPr lang="en-IN" dirty="0" err="1">
                <a:latin typeface="Arial" panose="020B0604020202020204" pitchFamily="34" charset="0"/>
                <a:cs typeface="Arial" panose="020B0604020202020204" pitchFamily="34" charset="0"/>
              </a:rPr>
              <a:t>accuracy_score</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precision_score</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recall_score</a:t>
            </a:r>
            <a:r>
              <a:rPr lang="en-IN" dirty="0">
                <a:latin typeface="Arial" panose="020B0604020202020204" pitchFamily="34" charset="0"/>
                <a:cs typeface="Arial" panose="020B0604020202020204" pitchFamily="34" charset="0"/>
              </a:rPr>
              <a:t>, f1_score, </a:t>
            </a:r>
            <a:r>
              <a:rPr lang="en-IN" dirty="0" err="1">
                <a:latin typeface="Arial" panose="020B0604020202020204" pitchFamily="34" charset="0"/>
                <a:cs typeface="Arial" panose="020B0604020202020204" pitchFamily="34" charset="0"/>
              </a:rPr>
              <a:t>confusion_matrix</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from </a:t>
            </a:r>
            <a:r>
              <a:rPr lang="en-IN" dirty="0" err="1">
                <a:latin typeface="Arial" panose="020B0604020202020204" pitchFamily="34" charset="0"/>
                <a:cs typeface="Arial" panose="020B0604020202020204" pitchFamily="34" charset="0"/>
              </a:rPr>
              <a:t>sklearn.linear_model</a:t>
            </a:r>
            <a:r>
              <a:rPr lang="en-IN" dirty="0">
                <a:latin typeface="Arial" panose="020B0604020202020204" pitchFamily="34" charset="0"/>
                <a:cs typeface="Arial" panose="020B0604020202020204" pitchFamily="34" charset="0"/>
              </a:rPr>
              <a:t> import </a:t>
            </a:r>
            <a:r>
              <a:rPr lang="en-IN" dirty="0" err="1">
                <a:latin typeface="Arial" panose="020B0604020202020204" pitchFamily="34" charset="0"/>
                <a:cs typeface="Arial" panose="020B0604020202020204" pitchFamily="34" charset="0"/>
              </a:rPr>
              <a:t>LogisticRegression</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from </a:t>
            </a:r>
            <a:r>
              <a:rPr lang="en-IN" dirty="0" err="1">
                <a:latin typeface="Arial" panose="020B0604020202020204" pitchFamily="34" charset="0"/>
                <a:cs typeface="Arial" panose="020B0604020202020204" pitchFamily="34" charset="0"/>
              </a:rPr>
              <a:t>sklearn.ensemble</a:t>
            </a:r>
            <a:r>
              <a:rPr lang="en-IN" dirty="0">
                <a:latin typeface="Arial" panose="020B0604020202020204" pitchFamily="34" charset="0"/>
                <a:cs typeface="Arial" panose="020B0604020202020204" pitchFamily="34" charset="0"/>
              </a:rPr>
              <a:t> import </a:t>
            </a:r>
            <a:r>
              <a:rPr lang="en-IN" dirty="0" err="1">
                <a:latin typeface="Arial" panose="020B0604020202020204" pitchFamily="34" charset="0"/>
                <a:cs typeface="Arial" panose="020B0604020202020204" pitchFamily="34" charset="0"/>
              </a:rPr>
              <a:t>RandomForestClassifier</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from </a:t>
            </a:r>
            <a:r>
              <a:rPr lang="en-IN" dirty="0" err="1">
                <a:latin typeface="Arial" panose="020B0604020202020204" pitchFamily="34" charset="0"/>
                <a:cs typeface="Arial" panose="020B0604020202020204" pitchFamily="34" charset="0"/>
              </a:rPr>
              <a:t>sklearn.pipeline</a:t>
            </a:r>
            <a:r>
              <a:rPr lang="en-IN" dirty="0">
                <a:latin typeface="Arial" panose="020B0604020202020204" pitchFamily="34" charset="0"/>
                <a:cs typeface="Arial" panose="020B0604020202020204" pitchFamily="34" charset="0"/>
              </a:rPr>
              <a:t> import Pipeline</a:t>
            </a:r>
          </a:p>
        </p:txBody>
      </p:sp>
    </p:spTree>
    <p:extLst>
      <p:ext uri="{BB962C8B-B14F-4D97-AF65-F5344CB8AC3E}">
        <p14:creationId xmlns:p14="http://schemas.microsoft.com/office/powerpoint/2010/main" val="1324804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C1A4C3C-F9CB-B153-1E87-67773F465CB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EBA3E3-E65D-33FA-601F-E535EDC9E659}"/>
              </a:ext>
            </a:extLst>
          </p:cNvPr>
          <p:cNvSpPr txBox="1"/>
          <p:nvPr/>
        </p:nvSpPr>
        <p:spPr>
          <a:xfrm>
            <a:off x="774700" y="685800"/>
            <a:ext cx="10471150" cy="6186309"/>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warnings.filterwarnings</a:t>
            </a:r>
            <a:r>
              <a:rPr lang="en-IN" dirty="0">
                <a:latin typeface="Arial" panose="020B0604020202020204" pitchFamily="34" charset="0"/>
                <a:cs typeface="Arial" panose="020B0604020202020204" pitchFamily="34" charset="0"/>
              </a:rPr>
              <a:t>('ignore')</a:t>
            </a:r>
          </a:p>
          <a:p>
            <a:r>
              <a:rPr lang="en-IN" dirty="0" err="1">
                <a:latin typeface="Arial" panose="020B0604020202020204" pitchFamily="34" charset="0"/>
                <a:cs typeface="Arial" panose="020B0604020202020204" pitchFamily="34" charset="0"/>
              </a:rPr>
              <a:t>plt.ion</a:t>
            </a:r>
            <a:r>
              <a:rPr lang="en-IN" dirty="0">
                <a:latin typeface="Arial" panose="020B0604020202020204" pitchFamily="34" charset="0"/>
                <a:cs typeface="Arial" panose="020B0604020202020204" pitchFamily="34" charset="0"/>
              </a:rPr>
              <a:t>()</a:t>
            </a:r>
          </a:p>
          <a:p>
            <a:r>
              <a:rPr lang="en-IN" dirty="0" err="1">
                <a:latin typeface="Arial" panose="020B0604020202020204" pitchFamily="34" charset="0"/>
                <a:cs typeface="Arial" panose="020B0604020202020204" pitchFamily="34" charset="0"/>
              </a:rPr>
              <a:t>os.makedirs</a:t>
            </a:r>
            <a:r>
              <a:rPr lang="en-IN" dirty="0">
                <a:latin typeface="Arial" panose="020B0604020202020204" pitchFamily="34" charset="0"/>
                <a:cs typeface="Arial" panose="020B0604020202020204" pitchFamily="34" charset="0"/>
              </a:rPr>
              <a:t>('outputs', </a:t>
            </a:r>
            <a:r>
              <a:rPr lang="en-IN" dirty="0" err="1">
                <a:latin typeface="Arial" panose="020B0604020202020204" pitchFamily="34" charset="0"/>
                <a:cs typeface="Arial" panose="020B0604020202020204" pitchFamily="34" charset="0"/>
              </a:rPr>
              <a:t>exist_ok</a:t>
            </a:r>
            <a:r>
              <a:rPr lang="en-IN" dirty="0">
                <a:latin typeface="Arial" panose="020B0604020202020204" pitchFamily="34" charset="0"/>
                <a:cs typeface="Arial" panose="020B0604020202020204" pitchFamily="34" charset="0"/>
              </a:rPr>
              <a:t>=True)</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Optional libraries</a:t>
            </a:r>
          </a:p>
          <a:p>
            <a:r>
              <a:rPr lang="en-IN" dirty="0">
                <a:latin typeface="Arial" panose="020B0604020202020204" pitchFamily="34" charset="0"/>
                <a:cs typeface="Arial" panose="020B0604020202020204" pitchFamily="34" charset="0"/>
              </a:rPr>
              <a:t>try:</a:t>
            </a:r>
          </a:p>
          <a:p>
            <a:r>
              <a:rPr lang="en-IN" dirty="0">
                <a:latin typeface="Arial" panose="020B0604020202020204" pitchFamily="34" charset="0"/>
                <a:cs typeface="Arial" panose="020B0604020202020204" pitchFamily="34" charset="0"/>
              </a:rPr>
              <a:t>    from </a:t>
            </a:r>
            <a:r>
              <a:rPr lang="en-IN" dirty="0" err="1">
                <a:latin typeface="Arial" panose="020B0604020202020204" pitchFamily="34" charset="0"/>
                <a:cs typeface="Arial" panose="020B0604020202020204" pitchFamily="34" charset="0"/>
              </a:rPr>
              <a:t>xgboost</a:t>
            </a:r>
            <a:r>
              <a:rPr lang="en-IN" dirty="0">
                <a:latin typeface="Arial" panose="020B0604020202020204" pitchFamily="34" charset="0"/>
                <a:cs typeface="Arial" panose="020B0604020202020204" pitchFamily="34" charset="0"/>
              </a:rPr>
              <a:t> import </a:t>
            </a:r>
            <a:r>
              <a:rPr lang="en-IN" dirty="0" err="1">
                <a:latin typeface="Arial" panose="020B0604020202020204" pitchFamily="34" charset="0"/>
                <a:cs typeface="Arial" panose="020B0604020202020204" pitchFamily="34" charset="0"/>
              </a:rPr>
              <a:t>XGBClassifier</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has_xgb</a:t>
            </a:r>
            <a:r>
              <a:rPr lang="en-IN" dirty="0">
                <a:latin typeface="Arial" panose="020B0604020202020204" pitchFamily="34" charset="0"/>
                <a:cs typeface="Arial" panose="020B0604020202020204" pitchFamily="34" charset="0"/>
              </a:rPr>
              <a:t> = True</a:t>
            </a:r>
          </a:p>
          <a:p>
            <a:r>
              <a:rPr lang="en-IN" dirty="0">
                <a:latin typeface="Arial" panose="020B0604020202020204" pitchFamily="34" charset="0"/>
                <a:cs typeface="Arial" panose="020B0604020202020204" pitchFamily="34" charset="0"/>
              </a:rPr>
              <a:t>except: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has_xgb</a:t>
            </a:r>
            <a:r>
              <a:rPr lang="en-IN" dirty="0">
                <a:latin typeface="Arial" panose="020B0604020202020204" pitchFamily="34" charset="0"/>
                <a:cs typeface="Arial" panose="020B0604020202020204" pitchFamily="34" charset="0"/>
              </a:rPr>
              <a:t> = False</a:t>
            </a:r>
          </a:p>
          <a:p>
            <a:r>
              <a:rPr lang="en-IN" dirty="0">
                <a:latin typeface="Arial" panose="020B0604020202020204" pitchFamily="34" charset="0"/>
                <a:cs typeface="Arial" panose="020B0604020202020204" pitchFamily="34" charset="0"/>
              </a:rPr>
              <a:t>try:</a:t>
            </a:r>
          </a:p>
          <a:p>
            <a:r>
              <a:rPr lang="en-IN" dirty="0">
                <a:latin typeface="Arial" panose="020B0604020202020204" pitchFamily="34" charset="0"/>
                <a:cs typeface="Arial" panose="020B0604020202020204" pitchFamily="34" charset="0"/>
              </a:rPr>
              <a:t>    import </a:t>
            </a:r>
            <a:r>
              <a:rPr lang="en-IN" dirty="0" err="1">
                <a:latin typeface="Arial" panose="020B0604020202020204" pitchFamily="34" charset="0"/>
                <a:cs typeface="Arial" panose="020B0604020202020204" pitchFamily="34" charset="0"/>
              </a:rPr>
              <a:t>tensorflow</a:t>
            </a:r>
            <a:r>
              <a:rPr lang="en-IN" dirty="0">
                <a:latin typeface="Arial" panose="020B0604020202020204" pitchFamily="34" charset="0"/>
                <a:cs typeface="Arial" panose="020B0604020202020204" pitchFamily="34" charset="0"/>
              </a:rPr>
              <a:t> as </a:t>
            </a:r>
            <a:r>
              <a:rPr lang="en-IN" dirty="0" err="1">
                <a:latin typeface="Arial" panose="020B0604020202020204" pitchFamily="34" charset="0"/>
                <a:cs typeface="Arial" panose="020B0604020202020204" pitchFamily="34" charset="0"/>
              </a:rPr>
              <a:t>tf</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from </a:t>
            </a:r>
            <a:r>
              <a:rPr lang="en-IN" dirty="0" err="1">
                <a:latin typeface="Arial" panose="020B0604020202020204" pitchFamily="34" charset="0"/>
                <a:cs typeface="Arial" panose="020B0604020202020204" pitchFamily="34" charset="0"/>
              </a:rPr>
              <a:t>tensorflow</a:t>
            </a:r>
            <a:r>
              <a:rPr lang="en-IN" dirty="0">
                <a:latin typeface="Arial" panose="020B0604020202020204" pitchFamily="34" charset="0"/>
                <a:cs typeface="Arial" panose="020B0604020202020204" pitchFamily="34" charset="0"/>
              </a:rPr>
              <a:t> import </a:t>
            </a:r>
            <a:r>
              <a:rPr lang="en-IN" dirty="0" err="1">
                <a:latin typeface="Arial" panose="020B0604020202020204" pitchFamily="34" charset="0"/>
                <a:cs typeface="Arial" panose="020B0604020202020204" pitchFamily="34" charset="0"/>
              </a:rPr>
              <a:t>keras</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has_tf</a:t>
            </a:r>
            <a:r>
              <a:rPr lang="en-IN" dirty="0">
                <a:latin typeface="Arial" panose="020B0604020202020204" pitchFamily="34" charset="0"/>
                <a:cs typeface="Arial" panose="020B0604020202020204" pitchFamily="34" charset="0"/>
              </a:rPr>
              <a:t> = True</a:t>
            </a:r>
          </a:p>
          <a:p>
            <a:r>
              <a:rPr lang="en-IN" dirty="0">
                <a:latin typeface="Arial" panose="020B0604020202020204" pitchFamily="34" charset="0"/>
                <a:cs typeface="Arial" panose="020B0604020202020204" pitchFamily="34" charset="0"/>
              </a:rPr>
              <a:t>except: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has_tf</a:t>
            </a:r>
            <a:r>
              <a:rPr lang="en-IN" dirty="0">
                <a:latin typeface="Arial" panose="020B0604020202020204" pitchFamily="34" charset="0"/>
                <a:cs typeface="Arial" panose="020B0604020202020204" pitchFamily="34" charset="0"/>
              </a:rPr>
              <a:t> = False</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Load and preprocess data</a:t>
            </a: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has_tf</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X_train_full</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y_train_full</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X_test</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y_test</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keras.datasets.mnist.load_data</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X_train_full</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X_train_full.reshape</a:t>
            </a:r>
            <a:r>
              <a:rPr lang="en-IN" dirty="0">
                <a:latin typeface="Arial" panose="020B0604020202020204" pitchFamily="34" charset="0"/>
                <a:cs typeface="Arial" panose="020B0604020202020204" pitchFamily="34" charset="0"/>
              </a:rPr>
              <a:t>(-1, 28, 28, 1).</a:t>
            </a:r>
            <a:r>
              <a:rPr lang="en-IN" dirty="0" err="1">
                <a:latin typeface="Arial" panose="020B0604020202020204" pitchFamily="34" charset="0"/>
                <a:cs typeface="Arial" panose="020B0604020202020204" pitchFamily="34" charset="0"/>
              </a:rPr>
              <a:t>astype</a:t>
            </a:r>
            <a:r>
              <a:rPr lang="en-IN" dirty="0">
                <a:latin typeface="Arial" panose="020B0604020202020204" pitchFamily="34" charset="0"/>
                <a:cs typeface="Arial" panose="020B0604020202020204" pitchFamily="34" charset="0"/>
              </a:rPr>
              <a:t>('float32') / 255.0  # Keep as 4D for CNN</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X_test</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X_test.reshape</a:t>
            </a:r>
            <a:r>
              <a:rPr lang="en-IN" dirty="0">
                <a:latin typeface="Arial" panose="020B0604020202020204" pitchFamily="34" charset="0"/>
                <a:cs typeface="Arial" panose="020B0604020202020204" pitchFamily="34" charset="0"/>
              </a:rPr>
              <a:t>(-1, 28, 28, 1).</a:t>
            </a:r>
            <a:r>
              <a:rPr lang="en-IN" dirty="0" err="1">
                <a:latin typeface="Arial" panose="020B0604020202020204" pitchFamily="34" charset="0"/>
                <a:cs typeface="Arial" panose="020B0604020202020204" pitchFamily="34" charset="0"/>
              </a:rPr>
              <a:t>astype</a:t>
            </a:r>
            <a:r>
              <a:rPr lang="en-IN" dirty="0">
                <a:latin typeface="Arial" panose="020B0604020202020204" pitchFamily="34" charset="0"/>
                <a:cs typeface="Arial" panose="020B0604020202020204" pitchFamily="34" charset="0"/>
              </a:rPr>
              <a:t>('float32') / 255.0</a:t>
            </a:r>
          </a:p>
        </p:txBody>
      </p:sp>
    </p:spTree>
    <p:extLst>
      <p:ext uri="{BB962C8B-B14F-4D97-AF65-F5344CB8AC3E}">
        <p14:creationId xmlns:p14="http://schemas.microsoft.com/office/powerpoint/2010/main" val="853612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3D1245E-147B-9C8C-3076-696C9791F4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5CE6A2-2426-6366-F9DB-63D7F4A329A1}"/>
              </a:ext>
            </a:extLst>
          </p:cNvPr>
          <p:cNvSpPr txBox="1"/>
          <p:nvPr/>
        </p:nvSpPr>
        <p:spPr>
          <a:xfrm>
            <a:off x="869950" y="495300"/>
            <a:ext cx="10598150" cy="6463308"/>
          </a:xfrm>
          <a:prstGeom prst="rect">
            <a:avLst/>
          </a:prstGeom>
          <a:noFill/>
        </p:spPr>
        <p:txBody>
          <a:bodyPr wrap="square" rtlCol="0">
            <a:spAutoFit/>
          </a:bodyPr>
          <a:lstStyle/>
          <a:p>
            <a:r>
              <a:rPr lang="en-IN" dirty="0" err="1">
                <a:latin typeface="Arial" panose="020B0604020202020204" pitchFamily="34" charset="0"/>
                <a:cs typeface="Arial" panose="020B0604020202020204" pitchFamily="34" charset="0"/>
              </a:rPr>
              <a:t>X_train</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X_val</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y_train</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y_val</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train_test_split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X_train_full</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y_train_full</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test_size</a:t>
            </a:r>
            <a:r>
              <a:rPr lang="en-IN" dirty="0">
                <a:latin typeface="Arial" panose="020B0604020202020204" pitchFamily="34" charset="0"/>
                <a:cs typeface="Arial" panose="020B0604020202020204" pitchFamily="34" charset="0"/>
              </a:rPr>
              <a:t>=0.15, </a:t>
            </a:r>
            <a:r>
              <a:rPr lang="en-IN" dirty="0" err="1">
                <a:latin typeface="Arial" panose="020B0604020202020204" pitchFamily="34" charset="0"/>
                <a:cs typeface="Arial" panose="020B0604020202020204" pitchFamily="34" charset="0"/>
              </a:rPr>
              <a:t>random_state</a:t>
            </a:r>
            <a:r>
              <a:rPr lang="en-IN" dirty="0">
                <a:latin typeface="Arial" panose="020B0604020202020204" pitchFamily="34" charset="0"/>
                <a:cs typeface="Arial" panose="020B0604020202020204" pitchFamily="34" charset="0"/>
              </a:rPr>
              <a:t>=42)</a:t>
            </a:r>
          </a:p>
          <a:p>
            <a:r>
              <a:rPr lang="en-IN" dirty="0">
                <a:latin typeface="Arial" panose="020B0604020202020204" pitchFamily="34" charset="0"/>
                <a:cs typeface="Arial" panose="020B0604020202020204" pitchFamily="34" charset="0"/>
              </a:rPr>
              <a:t>else:</a:t>
            </a:r>
          </a:p>
          <a:p>
            <a:r>
              <a:rPr lang="en-IN" dirty="0">
                <a:latin typeface="Arial" panose="020B0604020202020204" pitchFamily="34" charset="0"/>
                <a:cs typeface="Arial" panose="020B0604020202020204" pitchFamily="34" charset="0"/>
              </a:rPr>
              <a:t>    raise </a:t>
            </a:r>
            <a:r>
              <a:rPr lang="en-IN" dirty="0" err="1">
                <a:latin typeface="Arial" panose="020B0604020202020204" pitchFamily="34" charset="0"/>
                <a:cs typeface="Arial" panose="020B0604020202020204" pitchFamily="34" charset="0"/>
              </a:rPr>
              <a:t>ImportError</a:t>
            </a:r>
            <a:r>
              <a:rPr lang="en-IN" dirty="0">
                <a:latin typeface="Arial" panose="020B0604020202020204" pitchFamily="34" charset="0"/>
                <a:cs typeface="Arial" panose="020B0604020202020204" pitchFamily="34" charset="0"/>
              </a:rPr>
              <a:t>("TensorFlow is required for this script.")</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def </a:t>
            </a:r>
            <a:r>
              <a:rPr lang="en-IN" dirty="0" err="1">
                <a:latin typeface="Arial" panose="020B0604020202020204" pitchFamily="34" charset="0"/>
                <a:cs typeface="Arial" panose="020B0604020202020204" pitchFamily="34" charset="0"/>
              </a:rPr>
              <a:t>eval_model</a:t>
            </a:r>
            <a:r>
              <a:rPr lang="en-IN" dirty="0">
                <a:latin typeface="Arial" panose="020B0604020202020204" pitchFamily="34" charset="0"/>
                <a:cs typeface="Arial" panose="020B0604020202020204" pitchFamily="34" charset="0"/>
              </a:rPr>
              <a:t>(m, x, y, n):</a:t>
            </a:r>
          </a:p>
          <a:p>
            <a:r>
              <a:rPr lang="en-IN" dirty="0">
                <a:latin typeface="Arial" panose="020B0604020202020204" pitchFamily="34" charset="0"/>
                <a:cs typeface="Arial" panose="020B0604020202020204" pitchFamily="34" charset="0"/>
              </a:rPr>
              <a:t>    p = </a:t>
            </a:r>
            <a:r>
              <a:rPr lang="en-IN" dirty="0" err="1">
                <a:latin typeface="Arial" panose="020B0604020202020204" pitchFamily="34" charset="0"/>
                <a:cs typeface="Arial" panose="020B0604020202020204" pitchFamily="34" charset="0"/>
              </a:rPr>
              <a:t>m.predict</a:t>
            </a:r>
            <a:r>
              <a:rPr lang="en-IN" dirty="0">
                <a:latin typeface="Arial" panose="020B0604020202020204" pitchFamily="34" charset="0"/>
                <a:cs typeface="Arial" panose="020B0604020202020204" pitchFamily="34" charset="0"/>
              </a:rPr>
              <a:t>(x)</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acc</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accuracy_score</a:t>
            </a:r>
            <a:r>
              <a:rPr lang="en-IN" dirty="0">
                <a:latin typeface="Arial" panose="020B0604020202020204" pitchFamily="34" charset="0"/>
                <a:cs typeface="Arial" panose="020B0604020202020204" pitchFamily="34" charset="0"/>
              </a:rPr>
              <a:t>(y, p)</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prec</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precision_score</a:t>
            </a:r>
            <a:r>
              <a:rPr lang="en-IN" dirty="0">
                <a:latin typeface="Arial" panose="020B0604020202020204" pitchFamily="34" charset="0"/>
                <a:cs typeface="Arial" panose="020B0604020202020204" pitchFamily="34" charset="0"/>
              </a:rPr>
              <a:t>(y, p, average='macro', </a:t>
            </a:r>
            <a:r>
              <a:rPr lang="en-IN" dirty="0" err="1">
                <a:latin typeface="Arial" panose="020B0604020202020204" pitchFamily="34" charset="0"/>
                <a:cs typeface="Arial" panose="020B0604020202020204" pitchFamily="34" charset="0"/>
              </a:rPr>
              <a:t>zero_division</a:t>
            </a:r>
            <a:r>
              <a:rPr lang="en-IN" dirty="0">
                <a:latin typeface="Arial" panose="020B0604020202020204" pitchFamily="34" charset="0"/>
                <a:cs typeface="Arial" panose="020B0604020202020204" pitchFamily="34" charset="0"/>
              </a:rPr>
              <a:t>=0)</a:t>
            </a:r>
          </a:p>
          <a:p>
            <a:r>
              <a:rPr lang="en-IN" dirty="0">
                <a:latin typeface="Arial" panose="020B0604020202020204" pitchFamily="34" charset="0"/>
                <a:cs typeface="Arial" panose="020B0604020202020204" pitchFamily="34" charset="0"/>
              </a:rPr>
              <a:t>    rec = </a:t>
            </a:r>
            <a:r>
              <a:rPr lang="en-IN" dirty="0" err="1">
                <a:latin typeface="Arial" panose="020B0604020202020204" pitchFamily="34" charset="0"/>
                <a:cs typeface="Arial" panose="020B0604020202020204" pitchFamily="34" charset="0"/>
              </a:rPr>
              <a:t>recall_score</a:t>
            </a:r>
            <a:r>
              <a:rPr lang="en-IN" dirty="0">
                <a:latin typeface="Arial" panose="020B0604020202020204" pitchFamily="34" charset="0"/>
                <a:cs typeface="Arial" panose="020B0604020202020204" pitchFamily="34" charset="0"/>
              </a:rPr>
              <a:t>(y, p, average='macro', </a:t>
            </a:r>
            <a:r>
              <a:rPr lang="en-IN" dirty="0" err="1">
                <a:latin typeface="Arial" panose="020B0604020202020204" pitchFamily="34" charset="0"/>
                <a:cs typeface="Arial" panose="020B0604020202020204" pitchFamily="34" charset="0"/>
              </a:rPr>
              <a:t>zero_division</a:t>
            </a:r>
            <a:r>
              <a:rPr lang="en-IN" dirty="0">
                <a:latin typeface="Arial" panose="020B0604020202020204" pitchFamily="34" charset="0"/>
                <a:cs typeface="Arial" panose="020B0604020202020204" pitchFamily="34" charset="0"/>
              </a:rPr>
              <a:t>=0)</a:t>
            </a:r>
          </a:p>
          <a:p>
            <a:r>
              <a:rPr lang="en-IN" dirty="0">
                <a:latin typeface="Arial" panose="020B0604020202020204" pitchFamily="34" charset="0"/>
                <a:cs typeface="Arial" panose="020B0604020202020204" pitchFamily="34" charset="0"/>
              </a:rPr>
              <a:t>    f1 = f1_score(y, p, average='macro', </a:t>
            </a:r>
            <a:r>
              <a:rPr lang="en-IN" dirty="0" err="1">
                <a:latin typeface="Arial" panose="020B0604020202020204" pitchFamily="34" charset="0"/>
                <a:cs typeface="Arial" panose="020B0604020202020204" pitchFamily="34" charset="0"/>
              </a:rPr>
              <a:t>zero_division</a:t>
            </a:r>
            <a:r>
              <a:rPr lang="en-IN" dirty="0">
                <a:latin typeface="Arial" panose="020B0604020202020204" pitchFamily="34" charset="0"/>
                <a:cs typeface="Arial" panose="020B0604020202020204" pitchFamily="34" charset="0"/>
              </a:rPr>
              <a:t>=0)</a:t>
            </a:r>
          </a:p>
          <a:p>
            <a:r>
              <a:rPr lang="en-IN" dirty="0">
                <a:latin typeface="Arial" panose="020B0604020202020204" pitchFamily="34" charset="0"/>
                <a:cs typeface="Arial" panose="020B0604020202020204" pitchFamily="34" charset="0"/>
              </a:rPr>
              <a:t>    print(f"{n}: Accuracy={acc:.4f}, Precision={prec:.4f}, Recall={rec:.4f}, F1={f1:.4f}")</a:t>
            </a:r>
          </a:p>
          <a:p>
            <a:r>
              <a:rPr lang="en-IN" dirty="0">
                <a:latin typeface="Arial" panose="020B0604020202020204" pitchFamily="34" charset="0"/>
                <a:cs typeface="Arial" panose="020B0604020202020204" pitchFamily="34" charset="0"/>
              </a:rPr>
              <a:t>    cm = </a:t>
            </a:r>
            <a:r>
              <a:rPr lang="en-IN" dirty="0" err="1">
                <a:latin typeface="Arial" panose="020B0604020202020204" pitchFamily="34" charset="0"/>
                <a:cs typeface="Arial" panose="020B0604020202020204" pitchFamily="34" charset="0"/>
              </a:rPr>
              <a:t>confusion_matrix</a:t>
            </a:r>
            <a:r>
              <a:rPr lang="en-IN" dirty="0">
                <a:latin typeface="Arial" panose="020B0604020202020204" pitchFamily="34" charset="0"/>
                <a:cs typeface="Arial" panose="020B0604020202020204" pitchFamily="34" charset="0"/>
              </a:rPr>
              <a:t>(y, p)</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plt.figure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figsize</a:t>
            </a:r>
            <a:r>
              <a:rPr lang="en-IN" dirty="0">
                <a:latin typeface="Arial" panose="020B0604020202020204" pitchFamily="34" charset="0"/>
                <a:cs typeface="Arial" panose="020B0604020202020204" pitchFamily="34" charset="0"/>
              </a:rPr>
              <a:t>=(8, 6))</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plt.imshow</a:t>
            </a:r>
            <a:r>
              <a:rPr lang="en-IN" dirty="0">
                <a:latin typeface="Arial" panose="020B0604020202020204" pitchFamily="34" charset="0"/>
                <a:cs typeface="Arial" panose="020B0604020202020204" pitchFamily="34" charset="0"/>
              </a:rPr>
              <a:t>(cm, interpolation='nearest', </a:t>
            </a:r>
            <a:r>
              <a:rPr lang="en-IN" dirty="0" err="1">
                <a:latin typeface="Arial" panose="020B0604020202020204" pitchFamily="34" charset="0"/>
                <a:cs typeface="Arial" panose="020B0604020202020204" pitchFamily="34" charset="0"/>
              </a:rPr>
              <a:t>cmap</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plt.cm.Greens</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plt.title</a:t>
            </a:r>
            <a:r>
              <a:rPr lang="en-IN" dirty="0">
                <a:latin typeface="Arial" panose="020B0604020202020204" pitchFamily="34" charset="0"/>
                <a:cs typeface="Arial" panose="020B0604020202020204" pitchFamily="34" charset="0"/>
              </a:rPr>
              <a:t>(f'{n} Confusion Matrix')</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plt.colorbar</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tick_marks</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np.arange</a:t>
            </a:r>
            <a:r>
              <a:rPr lang="en-IN" dirty="0">
                <a:latin typeface="Arial" panose="020B0604020202020204" pitchFamily="34" charset="0"/>
                <a:cs typeface="Arial" panose="020B0604020202020204" pitchFamily="34" charset="0"/>
              </a:rPr>
              <a:t>(10)</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plt.xticks</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tick_marks</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tick_marks</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plt.yticks</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tick_marks</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tick_marks</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plt.ylabel</a:t>
            </a:r>
            <a:r>
              <a:rPr lang="en-IN" dirty="0">
                <a:latin typeface="Arial" panose="020B0604020202020204" pitchFamily="34" charset="0"/>
                <a:cs typeface="Arial" panose="020B0604020202020204" pitchFamily="34" charset="0"/>
              </a:rPr>
              <a:t>('True label')</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plt.xlabel</a:t>
            </a:r>
            <a:r>
              <a:rPr lang="en-IN" dirty="0">
                <a:latin typeface="Arial" panose="020B0604020202020204" pitchFamily="34" charset="0"/>
                <a:cs typeface="Arial" panose="020B0604020202020204" pitchFamily="34" charset="0"/>
              </a:rPr>
              <a:t>('Predicted label')</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plt.show</a:t>
            </a:r>
            <a:r>
              <a:rPr lang="en-IN"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844004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384848B-7DED-8842-BA04-463234FE73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F31AB7-CBE1-FCD1-C1EE-9E2AC6362E6B}"/>
              </a:ext>
            </a:extLst>
          </p:cNvPr>
          <p:cNvSpPr txBox="1"/>
          <p:nvPr/>
        </p:nvSpPr>
        <p:spPr>
          <a:xfrm>
            <a:off x="482600" y="546100"/>
            <a:ext cx="11150600" cy="5909310"/>
          </a:xfrm>
          <a:prstGeom prst="rect">
            <a:avLst/>
          </a:prstGeom>
          <a:noFill/>
        </p:spPr>
        <p:txBody>
          <a:bodyPr wrap="square" rtlCol="0">
            <a:spAutoFit/>
          </a:bodyPr>
          <a:lstStyle/>
          <a:p>
            <a:r>
              <a:rPr lang="en-IN" dirty="0"/>
              <a:t> </a:t>
            </a:r>
            <a:r>
              <a:rPr lang="en-IN" dirty="0">
                <a:latin typeface="Arial" panose="020B0604020202020204" pitchFamily="34" charset="0"/>
                <a:cs typeface="Arial" panose="020B0604020202020204" pitchFamily="34" charset="0"/>
              </a:rPr>
              <a:t>return {'Model': n, 'Accuracy': </a:t>
            </a:r>
            <a:r>
              <a:rPr lang="en-IN" dirty="0" err="1">
                <a:latin typeface="Arial" panose="020B0604020202020204" pitchFamily="34" charset="0"/>
                <a:cs typeface="Arial" panose="020B0604020202020204" pitchFamily="34" charset="0"/>
              </a:rPr>
              <a:t>acc</a:t>
            </a:r>
            <a:r>
              <a:rPr lang="en-IN" dirty="0">
                <a:latin typeface="Arial" panose="020B0604020202020204" pitchFamily="34" charset="0"/>
                <a:cs typeface="Arial" panose="020B0604020202020204" pitchFamily="34" charset="0"/>
              </a:rPr>
              <a:t>, 'Precision': </a:t>
            </a:r>
            <a:r>
              <a:rPr lang="en-IN" dirty="0" err="1">
                <a:latin typeface="Arial" panose="020B0604020202020204" pitchFamily="34" charset="0"/>
                <a:cs typeface="Arial" panose="020B0604020202020204" pitchFamily="34" charset="0"/>
              </a:rPr>
              <a:t>prec</a:t>
            </a:r>
            <a:r>
              <a:rPr lang="en-IN" dirty="0">
                <a:latin typeface="Arial" panose="020B0604020202020204" pitchFamily="34" charset="0"/>
                <a:cs typeface="Arial" panose="020B0604020202020204" pitchFamily="34" charset="0"/>
              </a:rPr>
              <a:t>, 'Recall': rec, 'F1': f1}</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models = [</a:t>
            </a:r>
          </a:p>
          <a:p>
            <a:r>
              <a:rPr lang="en-IN" dirty="0">
                <a:latin typeface="Arial" panose="020B0604020202020204" pitchFamily="34" charset="0"/>
                <a:cs typeface="Arial" panose="020B0604020202020204" pitchFamily="34" charset="0"/>
              </a:rPr>
              <a:t>    ('Logistic Regression', Pipeline([('s', </a:t>
            </a:r>
            <a:r>
              <a:rPr lang="en-IN" dirty="0" err="1">
                <a:latin typeface="Arial" panose="020B0604020202020204" pitchFamily="34" charset="0"/>
                <a:cs typeface="Arial" panose="020B0604020202020204" pitchFamily="34" charset="0"/>
              </a:rPr>
              <a:t>StandardScaler</a:t>
            </a:r>
            <a:r>
              <a:rPr lang="en-IN" dirty="0">
                <a:latin typeface="Arial" panose="020B0604020202020204" pitchFamily="34" charset="0"/>
                <a:cs typeface="Arial" panose="020B0604020202020204" pitchFamily="34" charset="0"/>
              </a:rPr>
              <a:t>()), ('m', </a:t>
            </a:r>
            <a:r>
              <a:rPr lang="en-IN" dirty="0" err="1">
                <a:latin typeface="Arial" panose="020B0604020202020204" pitchFamily="34" charset="0"/>
                <a:cs typeface="Arial" panose="020B0604020202020204" pitchFamily="34" charset="0"/>
              </a:rPr>
              <a:t>LogisticRegression</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max_iter</a:t>
            </a:r>
            <a:r>
              <a:rPr lang="en-IN" dirty="0">
                <a:latin typeface="Arial" panose="020B0604020202020204" pitchFamily="34" charset="0"/>
                <a:cs typeface="Arial" panose="020B0604020202020204" pitchFamily="34" charset="0"/>
              </a:rPr>
              <a:t>=1000, </a:t>
            </a:r>
            <a:r>
              <a:rPr lang="en-IN" dirty="0" err="1">
                <a:latin typeface="Arial" panose="020B0604020202020204" pitchFamily="34" charset="0"/>
                <a:cs typeface="Arial" panose="020B0604020202020204" pitchFamily="34" charset="0"/>
              </a:rPr>
              <a:t>random_state</a:t>
            </a:r>
            <a:r>
              <a:rPr lang="en-IN" dirty="0">
                <a:latin typeface="Arial" panose="020B0604020202020204" pitchFamily="34" charset="0"/>
                <a:cs typeface="Arial" panose="020B0604020202020204" pitchFamily="34" charset="0"/>
              </a:rPr>
              <a:t>=42))])),</a:t>
            </a:r>
          </a:p>
          <a:p>
            <a:r>
              <a:rPr lang="en-IN" dirty="0">
                <a:latin typeface="Arial" panose="020B0604020202020204" pitchFamily="34" charset="0"/>
                <a:cs typeface="Arial" panose="020B0604020202020204" pitchFamily="34" charset="0"/>
              </a:rPr>
              <a:t>    ('Random Forest', Pipeline([('s', </a:t>
            </a:r>
            <a:r>
              <a:rPr lang="en-IN" dirty="0" err="1">
                <a:latin typeface="Arial" panose="020B0604020202020204" pitchFamily="34" charset="0"/>
                <a:cs typeface="Arial" panose="020B0604020202020204" pitchFamily="34" charset="0"/>
              </a:rPr>
              <a:t>StandardScaler</a:t>
            </a:r>
            <a:r>
              <a:rPr lang="en-IN" dirty="0">
                <a:latin typeface="Arial" panose="020B0604020202020204" pitchFamily="34" charset="0"/>
                <a:cs typeface="Arial" panose="020B0604020202020204" pitchFamily="34" charset="0"/>
              </a:rPr>
              <a:t>()), ('m', </a:t>
            </a:r>
            <a:r>
              <a:rPr lang="en-IN" dirty="0" err="1">
                <a:latin typeface="Arial" panose="020B0604020202020204" pitchFamily="34" charset="0"/>
                <a:cs typeface="Arial" panose="020B0604020202020204" pitchFamily="34" charset="0"/>
              </a:rPr>
              <a:t>RandomForestClassifier</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n_estimators</a:t>
            </a:r>
            <a:r>
              <a:rPr lang="en-IN" dirty="0">
                <a:latin typeface="Arial" panose="020B0604020202020204" pitchFamily="34" charset="0"/>
                <a:cs typeface="Arial" panose="020B0604020202020204" pitchFamily="34" charset="0"/>
              </a:rPr>
              <a:t>=100, </a:t>
            </a:r>
            <a:r>
              <a:rPr lang="en-IN" dirty="0" err="1">
                <a:latin typeface="Arial" panose="020B0604020202020204" pitchFamily="34" charset="0"/>
                <a:cs typeface="Arial" panose="020B0604020202020204" pitchFamily="34" charset="0"/>
              </a:rPr>
              <a:t>random_state</a:t>
            </a:r>
            <a:r>
              <a:rPr lang="en-IN" dirty="0">
                <a:latin typeface="Arial" panose="020B0604020202020204" pitchFamily="34" charset="0"/>
                <a:cs typeface="Arial" panose="020B0604020202020204" pitchFamily="34" charset="0"/>
              </a:rPr>
              <a:t>=42))]))</a:t>
            </a:r>
          </a:p>
          <a:p>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has_xgb</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models.append</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XGBoost</a:t>
            </a:r>
            <a:r>
              <a:rPr lang="en-IN" dirty="0">
                <a:latin typeface="Arial" panose="020B0604020202020204" pitchFamily="34" charset="0"/>
                <a:cs typeface="Arial" panose="020B0604020202020204" pitchFamily="34" charset="0"/>
              </a:rPr>
              <a:t>',Pipeline([('s',</a:t>
            </a:r>
            <a:r>
              <a:rPr lang="en-IN" dirty="0" err="1">
                <a:latin typeface="Arial" panose="020B0604020202020204" pitchFamily="34" charset="0"/>
                <a:cs typeface="Arial" panose="020B0604020202020204" pitchFamily="34" charset="0"/>
              </a:rPr>
              <a:t>StandardScaler</a:t>
            </a:r>
            <a:r>
              <a:rPr lang="en-IN" dirty="0">
                <a:latin typeface="Arial" panose="020B0604020202020204" pitchFamily="34" charset="0"/>
                <a:cs typeface="Arial" panose="020B0604020202020204" pitchFamily="34" charset="0"/>
              </a:rPr>
              <a:t>()),('m',</a:t>
            </a:r>
            <a:r>
              <a:rPr lang="en-IN" dirty="0" err="1">
                <a:latin typeface="Arial" panose="020B0604020202020204" pitchFamily="34" charset="0"/>
                <a:cs typeface="Arial" panose="020B0604020202020204" pitchFamily="34" charset="0"/>
              </a:rPr>
              <a:t>GBClassifier</a:t>
            </a:r>
            <a:r>
              <a:rPr lang="en-IN" dirty="0">
                <a:latin typeface="Arial" panose="020B0604020202020204" pitchFamily="34" charset="0"/>
                <a:cs typeface="Arial" panose="020B0604020202020204" pitchFamily="34" charset="0"/>
              </a:rPr>
              <a:t>(objective='</a:t>
            </a:r>
            <a:r>
              <a:rPr lang="en-IN" dirty="0" err="1">
                <a:latin typeface="Arial" panose="020B0604020202020204" pitchFamily="34" charset="0"/>
                <a:cs typeface="Arial" panose="020B0604020202020204" pitchFamily="34" charset="0"/>
              </a:rPr>
              <a:t>multi:softmax</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num_class</a:t>
            </a:r>
            <a:r>
              <a:rPr lang="en-IN" dirty="0">
                <a:latin typeface="Arial" panose="020B0604020202020204" pitchFamily="34" charset="0"/>
                <a:cs typeface="Arial" panose="020B0604020202020204" pitchFamily="34" charset="0"/>
              </a:rPr>
              <a:t>=10, </a:t>
            </a:r>
            <a:r>
              <a:rPr lang="en-IN" dirty="0" err="1">
                <a:latin typeface="Arial" panose="020B0604020202020204" pitchFamily="34" charset="0"/>
                <a:cs typeface="Arial" panose="020B0604020202020204" pitchFamily="34" charset="0"/>
              </a:rPr>
              <a:t>random_state</a:t>
            </a:r>
            <a:r>
              <a:rPr lang="en-IN" dirty="0">
                <a:latin typeface="Arial" panose="020B0604020202020204" pitchFamily="34" charset="0"/>
                <a:cs typeface="Arial" panose="020B0604020202020204" pitchFamily="34" charset="0"/>
              </a:rPr>
              <a:t>=42))])))</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Flatten for </a:t>
            </a:r>
            <a:r>
              <a:rPr lang="en-IN" dirty="0" err="1">
                <a:latin typeface="Arial" panose="020B0604020202020204" pitchFamily="34" charset="0"/>
                <a:cs typeface="Arial" panose="020B0604020202020204" pitchFamily="34" charset="0"/>
              </a:rPr>
              <a:t>sklearn</a:t>
            </a:r>
            <a:r>
              <a:rPr lang="en-IN" dirty="0">
                <a:latin typeface="Arial" panose="020B0604020202020204" pitchFamily="34" charset="0"/>
                <a:cs typeface="Arial" panose="020B0604020202020204" pitchFamily="34" charset="0"/>
              </a:rPr>
              <a:t> models</a:t>
            </a:r>
          </a:p>
          <a:p>
            <a:r>
              <a:rPr lang="en-IN" dirty="0" err="1">
                <a:latin typeface="Arial" panose="020B0604020202020204" pitchFamily="34" charset="0"/>
                <a:cs typeface="Arial" panose="020B0604020202020204" pitchFamily="34" charset="0"/>
              </a:rPr>
              <a:t>X_train_flat</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X_train.reshape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X_train.shape</a:t>
            </a:r>
            <a:r>
              <a:rPr lang="en-IN" dirty="0">
                <a:latin typeface="Arial" panose="020B0604020202020204" pitchFamily="34" charset="0"/>
                <a:cs typeface="Arial" panose="020B0604020202020204" pitchFamily="34" charset="0"/>
              </a:rPr>
              <a:t>[0], -1)</a:t>
            </a:r>
          </a:p>
          <a:p>
            <a:r>
              <a:rPr lang="en-IN" dirty="0" err="1">
                <a:latin typeface="Arial" panose="020B0604020202020204" pitchFamily="34" charset="0"/>
                <a:cs typeface="Arial" panose="020B0604020202020204" pitchFamily="34" charset="0"/>
              </a:rPr>
              <a:t>X_val_flat</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X_val.reshape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X_val.shape</a:t>
            </a:r>
            <a:r>
              <a:rPr lang="en-IN" dirty="0">
                <a:latin typeface="Arial" panose="020B0604020202020204" pitchFamily="34" charset="0"/>
                <a:cs typeface="Arial" panose="020B0604020202020204" pitchFamily="34" charset="0"/>
              </a:rPr>
              <a:t>[0], -1)</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results = [</a:t>
            </a:r>
            <a:r>
              <a:rPr lang="en-IN" dirty="0" err="1">
                <a:latin typeface="Arial" panose="020B0604020202020204" pitchFamily="34" charset="0"/>
                <a:cs typeface="Arial" panose="020B0604020202020204" pitchFamily="34" charset="0"/>
              </a:rPr>
              <a:t>eval_model</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m.fit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X_train_flat</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y_train</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X_val_flat</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y_val</a:t>
            </a:r>
            <a:r>
              <a:rPr lang="en-IN" dirty="0">
                <a:latin typeface="Arial" panose="020B0604020202020204" pitchFamily="34" charset="0"/>
                <a:cs typeface="Arial" panose="020B0604020202020204" pitchFamily="34" charset="0"/>
              </a:rPr>
              <a:t>, n) for n, m in models]</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Deep Learning (Main) - Using CNN for uniqueness</a:t>
            </a:r>
          </a:p>
          <a:p>
            <a:r>
              <a:rPr lang="en-IN" dirty="0">
                <a:latin typeface="Arial" panose="020B0604020202020204" pitchFamily="34" charset="0"/>
                <a:cs typeface="Arial" panose="020B0604020202020204" pitchFamily="34" charset="0"/>
              </a:rPr>
              <a:t>if </a:t>
            </a:r>
            <a:r>
              <a:rPr lang="en-IN" dirty="0" err="1">
                <a:latin typeface="Arial" panose="020B0604020202020204" pitchFamily="34" charset="0"/>
                <a:cs typeface="Arial" panose="020B0604020202020204" pitchFamily="34" charset="0"/>
              </a:rPr>
              <a:t>has_tf</a:t>
            </a:r>
            <a:r>
              <a:rPr lang="en-IN" dirty="0">
                <a:latin typeface="Arial" panose="020B0604020202020204" pitchFamily="34" charset="0"/>
                <a:cs typeface="Arial" panose="020B0604020202020204" pitchFamily="34" charset="0"/>
              </a:rPr>
              <a:t>:</a:t>
            </a:r>
          </a:p>
          <a:p>
            <a:endParaRPr lang="en-IN" dirty="0"/>
          </a:p>
        </p:txBody>
      </p:sp>
    </p:spTree>
    <p:extLst>
      <p:ext uri="{BB962C8B-B14F-4D97-AF65-F5344CB8AC3E}">
        <p14:creationId xmlns:p14="http://schemas.microsoft.com/office/powerpoint/2010/main" val="1033967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500012E-A19A-B6C0-947D-E662DB0A70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3EBC2A-A18E-79A3-DDBC-DE41D3553043}"/>
              </a:ext>
            </a:extLst>
          </p:cNvPr>
          <p:cNvSpPr txBox="1"/>
          <p:nvPr/>
        </p:nvSpPr>
        <p:spPr>
          <a:xfrm>
            <a:off x="755650" y="711200"/>
            <a:ext cx="10668000" cy="5078313"/>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 model = </a:t>
            </a:r>
            <a:r>
              <a:rPr lang="en-IN" dirty="0" err="1">
                <a:latin typeface="Arial" panose="020B0604020202020204" pitchFamily="34" charset="0"/>
                <a:cs typeface="Arial" panose="020B0604020202020204" pitchFamily="34" charset="0"/>
              </a:rPr>
              <a:t>keras.Sequential</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keras.layers.Conv2D(32, (3, 3), activation='</a:t>
            </a:r>
            <a:r>
              <a:rPr lang="en-IN" dirty="0" err="1">
                <a:latin typeface="Arial" panose="020B0604020202020204" pitchFamily="34" charset="0"/>
                <a:cs typeface="Arial" panose="020B0604020202020204" pitchFamily="34" charset="0"/>
              </a:rPr>
              <a:t>relu</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input_shape</a:t>
            </a:r>
            <a:r>
              <a:rPr lang="en-IN" dirty="0">
                <a:latin typeface="Arial" panose="020B0604020202020204" pitchFamily="34" charset="0"/>
                <a:cs typeface="Arial" panose="020B0604020202020204" pitchFamily="34" charset="0"/>
              </a:rPr>
              <a:t>=(28, 28, 1)),</a:t>
            </a:r>
          </a:p>
          <a:p>
            <a:r>
              <a:rPr lang="en-IN" dirty="0">
                <a:latin typeface="Arial" panose="020B0604020202020204" pitchFamily="34" charset="0"/>
                <a:cs typeface="Arial" panose="020B0604020202020204" pitchFamily="34" charset="0"/>
              </a:rPr>
              <a:t>        keras.layers.MaxPooling2D((2, 2)),</a:t>
            </a:r>
          </a:p>
          <a:p>
            <a:r>
              <a:rPr lang="en-IN" dirty="0">
                <a:latin typeface="Arial" panose="020B0604020202020204" pitchFamily="34" charset="0"/>
                <a:cs typeface="Arial" panose="020B0604020202020204" pitchFamily="34" charset="0"/>
              </a:rPr>
              <a:t>        keras.layers.Conv2D(64, (3, 3), activation='</a:t>
            </a:r>
            <a:r>
              <a:rPr lang="en-IN" dirty="0" err="1">
                <a:latin typeface="Arial" panose="020B0604020202020204" pitchFamily="34" charset="0"/>
                <a:cs typeface="Arial" panose="020B0604020202020204" pitchFamily="34" charset="0"/>
              </a:rPr>
              <a:t>relu</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keras.layers.MaxPooling2D((2, 2)),</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keras.layers.Flatten</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keras.layers.Dense</a:t>
            </a:r>
            <a:r>
              <a:rPr lang="en-IN" dirty="0">
                <a:latin typeface="Arial" panose="020B0604020202020204" pitchFamily="34" charset="0"/>
                <a:cs typeface="Arial" panose="020B0604020202020204" pitchFamily="34" charset="0"/>
              </a:rPr>
              <a:t>(128, activation='</a:t>
            </a:r>
            <a:r>
              <a:rPr lang="en-IN" dirty="0" err="1">
                <a:latin typeface="Arial" panose="020B0604020202020204" pitchFamily="34" charset="0"/>
                <a:cs typeface="Arial" panose="020B0604020202020204" pitchFamily="34" charset="0"/>
              </a:rPr>
              <a:t>relu</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keras.layers.Dropout</a:t>
            </a:r>
            <a:r>
              <a:rPr lang="en-IN" dirty="0">
                <a:latin typeface="Arial" panose="020B0604020202020204" pitchFamily="34" charset="0"/>
                <a:cs typeface="Arial" panose="020B0604020202020204" pitchFamily="34" charset="0"/>
              </a:rPr>
              <a:t>(0.3),</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keras.layers.Dense</a:t>
            </a:r>
            <a:r>
              <a:rPr lang="en-IN" dirty="0">
                <a:latin typeface="Arial" panose="020B0604020202020204" pitchFamily="34" charset="0"/>
                <a:cs typeface="Arial" panose="020B0604020202020204" pitchFamily="34" charset="0"/>
              </a:rPr>
              <a:t>(10, activation='</a:t>
            </a:r>
            <a:r>
              <a:rPr lang="en-IN" dirty="0" err="1">
                <a:latin typeface="Arial" panose="020B0604020202020204" pitchFamily="34" charset="0"/>
                <a:cs typeface="Arial" panose="020B0604020202020204" pitchFamily="34" charset="0"/>
              </a:rPr>
              <a:t>softmax</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model.compile</a:t>
            </a:r>
            <a:r>
              <a:rPr lang="en-IN" dirty="0">
                <a:latin typeface="Arial" panose="020B0604020202020204" pitchFamily="34" charset="0"/>
                <a:cs typeface="Arial" panose="020B0604020202020204" pitchFamily="34" charset="0"/>
              </a:rPr>
              <a:t>(optimizer='</a:t>
            </a:r>
            <a:r>
              <a:rPr lang="en-IN" dirty="0" err="1">
                <a:latin typeface="Arial" panose="020B0604020202020204" pitchFamily="34" charset="0"/>
                <a:cs typeface="Arial" panose="020B0604020202020204" pitchFamily="34" charset="0"/>
              </a:rPr>
              <a:t>adam</a:t>
            </a:r>
            <a:r>
              <a:rPr lang="en-IN" dirty="0">
                <a:latin typeface="Arial" panose="020B0604020202020204" pitchFamily="34" charset="0"/>
                <a:cs typeface="Arial" panose="020B0604020202020204" pitchFamily="34" charset="0"/>
              </a:rPr>
              <a:t>', loss='</a:t>
            </a:r>
            <a:r>
              <a:rPr lang="en-IN" dirty="0" err="1">
                <a:latin typeface="Arial" panose="020B0604020202020204" pitchFamily="34" charset="0"/>
                <a:cs typeface="Arial" panose="020B0604020202020204" pitchFamily="34" charset="0"/>
              </a:rPr>
              <a:t>sparse_categorical_crossentropy</a:t>
            </a:r>
            <a:r>
              <a:rPr lang="en-IN" dirty="0">
                <a:latin typeface="Arial" panose="020B0604020202020204" pitchFamily="34" charset="0"/>
                <a:cs typeface="Arial" panose="020B0604020202020204" pitchFamily="34" charset="0"/>
              </a:rPr>
              <a:t>', metrics=['accuracy'])</a:t>
            </a:r>
          </a:p>
          <a:p>
            <a:r>
              <a:rPr lang="en-IN" dirty="0">
                <a:latin typeface="Arial" panose="020B0604020202020204" pitchFamily="34" charset="0"/>
                <a:cs typeface="Arial" panose="020B0604020202020204" pitchFamily="34" charset="0"/>
              </a:rPr>
              <a:t>    h = </a:t>
            </a:r>
            <a:r>
              <a:rPr lang="en-IN" dirty="0" err="1">
                <a:latin typeface="Arial" panose="020B0604020202020204" pitchFamily="34" charset="0"/>
                <a:cs typeface="Arial" panose="020B0604020202020204" pitchFamily="34" charset="0"/>
              </a:rPr>
              <a:t>model.fit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X_train</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y_train</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validation_data</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X_val</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y_val</a:t>
            </a:r>
            <a:r>
              <a:rPr lang="en-IN" dirty="0">
                <a:latin typeface="Arial" panose="020B0604020202020204" pitchFamily="34" charset="0"/>
                <a:cs typeface="Arial" panose="020B0604020202020204" pitchFamily="34" charset="0"/>
              </a:rPr>
              <a:t>), epochs=15, </a:t>
            </a:r>
            <a:r>
              <a:rPr lang="en-IN" dirty="0" err="1">
                <a:latin typeface="Arial" panose="020B0604020202020204" pitchFamily="34" charset="0"/>
                <a:cs typeface="Arial" panose="020B0604020202020204" pitchFamily="34" charset="0"/>
              </a:rPr>
              <a:t>batch_size</a:t>
            </a:r>
            <a:r>
              <a:rPr lang="en-IN" dirty="0">
                <a:latin typeface="Arial" panose="020B0604020202020204" pitchFamily="34" charset="0"/>
                <a:cs typeface="Arial" panose="020B0604020202020204" pitchFamily="34" charset="0"/>
              </a:rPr>
              <a:t>=64, verbose=0)</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plt.plot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h.history</a:t>
            </a:r>
            <a:r>
              <a:rPr lang="en-IN" dirty="0">
                <a:latin typeface="Arial" panose="020B0604020202020204" pitchFamily="34" charset="0"/>
                <a:cs typeface="Arial" panose="020B0604020202020204" pitchFamily="34" charset="0"/>
              </a:rPr>
              <a:t>['loss'], label='Training Loss')</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plt.plot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h.history</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val_loss</a:t>
            </a:r>
            <a:r>
              <a:rPr lang="en-IN" dirty="0">
                <a:latin typeface="Arial" panose="020B0604020202020204" pitchFamily="34" charset="0"/>
                <a:cs typeface="Arial" panose="020B0604020202020204" pitchFamily="34" charset="0"/>
              </a:rPr>
              <a:t>'], label='Validation Loss')</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plt.title</a:t>
            </a:r>
            <a:r>
              <a:rPr lang="en-IN" dirty="0">
                <a:latin typeface="Arial" panose="020B0604020202020204" pitchFamily="34" charset="0"/>
                <a:cs typeface="Arial" panose="020B0604020202020204" pitchFamily="34" charset="0"/>
              </a:rPr>
              <a:t>('CNN Training')</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plt.legend</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plt.show</a:t>
            </a:r>
            <a:r>
              <a:rPr lang="en-IN" dirty="0">
                <a:latin typeface="Arial" panose="020B0604020202020204" pitchFamily="34" charset="0"/>
                <a:cs typeface="Arial" panose="020B0604020202020204" pitchFamily="34" charset="0"/>
              </a:rPr>
              <a: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9786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E47811D-AE06-9EBE-527F-3A1F16299B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2C33DF-2F21-807C-1003-FF088B60D2F4}"/>
              </a:ext>
            </a:extLst>
          </p:cNvPr>
          <p:cNvSpPr txBox="1"/>
          <p:nvPr/>
        </p:nvSpPr>
        <p:spPr>
          <a:xfrm>
            <a:off x="406400" y="406400"/>
            <a:ext cx="11347450" cy="5078313"/>
          </a:xfrm>
          <a:prstGeom prst="rect">
            <a:avLst/>
          </a:prstGeom>
          <a:noFill/>
        </p:spPr>
        <p:txBody>
          <a:bodyPr wrap="square" rtlCol="0">
            <a:spAutoFit/>
          </a:bodyPr>
          <a:lstStyle/>
          <a:p>
            <a:r>
              <a:rPr lang="en-IN" dirty="0"/>
              <a:t> </a:t>
            </a:r>
            <a:r>
              <a:rPr lang="en-IN" dirty="0">
                <a:latin typeface="Arial" panose="020B0604020202020204" pitchFamily="34" charset="0"/>
                <a:cs typeface="Arial" panose="020B0604020202020204" pitchFamily="34" charset="0"/>
              </a:rPr>
              <a:t>p = </a:t>
            </a:r>
            <a:r>
              <a:rPr lang="en-IN" dirty="0" err="1">
                <a:latin typeface="Arial" panose="020B0604020202020204" pitchFamily="34" charset="0"/>
                <a:cs typeface="Arial" panose="020B0604020202020204" pitchFamily="34" charset="0"/>
              </a:rPr>
              <a:t>np.argmax</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model.predict</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X_val</a:t>
            </a:r>
            <a:r>
              <a:rPr lang="en-IN" dirty="0">
                <a:latin typeface="Arial" panose="020B0604020202020204" pitchFamily="34" charset="0"/>
                <a:cs typeface="Arial" panose="020B0604020202020204" pitchFamily="34" charset="0"/>
              </a:rPr>
              <a:t>), axis=1)</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acc</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accuracy_score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y_val</a:t>
            </a:r>
            <a:r>
              <a:rPr lang="en-IN" dirty="0">
                <a:latin typeface="Arial" panose="020B0604020202020204" pitchFamily="34" charset="0"/>
                <a:cs typeface="Arial" panose="020B0604020202020204" pitchFamily="34" charset="0"/>
              </a:rPr>
              <a:t>, p)</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prec</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precision_score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y_val</a:t>
            </a:r>
            <a:r>
              <a:rPr lang="en-IN" dirty="0">
                <a:latin typeface="Arial" panose="020B0604020202020204" pitchFamily="34" charset="0"/>
                <a:cs typeface="Arial" panose="020B0604020202020204" pitchFamily="34" charset="0"/>
              </a:rPr>
              <a:t>, p, average='macro', </a:t>
            </a:r>
            <a:r>
              <a:rPr lang="en-IN" dirty="0" err="1">
                <a:latin typeface="Arial" panose="020B0604020202020204" pitchFamily="34" charset="0"/>
                <a:cs typeface="Arial" panose="020B0604020202020204" pitchFamily="34" charset="0"/>
              </a:rPr>
              <a:t>zero_division</a:t>
            </a:r>
            <a:r>
              <a:rPr lang="en-IN" dirty="0">
                <a:latin typeface="Arial" panose="020B0604020202020204" pitchFamily="34" charset="0"/>
                <a:cs typeface="Arial" panose="020B0604020202020204" pitchFamily="34" charset="0"/>
              </a:rPr>
              <a:t>=0)</a:t>
            </a:r>
          </a:p>
          <a:p>
            <a:r>
              <a:rPr lang="en-IN" dirty="0">
                <a:latin typeface="Arial" panose="020B0604020202020204" pitchFamily="34" charset="0"/>
                <a:cs typeface="Arial" panose="020B0604020202020204" pitchFamily="34" charset="0"/>
              </a:rPr>
              <a:t>    rec = </a:t>
            </a:r>
            <a:r>
              <a:rPr lang="en-IN" dirty="0" err="1">
                <a:latin typeface="Arial" panose="020B0604020202020204" pitchFamily="34" charset="0"/>
                <a:cs typeface="Arial" panose="020B0604020202020204" pitchFamily="34" charset="0"/>
              </a:rPr>
              <a:t>recall_score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y_val</a:t>
            </a:r>
            <a:r>
              <a:rPr lang="en-IN" dirty="0">
                <a:latin typeface="Arial" panose="020B0604020202020204" pitchFamily="34" charset="0"/>
                <a:cs typeface="Arial" panose="020B0604020202020204" pitchFamily="34" charset="0"/>
              </a:rPr>
              <a:t>, p, average='macro', </a:t>
            </a:r>
            <a:r>
              <a:rPr lang="en-IN" dirty="0" err="1">
                <a:latin typeface="Arial" panose="020B0604020202020204" pitchFamily="34" charset="0"/>
                <a:cs typeface="Arial" panose="020B0604020202020204" pitchFamily="34" charset="0"/>
              </a:rPr>
              <a:t>zero_division</a:t>
            </a:r>
            <a:r>
              <a:rPr lang="en-IN" dirty="0">
                <a:latin typeface="Arial" panose="020B0604020202020204" pitchFamily="34" charset="0"/>
                <a:cs typeface="Arial" panose="020B0604020202020204" pitchFamily="34" charset="0"/>
              </a:rPr>
              <a:t>=0)</a:t>
            </a:r>
          </a:p>
          <a:p>
            <a:r>
              <a:rPr lang="en-IN" dirty="0">
                <a:latin typeface="Arial" panose="020B0604020202020204" pitchFamily="34" charset="0"/>
                <a:cs typeface="Arial" panose="020B0604020202020204" pitchFamily="34" charset="0"/>
              </a:rPr>
              <a:t>    f1 = f1_score(</a:t>
            </a:r>
            <a:r>
              <a:rPr lang="en-IN" dirty="0" err="1">
                <a:latin typeface="Arial" panose="020B0604020202020204" pitchFamily="34" charset="0"/>
                <a:cs typeface="Arial" panose="020B0604020202020204" pitchFamily="34" charset="0"/>
              </a:rPr>
              <a:t>y_val</a:t>
            </a:r>
            <a:r>
              <a:rPr lang="en-IN" dirty="0">
                <a:latin typeface="Arial" panose="020B0604020202020204" pitchFamily="34" charset="0"/>
                <a:cs typeface="Arial" panose="020B0604020202020204" pitchFamily="34" charset="0"/>
              </a:rPr>
              <a:t>, p, average='macro', </a:t>
            </a:r>
            <a:r>
              <a:rPr lang="en-IN" dirty="0" err="1">
                <a:latin typeface="Arial" panose="020B0604020202020204" pitchFamily="34" charset="0"/>
                <a:cs typeface="Arial" panose="020B0604020202020204" pitchFamily="34" charset="0"/>
              </a:rPr>
              <a:t>zero_division</a:t>
            </a:r>
            <a:r>
              <a:rPr lang="en-IN" dirty="0">
                <a:latin typeface="Arial" panose="020B0604020202020204" pitchFamily="34" charset="0"/>
                <a:cs typeface="Arial" panose="020B0604020202020204" pitchFamily="34" charset="0"/>
              </a:rPr>
              <a:t>=0)</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results.append</a:t>
            </a:r>
            <a:r>
              <a:rPr lang="en-IN" dirty="0">
                <a:latin typeface="Arial" panose="020B0604020202020204" pitchFamily="34" charset="0"/>
                <a:cs typeface="Arial" panose="020B0604020202020204" pitchFamily="34" charset="0"/>
              </a:rPr>
              <a:t>({'Model': 'Deep Learning (CNN)', 'Accuracy': </a:t>
            </a:r>
            <a:r>
              <a:rPr lang="en-IN" dirty="0" err="1">
                <a:latin typeface="Arial" panose="020B0604020202020204" pitchFamily="34" charset="0"/>
                <a:cs typeface="Arial" panose="020B0604020202020204" pitchFamily="34" charset="0"/>
              </a:rPr>
              <a:t>acc</a:t>
            </a:r>
            <a:r>
              <a:rPr lang="en-IN" dirty="0">
                <a:latin typeface="Arial" panose="020B0604020202020204" pitchFamily="34" charset="0"/>
                <a:cs typeface="Arial" panose="020B0604020202020204" pitchFamily="34" charset="0"/>
              </a:rPr>
              <a:t>, 'Precision': </a:t>
            </a:r>
            <a:r>
              <a:rPr lang="en-IN" dirty="0" err="1">
                <a:latin typeface="Arial" panose="020B0604020202020204" pitchFamily="34" charset="0"/>
                <a:cs typeface="Arial" panose="020B0604020202020204" pitchFamily="34" charset="0"/>
              </a:rPr>
              <a:t>prec</a:t>
            </a:r>
            <a:r>
              <a:rPr lang="en-IN" dirty="0">
                <a:latin typeface="Arial" panose="020B0604020202020204" pitchFamily="34" charset="0"/>
                <a:cs typeface="Arial" panose="020B0604020202020204" pitchFamily="34" charset="0"/>
              </a:rPr>
              <a:t>, 'Recall': rec, 'F1': f1})</a:t>
            </a:r>
          </a:p>
          <a:p>
            <a:r>
              <a:rPr lang="en-IN" dirty="0">
                <a:latin typeface="Arial" panose="020B0604020202020204" pitchFamily="34" charset="0"/>
                <a:cs typeface="Arial" panose="020B0604020202020204" pitchFamily="34" charset="0"/>
              </a:rPr>
              <a:t>    print(</a:t>
            </a:r>
            <a:r>
              <a:rPr lang="en-IN" dirty="0" err="1">
                <a:latin typeface="Arial" panose="020B0604020202020204" pitchFamily="34" charset="0"/>
                <a:cs typeface="Arial" panose="020B0604020202020204" pitchFamily="34" charset="0"/>
              </a:rPr>
              <a:t>f"Deep</a:t>
            </a:r>
            <a:r>
              <a:rPr lang="en-IN" dirty="0">
                <a:latin typeface="Arial" panose="020B0604020202020204" pitchFamily="34" charset="0"/>
                <a:cs typeface="Arial" panose="020B0604020202020204" pitchFamily="34" charset="0"/>
              </a:rPr>
              <a:t> Learning (CNN): Accuracy={acc:.4f}, Precision={prec:.4f}, Recall={rec:.4f}, F1={f1:.4f}")</a:t>
            </a:r>
          </a:p>
          <a:p>
            <a:r>
              <a:rPr lang="en-IN" dirty="0">
                <a:latin typeface="Arial" panose="020B0604020202020204" pitchFamily="34" charset="0"/>
                <a:cs typeface="Arial" panose="020B0604020202020204" pitchFamily="34" charset="0"/>
              </a:rPr>
              <a:t>    cm = </a:t>
            </a:r>
            <a:r>
              <a:rPr lang="en-IN" dirty="0" err="1">
                <a:latin typeface="Arial" panose="020B0604020202020204" pitchFamily="34" charset="0"/>
                <a:cs typeface="Arial" panose="020B0604020202020204" pitchFamily="34" charset="0"/>
              </a:rPr>
              <a:t>confusion_matrix</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y_val</a:t>
            </a:r>
            <a:r>
              <a:rPr lang="en-IN" dirty="0">
                <a:latin typeface="Arial" panose="020B0604020202020204" pitchFamily="34" charset="0"/>
                <a:cs typeface="Arial" panose="020B0604020202020204" pitchFamily="34" charset="0"/>
              </a:rPr>
              <a:t>, p)</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plt.figure</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figsize</a:t>
            </a:r>
            <a:r>
              <a:rPr lang="en-IN" dirty="0">
                <a:latin typeface="Arial" panose="020B0604020202020204" pitchFamily="34" charset="0"/>
                <a:cs typeface="Arial" panose="020B0604020202020204" pitchFamily="34" charset="0"/>
              </a:rPr>
              <a:t>=(8, 6))</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plt.imshow</a:t>
            </a:r>
            <a:r>
              <a:rPr lang="en-IN" dirty="0">
                <a:latin typeface="Arial" panose="020B0604020202020204" pitchFamily="34" charset="0"/>
                <a:cs typeface="Arial" panose="020B0604020202020204" pitchFamily="34" charset="0"/>
              </a:rPr>
              <a:t>(cm, interpolation='nearest', </a:t>
            </a:r>
            <a:r>
              <a:rPr lang="en-IN" dirty="0" err="1">
                <a:latin typeface="Arial" panose="020B0604020202020204" pitchFamily="34" charset="0"/>
                <a:cs typeface="Arial" panose="020B0604020202020204" pitchFamily="34" charset="0"/>
              </a:rPr>
              <a:t>cmap</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plt.cm.Greens</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plt.title</a:t>
            </a:r>
            <a:r>
              <a:rPr lang="en-IN" dirty="0">
                <a:latin typeface="Arial" panose="020B0604020202020204" pitchFamily="34" charset="0"/>
                <a:cs typeface="Arial" panose="020B0604020202020204" pitchFamily="34" charset="0"/>
              </a:rPr>
              <a:t>('Deep Learning Confusion Matrix')</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plt.colorbar</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tick_marks</a:t>
            </a:r>
            <a:r>
              <a:rPr lang="en-IN" dirty="0">
                <a:latin typeface="Arial" panose="020B0604020202020204" pitchFamily="34" charset="0"/>
                <a:cs typeface="Arial" panose="020B0604020202020204" pitchFamily="34" charset="0"/>
              </a:rPr>
              <a:t> = </a:t>
            </a:r>
            <a:r>
              <a:rPr lang="en-IN" dirty="0" err="1">
                <a:latin typeface="Arial" panose="020B0604020202020204" pitchFamily="34" charset="0"/>
                <a:cs typeface="Arial" panose="020B0604020202020204" pitchFamily="34" charset="0"/>
              </a:rPr>
              <a:t>np.arange</a:t>
            </a:r>
            <a:r>
              <a:rPr lang="en-IN" dirty="0">
                <a:latin typeface="Arial" panose="020B0604020202020204" pitchFamily="34" charset="0"/>
                <a:cs typeface="Arial" panose="020B0604020202020204" pitchFamily="34" charset="0"/>
              </a:rPr>
              <a:t>(10)</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plt.xticks</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tick_marks</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tick_marks</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plt.yticks</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tick_marks</a:t>
            </a:r>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tick_marks</a:t>
            </a:r>
            <a:r>
              <a:rPr lang="en-IN" dirty="0">
                <a:latin typeface="Arial" panose="020B0604020202020204" pitchFamily="34" charset="0"/>
                <a:cs typeface="Arial" panose="020B0604020202020204" pitchFamily="34" charset="0"/>
              </a:rPr>
              <a:t>)</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plt.ylabel</a:t>
            </a:r>
            <a:r>
              <a:rPr lang="en-IN" dirty="0">
                <a:latin typeface="Arial" panose="020B0604020202020204" pitchFamily="34" charset="0"/>
                <a:cs typeface="Arial" panose="020B0604020202020204" pitchFamily="34" charset="0"/>
              </a:rPr>
              <a:t>('True label')</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plt.xlabel</a:t>
            </a:r>
            <a:r>
              <a:rPr lang="en-IN" dirty="0">
                <a:latin typeface="Arial" panose="020B0604020202020204" pitchFamily="34" charset="0"/>
                <a:cs typeface="Arial" panose="020B0604020202020204" pitchFamily="34" charset="0"/>
              </a:rPr>
              <a:t>('Predicted label')</a:t>
            </a:r>
          </a:p>
          <a:p>
            <a:r>
              <a:rPr lang="en-IN" dirty="0">
                <a:latin typeface="Arial" panose="020B0604020202020204" pitchFamily="34" charset="0"/>
                <a:cs typeface="Arial" panose="020B0604020202020204" pitchFamily="34" charset="0"/>
              </a:rPr>
              <a:t>    </a:t>
            </a:r>
            <a:r>
              <a:rPr lang="en-IN" dirty="0" err="1">
                <a:latin typeface="Arial" panose="020B0604020202020204" pitchFamily="34" charset="0"/>
                <a:cs typeface="Arial" panose="020B0604020202020204" pitchFamily="34" charset="0"/>
              </a:rPr>
              <a:t>plt.show</a:t>
            </a:r>
            <a:r>
              <a:rPr lang="en-IN"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534299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E8BF153-3200-D0F0-570B-FB84991E7BE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09BC78D-16D8-6281-CD27-D188A07A2982}"/>
              </a:ext>
            </a:extLst>
          </p:cNvPr>
          <p:cNvPicPr>
            <a:picLocks noChangeAspect="1"/>
          </p:cNvPicPr>
          <p:nvPr/>
        </p:nvPicPr>
        <p:blipFill>
          <a:blip r:embed="rId2"/>
          <a:stretch>
            <a:fillRect/>
          </a:stretch>
        </p:blipFill>
        <p:spPr>
          <a:xfrm>
            <a:off x="873125" y="1743075"/>
            <a:ext cx="4763760" cy="3159125"/>
          </a:xfrm>
          <a:prstGeom prst="rect">
            <a:avLst/>
          </a:prstGeom>
        </p:spPr>
      </p:pic>
      <p:pic>
        <p:nvPicPr>
          <p:cNvPr id="3" name="Picture 2">
            <a:extLst>
              <a:ext uri="{FF2B5EF4-FFF2-40B4-BE49-F238E27FC236}">
                <a16:creationId xmlns:a16="http://schemas.microsoft.com/office/drawing/2014/main" id="{53102146-2F49-AFA5-D71C-345C1A8C99BA}"/>
              </a:ext>
            </a:extLst>
          </p:cNvPr>
          <p:cNvPicPr>
            <a:picLocks noChangeAspect="1"/>
          </p:cNvPicPr>
          <p:nvPr/>
        </p:nvPicPr>
        <p:blipFill>
          <a:blip r:embed="rId3"/>
          <a:stretch>
            <a:fillRect/>
          </a:stretch>
        </p:blipFill>
        <p:spPr>
          <a:xfrm>
            <a:off x="6391275" y="1758950"/>
            <a:ext cx="4984750" cy="3143250"/>
          </a:xfrm>
          <a:prstGeom prst="rect">
            <a:avLst/>
          </a:prstGeom>
        </p:spPr>
      </p:pic>
      <p:sp>
        <p:nvSpPr>
          <p:cNvPr id="4" name="TextBox 3">
            <a:extLst>
              <a:ext uri="{FF2B5EF4-FFF2-40B4-BE49-F238E27FC236}">
                <a16:creationId xmlns:a16="http://schemas.microsoft.com/office/drawing/2014/main" id="{02B2BDB2-BD1D-18C1-1310-67A1894AA8DC}"/>
              </a:ext>
            </a:extLst>
          </p:cNvPr>
          <p:cNvSpPr txBox="1"/>
          <p:nvPr/>
        </p:nvSpPr>
        <p:spPr>
          <a:xfrm>
            <a:off x="1536700" y="5321300"/>
            <a:ext cx="3638550" cy="369332"/>
          </a:xfrm>
          <a:prstGeom prst="rect">
            <a:avLst/>
          </a:prstGeom>
          <a:noFill/>
        </p:spPr>
        <p:txBody>
          <a:bodyPr wrap="square" rtlCol="0">
            <a:spAutoFit/>
          </a:bodyPr>
          <a:lstStyle/>
          <a:p>
            <a:r>
              <a:rPr lang="en-IN" dirty="0"/>
              <a:t>Logistic Regression Confusion Matrix</a:t>
            </a:r>
          </a:p>
        </p:txBody>
      </p:sp>
      <p:sp>
        <p:nvSpPr>
          <p:cNvPr id="5" name="TextBox 4">
            <a:extLst>
              <a:ext uri="{FF2B5EF4-FFF2-40B4-BE49-F238E27FC236}">
                <a16:creationId xmlns:a16="http://schemas.microsoft.com/office/drawing/2014/main" id="{C7414074-E1FA-B8F4-8204-2AA59A65E2A3}"/>
              </a:ext>
            </a:extLst>
          </p:cNvPr>
          <p:cNvSpPr txBox="1"/>
          <p:nvPr/>
        </p:nvSpPr>
        <p:spPr>
          <a:xfrm>
            <a:off x="7264400" y="5378450"/>
            <a:ext cx="3543300" cy="369332"/>
          </a:xfrm>
          <a:prstGeom prst="rect">
            <a:avLst/>
          </a:prstGeom>
          <a:noFill/>
        </p:spPr>
        <p:txBody>
          <a:bodyPr wrap="square" rtlCol="0">
            <a:spAutoFit/>
          </a:bodyPr>
          <a:lstStyle/>
          <a:p>
            <a:r>
              <a:rPr lang="en-IN" dirty="0"/>
              <a:t>Random Forest Confusion Matrix</a:t>
            </a:r>
          </a:p>
        </p:txBody>
      </p:sp>
    </p:spTree>
    <p:extLst>
      <p:ext uri="{BB962C8B-B14F-4D97-AF65-F5344CB8AC3E}">
        <p14:creationId xmlns:p14="http://schemas.microsoft.com/office/powerpoint/2010/main" val="1599039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302487B-1FF7-0C6D-F905-E93915CA61D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B3B757E-DA22-EC02-73CA-DDE2A8434E74}"/>
              </a:ext>
            </a:extLst>
          </p:cNvPr>
          <p:cNvPicPr>
            <a:picLocks noChangeAspect="1"/>
          </p:cNvPicPr>
          <p:nvPr/>
        </p:nvPicPr>
        <p:blipFill>
          <a:blip r:embed="rId2"/>
          <a:stretch>
            <a:fillRect/>
          </a:stretch>
        </p:blipFill>
        <p:spPr>
          <a:xfrm>
            <a:off x="727074" y="1577975"/>
            <a:ext cx="4460875" cy="3816350"/>
          </a:xfrm>
          <a:prstGeom prst="rect">
            <a:avLst/>
          </a:prstGeom>
        </p:spPr>
      </p:pic>
      <p:pic>
        <p:nvPicPr>
          <p:cNvPr id="3" name="Picture 2">
            <a:extLst>
              <a:ext uri="{FF2B5EF4-FFF2-40B4-BE49-F238E27FC236}">
                <a16:creationId xmlns:a16="http://schemas.microsoft.com/office/drawing/2014/main" id="{77BF32F4-09E3-7616-E1CD-446557B8C29A}"/>
              </a:ext>
            </a:extLst>
          </p:cNvPr>
          <p:cNvPicPr>
            <a:picLocks noChangeAspect="1"/>
          </p:cNvPicPr>
          <p:nvPr/>
        </p:nvPicPr>
        <p:blipFill>
          <a:blip r:embed="rId3"/>
          <a:stretch>
            <a:fillRect/>
          </a:stretch>
        </p:blipFill>
        <p:spPr>
          <a:xfrm>
            <a:off x="6656070" y="1701800"/>
            <a:ext cx="4683760" cy="3568700"/>
          </a:xfrm>
          <a:prstGeom prst="rect">
            <a:avLst/>
          </a:prstGeom>
        </p:spPr>
      </p:pic>
      <p:sp>
        <p:nvSpPr>
          <p:cNvPr id="4" name="TextBox 3">
            <a:extLst>
              <a:ext uri="{FF2B5EF4-FFF2-40B4-BE49-F238E27FC236}">
                <a16:creationId xmlns:a16="http://schemas.microsoft.com/office/drawing/2014/main" id="{ECB00EEC-2653-7867-3557-E611D562E81E}"/>
              </a:ext>
            </a:extLst>
          </p:cNvPr>
          <p:cNvSpPr txBox="1"/>
          <p:nvPr/>
        </p:nvSpPr>
        <p:spPr>
          <a:xfrm>
            <a:off x="1397000" y="5778500"/>
            <a:ext cx="3403600" cy="369332"/>
          </a:xfrm>
          <a:prstGeom prst="rect">
            <a:avLst/>
          </a:prstGeom>
          <a:noFill/>
        </p:spPr>
        <p:txBody>
          <a:bodyPr wrap="square" rtlCol="0">
            <a:spAutoFit/>
          </a:bodyPr>
          <a:lstStyle/>
          <a:p>
            <a:r>
              <a:rPr lang="en-IN" dirty="0" err="1"/>
              <a:t>XGBoost</a:t>
            </a:r>
            <a:r>
              <a:rPr lang="en-IN" dirty="0"/>
              <a:t> Confusion Matrix</a:t>
            </a:r>
          </a:p>
        </p:txBody>
      </p:sp>
      <p:sp>
        <p:nvSpPr>
          <p:cNvPr id="5" name="TextBox 4">
            <a:extLst>
              <a:ext uri="{FF2B5EF4-FFF2-40B4-BE49-F238E27FC236}">
                <a16:creationId xmlns:a16="http://schemas.microsoft.com/office/drawing/2014/main" id="{BF527F70-1E7F-367B-E8CE-4ECF426D02A2}"/>
              </a:ext>
            </a:extLst>
          </p:cNvPr>
          <p:cNvSpPr txBox="1"/>
          <p:nvPr/>
        </p:nvSpPr>
        <p:spPr>
          <a:xfrm>
            <a:off x="7607300" y="5778500"/>
            <a:ext cx="3276600" cy="369332"/>
          </a:xfrm>
          <a:prstGeom prst="rect">
            <a:avLst/>
          </a:prstGeom>
          <a:noFill/>
        </p:spPr>
        <p:txBody>
          <a:bodyPr wrap="square" rtlCol="0">
            <a:spAutoFit/>
          </a:bodyPr>
          <a:lstStyle/>
          <a:p>
            <a:r>
              <a:rPr lang="en-IN" dirty="0"/>
              <a:t>Accuracy Comparison</a:t>
            </a:r>
          </a:p>
        </p:txBody>
      </p:sp>
    </p:spTree>
    <p:extLst>
      <p:ext uri="{BB962C8B-B14F-4D97-AF65-F5344CB8AC3E}">
        <p14:creationId xmlns:p14="http://schemas.microsoft.com/office/powerpoint/2010/main" val="2478020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1524</Words>
  <Application>Microsoft Office PowerPoint</Application>
  <PresentationFormat>Widescreen</PresentationFormat>
  <Paragraphs>127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Calibri Light</vt:lpstr>
      <vt:lpstr>Constantia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anushka bommidi</dc:creator>
  <cp:lastModifiedBy>anushka bommidi</cp:lastModifiedBy>
  <cp:revision>1</cp:revision>
  <dcterms:created xsi:type="dcterms:W3CDTF">2025-11-13T06:33:24Z</dcterms:created>
  <dcterms:modified xsi:type="dcterms:W3CDTF">2025-11-13T06:55:59Z</dcterms:modified>
</cp:coreProperties>
</file>